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005BAB"/>
                </a:solidFill>
                <a:latin typeface="Meiryo"/>
              </a:defRPr>
            </a:pPr>
            <a:r>
              <a:t>AI News Daily Deck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200400"/>
            <a:ext cx="2743200" cy="4572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6C757D"/>
                </a:solidFill>
                <a:latin typeface="Meiryo"/>
              </a:defRPr>
            </a:pPr>
            <a:r>
              <a:t>2026-02-14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754880"/>
            <a:ext cx="274320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 News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4754880"/>
            <a:ext cx="274320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4754880"/>
            <a:ext cx="2743200" cy="100584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0" y="4754880"/>
            <a:ext cx="274320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4864608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394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60120"/>
            <a:ext cx="2468880" cy="36576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9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3280" y="960120"/>
            <a:ext cx="2468880" cy="36576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Top Company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Other</a:t>
            </a:r>
            <a:r>
              <a:rPr sz="1400">
                <a:solidFill>
                  <a:srgbClr val="6C757D"/>
                </a:solidFill>
                <a:latin typeface="Meiryo"/>
              </a:rPr>
              <a:t> 5件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60120"/>
            <a:ext cx="2468880" cy="36576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High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6</a:t>
            </a:r>
            <a:r>
              <a:rPr sz="1400">
                <a:solidFill>
                  <a:srgbClr val="6C757D"/>
                </a:solidFill>
                <a:latin typeface="Meiryo"/>
              </a:rPr>
              <a:t> 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9680" y="960120"/>
            <a:ext cx="2468880" cy="1051560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69680" y="960120"/>
            <a:ext cx="2468880" cy="36576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6840" y="1051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Meiryo"/>
              </a:defRPr>
            </a:pPr>
            <a:r>
              <a:t>Companies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1307592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5BAB"/>
                </a:solidFill>
                <a:latin typeface="Meiryo"/>
              </a:rPr>
              <a:t>4</a:t>
            </a:r>
            <a:r>
              <a:rPr sz="1400">
                <a:solidFill>
                  <a:srgbClr val="6C757D"/>
                </a:solidFill>
                <a:latin typeface="Meiryo"/>
              </a:rPr>
              <a:t> 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3317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624328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74320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74320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85800" y="28529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28529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281635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Anthropic、$30B資金調達完了で評価額$380B達成。年間売上$14Bの高成長により、OpenAIとの資金競争は新局面へ。$100B調達を目指すOpenAIとの『AI軍拡競争』が加速し、両社の2026年度IPOが確実視される動向が明確化。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52044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3520440"/>
            <a:ext cx="54864" cy="68580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359359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中国AI企業群が春節前に一斉モデル発表。DeepSeek V4予告に対し、ByteDance(Doubao 2.0、Seedance 2.0)、Alibaba(Qwen 3.5)、Zhipu(GLM-5)、MiniMax(M2.5)が連鎖的にリリース。中国内での『春節AI戦争』が2025年のDeepSeek衝撃を繰り返...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29768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54864" cy="68580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5800" y="4407408"/>
            <a:ext cx="384048" cy="384048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44074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37083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AI安全性研究者の連鎖的離職が業界内警告信号。Anthropic安全保障研究責任者Sharma、OpenAI複数研究員が相次ぎ辞職。『世界が危機的状況にある』『存在的脅威』の警告がX上で5,600万ビュー超を記録。業界内部からの実存的リスク警告が、対外コミュニケーション戦略へ影響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07492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074920"/>
            <a:ext cx="54864" cy="68580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85800" y="5184648"/>
            <a:ext cx="384048" cy="384048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18464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88720" y="514807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Super Bowl AI広告戦争でAnthropicが勝利。広告視聴後、Claudeの訪問者数6.5%増、日別アクティブユーザー11%増。App Storeランキング41位→7位への急上昇。ChatGPT広告導入への直接的な消費者反発が数値化され、マネタイズ戦略の分岐が明確化。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852160"/>
            <a:ext cx="11094415" cy="68580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852160"/>
            <a:ext cx="54864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85800" y="59618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59618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88720" y="5925312"/>
            <a:ext cx="102714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データセンター電力危機が実装を制約。AI業界全体の設備投資$650-$690B（2026年）により、電力需要は2030年に945TWh到達予測。SMRや直接エネルギー調達が商用化段階へ。規制当局が『テック企業が電力費を負担すべき』で異例の一致を示し、インフラコスト構造の根本的転換が始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TODAY'S HIGHLIGHT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eiryo"/>
              </a:defRPr>
            </a:pPr>
            <a:r>
              <a:t>Anthropic、$30B Series G資金調達をクローズ─評価額$380Bで資金調達総額$69.1Bに到達し、OpenAI超越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57D"/>
                </a:solidFill>
                <a:latin typeface="Meiryo"/>
              </a:defRPr>
            </a:pPr>
            <a:r>
              <a:t>Anthropic  |  Business  |  ★★★★★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2743200" cy="109728"/>
          </a:xfrm>
          <a:prstGeom prst="round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Meiryo"/>
              </a:defRPr>
            </a:pPr>
            <a:r>
              <a:t>Anthropicが$30B Series G資金調達を完了し、企業評価額$380B、累計資金調達額$69.1BでOpenAIの$66.4B超越。同社の年間売上が$14Bに到達したことが確認された。投資家はFounders Fund、GIC、Coatue、D.E. Shaw Ventures、Iconiq Capital、MGX、NVIDIA、カタール主権基金ら。Sequoiaも参加し、OpenAIとAnthropicの両方に投資するVCが増加する『タブー破り』が常態化。今回の調達により、Anthropicが初期段階投資ラウンドから5ヶ月で資金額を2倍以上に拡大。同社のClaude CodeプラットフォームがSoftware Engineer年間売上$2.5B達成しており、エンタープライズAI市場での圧倒的地位を確立。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7764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97764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368" y="416052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16052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2336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Anthropicの資金調達成功は、OpenAI資金調達（$100B目標）との『軍拡競争』を加速させ、両社合計で$130B規模の2026年度キャッシュバーン見通しを生む。これにより、AI企業の初期段階VC投資が急冷し、Series A/B企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93776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" y="512064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12064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5BA4D9"/>
                </a:solidFill>
                <a:latin typeface="Meiryo"/>
              </a:defRPr>
            </a:pPr>
            <a:r>
              <a:t>Outlook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6636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2026年中盤～後半にかけて、Anthropic・OpenAI両社ともIPO計画が具体化し、公開買付提案の段階へ進む可能性が高い。IPO時の評価額は、現在の非公開時評価額を30-50%上回ることが市場予測（類似ケース：Stripe、Spac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897880"/>
            <a:ext cx="530352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89788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8368" y="608076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08076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943600"/>
            <a:ext cx="4617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Risks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6126480"/>
            <a:ext cx="4617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両社の資本競争は、エネルギー・コンピュートリソースの争奪戦へ発展。NVIDIA GPU供給制約による『チップ価格インフレーション』（現在H100で$40K超、A100の3倍）が、スタートアップ企業の参入障壁を急速に上昇させる。AI企業全体の</a:t>
            </a:r>
          </a:p>
        </p:txBody>
      </p:sp>
      <p:pic>
        <p:nvPicPr>
          <p:cNvPr id="29" name="Picture 28" descr="highligh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6655" y="960120"/>
            <a:ext cx="54864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企業動向比較マトリクス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480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3474720"/>
                <a:gridCol w="914400"/>
                <a:gridCol w="3047695"/>
              </a:tblGrid>
              <a:tr h="640079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企業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注力分野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主要アクション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動向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強み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エンタープライズAI・安全性研究・マルチモーダルエージェント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$30B Series G資金調達完了（評価額$380B）、年間売上$14B達成、Super Bowl広告で『広告排除』メッセージ展開、データセンター電力コスト負担発表、Claude Code年間売上$2.5B確認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安全性研究ブランド・企業向け営業力・ユーザー信頼度（広告なし訴求）・Opus 4.6の推論性能。ただし規制支援寄付と大規模スケール追求の矛盾が内部警告を招く。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汎用AI・コーディングモデル・エンタープライズ向けAPI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$100B資金調達交渉中、ChatGPT月間10%成長回復宣言、GPT-5.3 Codex『自己改善能力』搭載リリース、Codex週間成長50%達成、Super Bowl広告で『包含性』訴求（新興国向け無料アクセス強調）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ユーザーベース圧倒的規模（8億人/週）・ChatGPT復調・Codexの自動改善テクノロジー・資本調達力。弱点は『広告導入による信頼低下』とSam Altmanの『Anthropic批判ツイート』による品格喪失。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Google/Gemini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検索AI統合・マルチモーダルAI・広告プラットフォーム統合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Super Bowl広告展開（存在感維持）、Gemini 3 Pro相当のスペック競争参加、AI広告フォーマット『再発明』宣言（アージェンティックコマース標準化推進）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検索広告収益との統合・ユーザーベース6億超（Gmail/Android経由）・エネルギー長期契約確保（原発含む）。弱点は『OpenAI/Anthropicの後追い感』とGemini初期リリースでの性能低下イメージの払拭遅延。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オープンソースAI・ビデオ生成・リアルタイムコンテンツ生成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Super Bowl広告参加、大規模データセンター投資継続（$200B計画の一部）、オープンソースLLaMaエコシステム拡大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◆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オープンソース戦略によるコミュニティ支持・ビデオ生成での後発優位性・ソーシャルメディアデータの豊富性。弱点は『OpenAI/Anthropicへの資本流出』と『XAI・中国企業との比較での技術投資遅延感』。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64007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推論効率化・中国市場向け汎用AI・コスト最適化LLM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V4モデル発表予告（春節期間内）、コンテキストウィンドウ拡張（128K→1M tokens）、『米国制裁に強い独自モデル』としてのブランド定着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コスト効率性（米国企業の1/5～1/10のコストで同等スペック）・中国市場での圧倒的地位・規制リスク回避への先制投資・R2（推論モデル）の将来期待値。弱点は『米国技術ダイニング規制の強化リスク』と『日本・EU市場での認知度低さ』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5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xAI（Musk傘下）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推論効率化・インタープラネタリーAI・宇宙データセンター構想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SpaceX合併発表、2-3年以内に『宇宙でのAI計算最安化』宣言、Grokの性的画像問題後も米国市場シェア回復（データ示唆）、X・Xプレミアムの$1B年間経常利益達成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007A33"/>
                          </a:solidFill>
                          <a:latin typeface="Meiryo"/>
                        </a:defRPr>
                      </a:pPr>
                      <a:r>
                        <a:t>▲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宇宙インフラとの統合による『エネルギー独立化』の唯一の現実的選択肢・マスク発言による市場注目度・『規制回避可能性』への投機的投資。弱点は『技術実現の不確実性』と『複数の共同設立者離職』による内部混乱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79"/>
            <a:ext cx="2011680" cy="32004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Anthropic  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5669279"/>
            <a:ext cx="2011680" cy="32004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OpenAI  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3776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Google/Gemini  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5669279"/>
            <a:ext cx="2011680" cy="320040"/>
          </a:xfrm>
          <a:prstGeom prst="roundRect">
            <a:avLst/>
          </a:prstGeom>
          <a:solidFill>
            <a:srgbClr val="066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Meta  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5669279"/>
            <a:ext cx="2011680" cy="32004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0" y="5669279"/>
            <a:ext cx="201168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  DeepSeek  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トレンドフロー分析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AI資金調達が『二層構造化』：超大型ラウンド独占 vs 初期段階企業への投資停滞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 $30B、OpenAI $100B目標という超大型ラウンド相場が確立される一方、Series A/B企業への初期段階投資が急冷している。VC資金の『濃縮』現象により、Sequoia、Altimeter等の名門VCが両社に同時投資するタブー破りが常態化。これは『圧倒的勝者1-2社への資本集中』を意味し、スタートアップエコシステムの多様性喪失が加速。結果として、2027年以降の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28803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8840" y="28803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8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Sequoia Capital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0916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Altimeter Capital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0058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00800" y="11155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1155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1430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中国AI『自給自足化』の加速：米国技術依存からの戦略的脱却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1554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DeepSeek衝撃から1年経過時点で、中国企業群は『米国モデル追従』から『独自路線開拓』へシフト。ByteDanceのSeedance 2.0による『1プロンプト高品質動画生成』、Alibabaの『アージェント商取引』（消費者購買の完全自動化）、iFlytek Spark X2の『中国製チップのみ学習』宣言等、米国への技術・エネルギー依存を減らす投資パターンが明確化。DeepSeek V4予告は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DeepSeek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2668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8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ByteDance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0684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Alibaba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87000" y="28803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87000" y="28803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Zhipu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エネルギー・インフラが『経営意思決定』の最優先課題に昇格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大型言語モデル訓練に必要な電力コスト（1モデル学習で25.3MW持続、累計50GWh消費等）が、OpenAI/Anthropicのキャッシュバーンレートの最大要因へ。AIデータセンターが従来ITセンター（10-20MW）から100-300MW、一部で1GWへ跳ね上がり、地域電力網の瓶頸化が急速に進行。Anthropicがデータセンター電力コスト負担を発表（2月12日）した背景には『電力確保競争で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8680" y="53949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14884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48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429000" y="5394960"/>
            <a:ext cx="1188720" cy="274320"/>
          </a:xfrm>
          <a:prstGeom prst="roundRect">
            <a:avLst/>
          </a:prstGeom>
          <a:solidFill>
            <a:srgbClr val="00A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29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Microsoft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09160" y="5394960"/>
            <a:ext cx="1188720" cy="274320"/>
          </a:xfrm>
          <a:prstGeom prst="round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0916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520440"/>
            <a:ext cx="5029200" cy="22860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400800" y="3630168"/>
            <a:ext cx="411480" cy="41148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3630168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5760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『安全性 vs スケール』の戦略的乖離：内部警告と外部宣伝の矛盾が顕在化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46520" y="40690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安全研究責任者Sharma、OpenAI複数研究員の相次ぐ辞職により『内部での懸念が企業方針に反映されていない』ことが可視化。Anthropicは『安全重視』を掲げて$2,000万の規制支援寄付を発表しながら、同時に$30B調達で最大スケール追求へ。OpenAIは『責任あるスケーリング』を標榜する一方、GPT-5.3 Codexで『モデル自己改善』機能を搭載。この『安全性宣伝と資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446520" y="5394960"/>
            <a:ext cx="1188720" cy="274320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4652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Anthropic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26680" y="5394960"/>
            <a:ext cx="1188720" cy="274320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2668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OpenAI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00684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Google DeepMind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87000" y="5394960"/>
            <a:ext cx="1188720" cy="274320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87000" y="5394960"/>
            <a:ext cx="11887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California AI Safety Board</a:t>
            </a:r>
          </a:p>
        </p:txBody>
      </p:sp>
      <p:sp>
        <p:nvSpPr>
          <p:cNvPr id="58" name="Right Arrow 57"/>
          <p:cNvSpPr/>
          <p:nvPr/>
        </p:nvSpPr>
        <p:spPr>
          <a:xfrm>
            <a:off x="5760720" y="20116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ight Arrow 58"/>
          <p:cNvSpPr/>
          <p:nvPr/>
        </p:nvSpPr>
        <p:spPr>
          <a:xfrm>
            <a:off x="5760720" y="4526280"/>
            <a:ext cx="457200" cy="274320"/>
          </a:xfrm>
          <a:prstGeom prst="right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own Arrow 59"/>
          <p:cNvSpPr/>
          <p:nvPr/>
        </p:nvSpPr>
        <p:spPr>
          <a:xfrm>
            <a:off x="3063240" y="3300984"/>
            <a:ext cx="274320" cy="201168"/>
          </a:xfrm>
          <a:prstGeom prst="downArrow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(1/2)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[UPDATE] Hyperwrite CEO Matt Shumer、『AI能力爆発』についての5,000語エッセイが5,600万ビュー達成─『何か大きい事が起こっている』とウイルス拡散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307592"/>
            <a:ext cx="8229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961C"/>
                </a:solidFill>
                <a:latin typeface="Meiryo"/>
              </a:defRPr>
            </a:pPr>
            <a:r>
              <a:t>&gt;&gt; 前日『安全性警告の業界波及』と関連し、Shumerのエッセイが『ウイルス級拡散』（5,600万ビュー）を達成した新展開。『技術者警告の社会化』により、『規制当局への政策圧力』が『政治化』される段階へ移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150876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Hyperwrite CEO Matt Shumerが『Something Big Is Happening』と題するエッセイをX上で公表。内容は『AI技術者が過去6ヶ月で目撃した能力向上は、COVID-19の流行前夜（2020年2月）と同様の『転機』であり、その影響度はCOVI...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Matt Shumerのエッセイが『5,600万ビュー』を達成したことで、『AI技術者による警告』が『社会的認識』レベルへ昇華。これにより、『政策決定者・規制当局・労組』等が『AI失業問題』への介入を加速させる見通し。米国労働省による『AI失業予測』、EU『AI Act高リスク規則』の『加速的実装』、労働組合による『AI導入に対する交渉要求』等が2026年中に集中する可能性。結果として、『AI開発...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Business Insider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D4A5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Anthropic、Super Bowl広告『広告排除メッセージ』によりClaudeユーザー11%増加─OpenAI広告導入への消費者反発が数値化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AnthropicのSuper Bowl広告キャンペーンが、Claude利用者に顕著な増加をもたらした。BNP Paribas分析データによると、広告放映後にClaudeのウェブサイト訪問者数が6.5%増加し、日別アクティブユーザーが11%増加。これはOpenAI ChatGPT...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この広告戦争は、AIチャットボット市場における『マネタイズ手段の多様化』を加速させる。OpenAIが『広告』を選択した背景には『訂正不可能な計算コスト構造』があり、今後の『業界全体への広告導入圧力』を生む。一方、Anthropicが『広告排除』を維持できるのは『年間売上$14Bの高利益率』により、クライアント数ではなく『単価』で利益を確保する戦略による。これにより、『エンタープライズAI市場』と『..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Anthropic  |  Business  |  CNBC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526280"/>
            <a:ext cx="54864" cy="16459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5800" y="46634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46634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4440" y="481888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234440" y="4818888"/>
            <a:ext cx="1463040" cy="109728"/>
          </a:xfrm>
          <a:prstGeom prst="round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459943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OpenAI CEO Sam Altman、ChatGPT『月間10%成長回復』を従業員向けに宣言─Codex競争で『週間50%成長』達成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02920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OpenAI CEO Sam Altmanが従業員向けの内部通信（Slack）で、ChatGPT月間成長率が『10%超に回復』したと公表。これは2025年12月の『コード赤』宣言による大規模リソース再配置が奏功したことを示唆。同時にCodex（AIコーディングツール）の週間成長率..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0" y="493776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495604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06640" y="513892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ChatGPT成長回復は、『OpenAI衰退説』を払拭し、資金調達$100B達成の『根拠』として機能。一方、Codexの『50%成長』はエンタープライズソフトウェア市場での『AI開発支援ツール』の需要爆発を示唆し、Microsoft（Copilot親会社）を含む『AI統合開発環境』市場の形成を加速。ただし、『月間10%成長』は『2025年12月時点での停滞』（0～マイナス成長か）からの回復であり、..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OpenAI  |  Business  |  CNBC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Top News (2/2)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96012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109728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0972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34440" y="125272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234440" y="125272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34440" y="103327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中国AI企業が春節『モデルラッシュ』展開─DeepSeek V4予告に対し、ByteDance・Alibaba・Zhipuが連鎖的リリース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中国企業が春節前（2026年2月16日開始）に『AI新モデル一斉リリース』を展開。DeepSeekがV4（次世代汎用モデル）とR2（推論特化モデル）の発表を予告する中、ByteDanceが『Doubao 2.0』『Seedance 2.0動画生成モデル』を、AlibabaがQwe...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37160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06640" y="138988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57276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中国企業の『春節モデルラッシュ』は、『米国＋中国』の『二極AI世界』確立を加速。結果として、『API仕様の互換性喪失』『学習データセットの地域分割』『規制フレームワークの二重化』が進行し、『グローバルAI標準化』の道は閉ざされる見通し。これにより、『多国籍企業のAI導入』は『地域別カスタマイズ』を強いられ、『開発コスト増加』『導入期間延伸』が避けられない。同時に、『東南アジア・アフリカ・ラテンアメ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233172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Business  |  Reuters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43200"/>
            <a:ext cx="11094415" cy="164592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743200"/>
            <a:ext cx="54864" cy="1645920"/>
          </a:xfrm>
          <a:prstGeom prst="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85800" y="2880360"/>
            <a:ext cx="457200" cy="457200"/>
          </a:xfrm>
          <a:prstGeom prst="ellipse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803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" y="3035808"/>
            <a:ext cx="1828800" cy="1097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234440" y="3035808"/>
            <a:ext cx="1463040" cy="10972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34440" y="281635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eiryo"/>
              </a:defRPr>
            </a:pPr>
            <a:r>
              <a:t>グローバルデータセンター電力消費が2030年に945TWh到達予測─AI業界の年間$650-690B投資で電力網危機が顕在化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246120"/>
            <a:ext cx="6675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Precedence Research発表のデータセンター電力消費予測により、2030年のグローバルデータセンター電力消費が945TWh（テラワットアワー）に到達すると推定。これは現在の2023年時点での『約2倍』に相当。2035年までにはさらに1,300TWh（世界全電力消費の..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154680"/>
            <a:ext cx="4114800" cy="100584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3172968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005BAB"/>
                </a:solidFill>
                <a:latin typeface="Meiryo"/>
              </a:defRPr>
            </a:pPr>
            <a: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355848"/>
            <a:ext cx="393192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Meiryo"/>
              </a:defRPr>
            </a:pPr>
            <a:r>
              <a:t>電力ボトルネックは『AI開発スピードの物理的制約』として機能。結果として、『資本力×電力アクセス』が『技術力』と同等の『企業競争力決定要因』へ昇格。Anthropicの『電力コスト負担宣言』は、『電力調達力での優位性確保』という戦略的シグナル。米国政治家の『テック企業による電力費負担合意』は、『AI規制』が『テック企業への財政的搾取』へ転換し始めたことを示唆。結果として、『AI企業のコスト構造』が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11480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Meiryo"/>
              </a:defRPr>
            </a:pPr>
            <a:r>
              <a:t>Other  |  Infrastructure  |  GlobeNewswire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Global Market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Meiryo"/>
              </a:defRPr>
            </a:pPr>
            <a:r>
              <a:t>2026年2月14日時点での『グローバルAI業界』は、『米国資本集中』『中国独立開発加速』『規制多重化』の三重構造へ進化。米国ではAnthropic（$30B）・OpenAI（$100B目標）による『超大型資本競争』が加速し、『初期段階AI企業への投資枯渇』と『スタートアップエコシステムの多様性喪失』を招来。同時にエネルギー・インフラが『経営意思決定』の最優先課題へ昇格し、『電力アクセス×資本力』が『技術力』と同等の競争要因となる。中国では『DeepSeek衝撃後1年』において『自給自足AI開発』が加速。ByteDance・Alibaba・Zhipuらが『春節モデルラッシュ』（Doubao 2.0、Qwen 3.5、GLM-5等）を展開し、『米国技術依存排除』と『東南アジア・インド市場拡張』を並行実施。米国のHugain（AI輸出規制）強化への『先制的対応』として、『中国製チップのみで学習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5BAB"/>
                </a:solidFill>
                <a:latin typeface="Meiryo"/>
              </a:defRPr>
            </a:pPr>
            <a:r>
              <a:t>KEY IMPACT POINTS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655" y="1261872"/>
            <a:ext cx="18288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6655" y="14173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56655" y="14173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66383" y="16002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6383" y="16002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295" y="14904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米国AI企業の『超大型資本競争』（$130B規模）により、『グローバルベンチャーキャピタルの濃縮化』が加速。初期段階AI企業への投資流入が『急冷』し、『スタートアップAI企業の多様性喪失』と『Big Tech による寡占化』が確定。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655" y="23317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6655" y="2331720"/>
            <a:ext cx="54864" cy="82296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66383" y="2514600"/>
            <a:ext cx="365760" cy="365760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6383" y="25146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05295" y="24048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中国AI企業の『独立化戦略加速』により、『米国＋中国の二極化』が『技術標準・API仕様・学習データセット』の『地域分割』へ発展。2027年までに『互換性喪失した別生態系AI』が確立される見通し。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6655" y="32461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6655" y="3246120"/>
            <a:ext cx="54864" cy="822960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66383" y="3429000"/>
            <a:ext cx="365760" cy="365760"/>
          </a:xfrm>
          <a:prstGeom prst="ellipse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6383" y="34290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5295" y="33192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『エネルギー・インフラ危機』がAI産業の『物理的成長限界』として顕在化。電力確保能力が『資本力と同等の競争要因』へ昇格し、『発展途上国企業のAI産業参入機会喪失』が加速。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6655" y="41605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6655" y="4160520"/>
            <a:ext cx="54864" cy="822960"/>
          </a:xfrm>
          <a:prstGeom prst="rect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66383" y="4343400"/>
            <a:ext cx="365760" cy="365760"/>
          </a:xfrm>
          <a:prstGeom prst="ellipse">
            <a:avLst/>
          </a:prstGeom>
          <a:solidFill>
            <a:srgbClr val="003D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6383" y="4343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42336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『グローバルAI規制の不統一化』により、『規制の空隙活用』が『企業戦略』化し、『規制目的の形骸化』が招来。結果として『各地域での異なるAI倫理・安全性基準』が『国際紛争』へ進展する可能性。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56655" y="5074920"/>
            <a:ext cx="5486400" cy="82296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56655" y="5074920"/>
            <a:ext cx="54864" cy="82296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66383" y="5257800"/>
            <a:ext cx="365760" cy="365760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6383" y="52578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eiryo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05295" y="5148072"/>
            <a:ext cx="4800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Meiryo"/>
              </a:defRPr>
            </a:pPr>
            <a:r>
              <a:t>『AI安全性研究者の大量流出』と『スケール追求への業界的圧力』の『矛盾』により、『AI開発加速ペースの減速』が見込まれ、『2027年度の投資期待値調整』が『AI企業の株価下落』をもたらす懸念。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日本市場インパクト &amp; アクション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5BAB"/>
                </a:solidFill>
                <a:latin typeface="Meiryo"/>
              </a:defRPr>
            </a:pPr>
            <a:r>
              <a:t>日本市場への影響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61872"/>
            <a:ext cx="1371600" cy="18288"/>
          </a:xfrm>
          <a:prstGeom prst="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61848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61848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49047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『米国AI企業の資金調達加速』により、『日本VC（SoftBank Vision Fund等）の米国AI投資集中化』が進行。結果として『日本発AI企業への投資枯渇』が深刻化し、『日本のAIスタートアップエコシステムの衰退』が加速。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4864" cy="868680"/>
          </a:xfrm>
          <a:prstGeom prst="rect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" y="2578608"/>
            <a:ext cx="384048" cy="384048"/>
          </a:xfrm>
          <a:prstGeom prst="ellipse">
            <a:avLst/>
          </a:prstGeom>
          <a:solidFill>
            <a:srgbClr val="5BA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57860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45059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中国AI企業の東南アジア・インド進出』により、『日本企業が進出する新興市場での競争激化』が不可避。特に『言語対応・コスト競争力』での『中国企業優位性』により、『日本企業のマーケットシェア喪失』が加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337560"/>
            <a:ext cx="5303520" cy="868680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37560"/>
            <a:ext cx="54864" cy="86868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" y="3538728"/>
            <a:ext cx="384048" cy="384048"/>
          </a:xfrm>
          <a:prstGeom prst="ellipse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38728"/>
            <a:ext cx="384048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410712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『エネルギー・インフラコスト上昇』により、『日本企業のAI開発コスト爆増』が発生。特に『電力確保能力で米国企業に劣る』日本企業は、『AI開発の外部委託化』を強制され、『技術的依存性の強化』を招来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6655" y="960120"/>
            <a:ext cx="5486400" cy="548640"/>
          </a:xfrm>
          <a:prstGeom prst="roundRect">
            <a:avLst/>
          </a:prstGeom>
          <a:solidFill>
            <a:srgbClr val="FF96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39535" y="105156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Meiryo"/>
              </a:defRPr>
            </a:pPr>
            <a:r>
              <a:t>■  ACTION ITEMS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56655" y="1645920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93815" y="1874520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93815" y="1874520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05295" y="1737360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済産業省・総務省は『日本発AI企業への大型補助金制度』（例：$10B規模のファンド）を2026年Q2までに構築し、『日本AI企業の資本調達能力強化』を実施すること。（対象：日本国籍企業、研究機関発ベンチャー、大学発スピンアウト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56655" y="2670048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3815" y="2898648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3815" y="2898648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5295" y="2761488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日本銀行は『AI企業への長期低利融資制度』を創設し、『ドル建て外国資本』との『為替リスク緩和』に対応。特に『中期（3-12ヶ月）での円安進行リスク』への『先制的対応』が急務。（期限：2026年3月末まで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6655" y="3694176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293815" y="3922776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93815" y="3922776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05295" y="3785616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文部科学省は『大学・研究機関によるAI人材育成』の『加速化』を2026年中に実装。特に『AI安全性研究』『ロボティクスAI』『エネルギー効率AI』等の『重点領域』への『集中投資』を推進。（対象：東大・京大・OSAKAなど国立大学、民間研究機関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56655" y="4718304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293815" y="4946904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3815" y="4946904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05295" y="4809744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経済産業省は『日本企業によるAI標準化主導権確保』戦略を2026年Q3までに策定。EU AI Act・California SB-53等との『国際規制調整』を通じ、『日本企業のコンプライアンスコスト最小化』を図ること。（パートナー：JOGA・日本経団連）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56655" y="5742432"/>
            <a:ext cx="5486400" cy="914400"/>
          </a:xfrm>
          <a:prstGeom prst="roundRect">
            <a:avLst/>
          </a:prstGeom>
          <a:solidFill>
            <a:srgbClr val="E8F1F8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93815" y="5971032"/>
            <a:ext cx="320040" cy="3200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96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93815" y="5971032"/>
            <a:ext cx="3200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400" b="1">
                <a:solidFill>
                  <a:srgbClr val="FF961C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05295" y="5833872"/>
            <a:ext cx="4800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  <a:r>
              <a:t>総務省は『日本発AI企業による『東南アジア・インド市場進出』支援プログラム』を2026年Q2までに立案。『中国企業の市場侵食』への『競争的対抗戦略』として、『日本企業の地元言語対応・現地パートナーシップ構築』を支援。（予算：$500M規模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AI業界標準規格 / プロトコル一覧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960120"/>
          <a:ext cx="110944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645920"/>
                <a:gridCol w="1371600"/>
                <a:gridCol w="914400"/>
                <a:gridCol w="5699455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規格名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発表元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レイヤー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発表日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Meiryo"/>
                        </a:defRPr>
                      </a:pPr>
                      <a:r>
                        <a:t>概要</a:t>
                      </a:r>
                    </a:p>
                  </a:txBody>
                  <a:tcPr>
                    <a:solidFill>
                      <a:srgbClr val="005BA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UCP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2026-01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AIエージェント経由の商取引を標準化。A2A・MCP・AP2を統合オーケストレーションする上位プロトコル。Shopify・Walmart等が支持。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 Skills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 Capability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2025-12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AIエージェントに再現可能なワークフローを教えるオープン標準。SKILL.mdベースのプログレッシブ・ディスクロージャー方式。Microsoft・OpenAI等が採用。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ANP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ANP Community (中国移動/Huawei等)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Network Discovery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数十億のエージェントのためのネットワークプロトコル。W3C DIDによるID認証、JSON-LDによる能力公開の3層アーキテクチャ。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ACP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 + Stripe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Commerce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2025-09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AIエージェント経由の商取引フローを実現するオープン標準。物理/デジタル商品、サブスクリプション対応。ChatGPTで実装済み。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AGENTS.md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Project Instruction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AIコーディングエージェントにプロジェクト固有のガイダンスを提供するMarkdownベース規約。Copilot・Cursor・Gemini CLI等が対応。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A2A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Google Cloud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Agent-Agent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2025-04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異なるプラットフォーム・ベンダー間でAIエージェント同士が通信・協働するオープンプロトコル。MCPの補完的位置づけ。</a:t>
                      </a:r>
                    </a:p>
                  </a:txBody>
                  <a:tcPr>
                    <a:solidFill>
                      <a:srgbClr val="E8F1F8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05BAB"/>
                          </a:solidFill>
                          <a:latin typeface="Meiryo"/>
                        </a:defRPr>
                      </a:pPr>
                      <a:r>
                        <a:t>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5BA4D9"/>
                          </a:solidFill>
                          <a:latin typeface="Meiryo"/>
                        </a:defRPr>
                      </a:pPr>
                      <a:r>
                        <a:t>Agent-Tool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>
                          <a:solidFill>
                            <a:srgbClr val="6C757D"/>
                          </a:solidFill>
                          <a:latin typeface="Meiryo"/>
                        </a:defRPr>
                      </a:pPr>
                      <a:r>
                        <a:t>2024-11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Meiryo"/>
                        </a:defRPr>
                      </a:pPr>
                      <a:r>
                        <a:t>AIモデルを外部データソース・ツールに接続するオープン標準。10,000以上のMCPサーバーが公開済み。OpenAI・Google・Microsoft等が採用。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Meiryo"/>
              </a:defRPr>
            </a:pPr>
            <a:r>
              <a:t>※ キャッチアップ時に自動更新  |  各公式サイトで最新情報をご確認ください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Data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mpany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530352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355080" y="100584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51560"/>
            <a:ext cx="5303520" cy="24688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9436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portance_donu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703320"/>
            <a:ext cx="5303520" cy="24688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355080" y="3657600"/>
            <a:ext cx="539496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5BA4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ews_landscap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703320"/>
            <a:ext cx="530352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B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Meiryo"/>
              </a:defRPr>
            </a:pPr>
            <a:r>
              <a:t>Sources (引用元一覧)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446520"/>
            <a:ext cx="11094415" cy="9144"/>
          </a:xfrm>
          <a:prstGeom prst="rect">
            <a:avLst/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C757D"/>
                </a:solidFill>
                <a:latin typeface="Meiryo"/>
              </a:defRPr>
            </a:pPr>
            <a:r>
              <a:t>AI News Daily Deck  |  2026-02-14  |  Page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https://www.cnbc.com/2026/02/09/sam-altman-touts-chatgpt-growth-as-openai-nears-100-billion-funding.html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CNBC: https://www.cnbc.com/2026/02/13/anthropic-open-ai-super-bowl-ads.html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PitchBook: https://pitchbook.com/news/articles/anthropic-surpasses-openai-in-ai-cash-race-after-raising-30b-series-g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Business Insider: https://www.businessinsider.com/matt-shumer-something-big-is-happening-essay-ai-disruption-2026-2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GlobeNewswire: https://www.globenewswire.com/news-release/2026/02/10/3235490/0/en/Global-Data-Center-Energy-Consumption-Trends-and-Projections.html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56655" y="9601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Meiryo"/>
              </a:defRPr>
            </a:pP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Reuters: https://www.reuters.com/legal/litigation/us-ftc-ramps-up-scrutiny-microsoft-over-ai-cloud-practices-questions-rivals-2026-02-13/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Reuters: https://www.reuters.com/world/china/chinese-ai-models-festoon-spring-festival-year-after-deepseek-shock-2026-02-14/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Hexagon Corporate: https://hexagon.com/company/newsroom/press-releases/2026/hexagon-robotics-collaborates-with-microsoft-to-advance-the-field-of-humanoid-robots</a:t>
            </a:r>
          </a:p>
          <a:p>
            <a:pPr>
              <a:spcBef>
                <a:spcPts val="300"/>
              </a:spcBef>
              <a:defRPr sz="1100" b="0">
                <a:solidFill>
                  <a:srgbClr val="6C757D"/>
                </a:solidFill>
                <a:latin typeface="Meiryo"/>
              </a:defRPr>
            </a:pPr>
            <a:r>
              <a:t>► Kiteworks: https://www.kiteworks.com/cybersecurity-risk-management/ai-regulation-2026-business-compliance-guide/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126480"/>
            <a:ext cx="103628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Meiryo"/>
              </a:defRPr>
            </a:pPr>
            <a:r>
              <a:t>AI News Daily Deck - Generated by Claude Code | 本レポートは生成AIにより自動作成されており、一部ハルシネーションを含む可能性があります。元記事URLから一次情報をご確認ください。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