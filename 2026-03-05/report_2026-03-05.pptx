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10058400" cy="1097280"/>
          </a:xfrm>
          <a:prstGeom prst="rect">
            <a:avLst/>
          </a:prstGeom>
          <a:noFill/>
        </p:spPr>
        <p:txBody>
          <a:bodyPr wrap="square">
            <a:spAutoFit/>
          </a:bodyPr>
          <a:lstStyle/>
          <a:p>
            <a:pPr algn="l">
              <a:defRPr sz="5200" b="1">
                <a:solidFill>
                  <a:srgbClr val="005BAB"/>
                </a:solidFill>
                <a:latin typeface="Meiryo"/>
              </a:defRPr>
            </a:pPr>
            <a:r>
              <a:t>AI News Daily Deck</a:t>
            </a:r>
          </a:p>
        </p:txBody>
      </p:sp>
      <p:sp>
        <p:nvSpPr>
          <p:cNvPr id="4" name="Rectangle 3"/>
          <p:cNvSpPr/>
          <p:nvPr/>
        </p:nvSpPr>
        <p:spPr>
          <a:xfrm>
            <a:off x="914400" y="3200400"/>
            <a:ext cx="2743200" cy="45720"/>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474720"/>
            <a:ext cx="4572000" cy="640080"/>
          </a:xfrm>
          <a:prstGeom prst="rect">
            <a:avLst/>
          </a:prstGeom>
          <a:noFill/>
        </p:spPr>
        <p:txBody>
          <a:bodyPr wrap="square">
            <a:spAutoFit/>
          </a:bodyPr>
          <a:lstStyle/>
          <a:p>
            <a:pPr algn="l">
              <a:defRPr sz="2600" b="0">
                <a:solidFill>
                  <a:srgbClr val="6C757D"/>
                </a:solidFill>
                <a:latin typeface="Meiryo"/>
              </a:defRPr>
            </a:pPr>
            <a:r>
              <a:t>2026-03-05</a:t>
            </a:r>
          </a:p>
        </p:txBody>
      </p:sp>
      <p:sp>
        <p:nvSpPr>
          <p:cNvPr id="6" name="Rectangle 5"/>
          <p:cNvSpPr/>
          <p:nvPr/>
        </p:nvSpPr>
        <p:spPr>
          <a:xfrm>
            <a:off x="914400" y="4754880"/>
            <a:ext cx="2743200" cy="100584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 y="4754880"/>
            <a:ext cx="2743200" cy="36576"/>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864608"/>
            <a:ext cx="2377440" cy="502920"/>
          </a:xfrm>
          <a:prstGeom prst="rect">
            <a:avLst/>
          </a:prstGeom>
          <a:noFill/>
        </p:spPr>
        <p:txBody>
          <a:bodyPr wrap="none">
            <a:spAutoFit/>
          </a:bodyPr>
          <a:lstStyle/>
          <a:p>
            <a:r>
              <a:rPr sz="3000" b="1">
                <a:solidFill>
                  <a:srgbClr val="005BAB"/>
                </a:solidFill>
                <a:latin typeface="Meiryo"/>
              </a:rPr>
              <a:t>6</a:t>
            </a:r>
            <a:r>
              <a:rPr sz="1400">
                <a:solidFill>
                  <a:srgbClr val="6C757D"/>
                </a:solidFill>
                <a:latin typeface="Meiryo"/>
              </a:rPr>
              <a:t> 件</a:t>
            </a:r>
          </a:p>
        </p:txBody>
      </p:sp>
      <p:sp>
        <p:nvSpPr>
          <p:cNvPr id="9" name="TextBox 8"/>
          <p:cNvSpPr txBox="1"/>
          <p:nvPr/>
        </p:nvSpPr>
        <p:spPr>
          <a:xfrm>
            <a:off x="1097280" y="5394960"/>
            <a:ext cx="2377440" cy="274320"/>
          </a:xfrm>
          <a:prstGeom prst="rect">
            <a:avLst/>
          </a:prstGeom>
          <a:noFill/>
        </p:spPr>
        <p:txBody>
          <a:bodyPr wrap="square">
            <a:spAutoFit/>
          </a:bodyPr>
          <a:lstStyle/>
          <a:p>
            <a:pPr algn="l">
              <a:defRPr sz="1100" b="0">
                <a:solidFill>
                  <a:srgbClr val="6C757D"/>
                </a:solidFill>
                <a:latin typeface="Meiryo"/>
              </a:defRPr>
            </a:pPr>
            <a:r>
              <a:t>Total News</a:t>
            </a:r>
          </a:p>
        </p:txBody>
      </p:sp>
      <p:sp>
        <p:nvSpPr>
          <p:cNvPr id="10" name="Rectangle 9"/>
          <p:cNvSpPr/>
          <p:nvPr/>
        </p:nvSpPr>
        <p:spPr>
          <a:xfrm>
            <a:off x="4023360" y="4754880"/>
            <a:ext cx="2743200" cy="100584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023360" y="4754880"/>
            <a:ext cx="2743200" cy="36576"/>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06240" y="4864608"/>
            <a:ext cx="2377440" cy="502920"/>
          </a:xfrm>
          <a:prstGeom prst="rect">
            <a:avLst/>
          </a:prstGeom>
          <a:noFill/>
        </p:spPr>
        <p:txBody>
          <a:bodyPr wrap="none">
            <a:spAutoFit/>
          </a:bodyPr>
          <a:lstStyle/>
          <a:p>
            <a:r>
              <a:rPr sz="3000" b="1">
                <a:solidFill>
                  <a:srgbClr val="005BAB"/>
                </a:solidFill>
                <a:latin typeface="Meiryo"/>
              </a:rPr>
              <a:t>5</a:t>
            </a:r>
            <a:r>
              <a:rPr sz="1400">
                <a:solidFill>
                  <a:srgbClr val="6C757D"/>
                </a:solidFill>
                <a:latin typeface="Meiryo"/>
              </a:rPr>
              <a:t> 件</a:t>
            </a:r>
          </a:p>
        </p:txBody>
      </p:sp>
      <p:sp>
        <p:nvSpPr>
          <p:cNvPr id="13" name="TextBox 12"/>
          <p:cNvSpPr txBox="1"/>
          <p:nvPr/>
        </p:nvSpPr>
        <p:spPr>
          <a:xfrm>
            <a:off x="4206240" y="5394960"/>
            <a:ext cx="2377440" cy="274320"/>
          </a:xfrm>
          <a:prstGeom prst="rect">
            <a:avLst/>
          </a:prstGeom>
          <a:noFill/>
        </p:spPr>
        <p:txBody>
          <a:bodyPr wrap="square">
            <a:spAutoFit/>
          </a:bodyPr>
          <a:lstStyle/>
          <a:p>
            <a:pPr algn="l">
              <a:defRPr sz="1100" b="0">
                <a:solidFill>
                  <a:srgbClr val="6C757D"/>
                </a:solidFill>
                <a:latin typeface="Meiryo"/>
              </a:defRPr>
            </a:pPr>
            <a:r>
              <a:t>High Impact</a:t>
            </a:r>
          </a:p>
        </p:txBody>
      </p:sp>
      <p:sp>
        <p:nvSpPr>
          <p:cNvPr id="14" name="Rectangle 13"/>
          <p:cNvSpPr/>
          <p:nvPr/>
        </p:nvSpPr>
        <p:spPr>
          <a:xfrm>
            <a:off x="7132320" y="4754880"/>
            <a:ext cx="2743200" cy="100584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32320" y="4754880"/>
            <a:ext cx="2743200" cy="36576"/>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0" y="4864608"/>
            <a:ext cx="2377440" cy="502920"/>
          </a:xfrm>
          <a:prstGeom prst="rect">
            <a:avLst/>
          </a:prstGeom>
          <a:noFill/>
        </p:spPr>
        <p:txBody>
          <a:bodyPr wrap="none">
            <a:spAutoFit/>
          </a:bodyPr>
          <a:lstStyle/>
          <a:p>
            <a:r>
              <a:rPr sz="3000" b="1">
                <a:solidFill>
                  <a:srgbClr val="005BAB"/>
                </a:solidFill>
                <a:latin typeface="Meiryo"/>
              </a:rPr>
              <a:t>4</a:t>
            </a:r>
            <a:r>
              <a:rPr sz="1400">
                <a:solidFill>
                  <a:srgbClr val="6C757D"/>
                </a:solidFill>
                <a:latin typeface="Meiryo"/>
              </a:rPr>
              <a:t> 社</a:t>
            </a:r>
          </a:p>
        </p:txBody>
      </p:sp>
      <p:sp>
        <p:nvSpPr>
          <p:cNvPr id="17" name="TextBox 16"/>
          <p:cNvSpPr txBox="1"/>
          <p:nvPr/>
        </p:nvSpPr>
        <p:spPr>
          <a:xfrm>
            <a:off x="7315200" y="5394960"/>
            <a:ext cx="2377440" cy="274320"/>
          </a:xfrm>
          <a:prstGeom prst="rect">
            <a:avLst/>
          </a:prstGeom>
          <a:noFill/>
        </p:spPr>
        <p:txBody>
          <a:bodyPr wrap="square">
            <a:spAutoFit/>
          </a:bodyPr>
          <a:lstStyle/>
          <a:p>
            <a:pPr algn="l">
              <a:defRPr sz="1100" b="0">
                <a:solidFill>
                  <a:srgbClr val="6C757D"/>
                </a:solidFill>
                <a:latin typeface="Meiryo"/>
              </a:defRPr>
            </a:pPr>
            <a:r>
              <a:t>Companies</a:t>
            </a:r>
          </a:p>
        </p:txBody>
      </p:sp>
      <p:sp>
        <p:nvSpPr>
          <p:cNvPr id="18" name="Rectangle 17"/>
          <p:cNvSpPr/>
          <p:nvPr/>
        </p:nvSpPr>
        <p:spPr>
          <a:xfrm>
            <a:off x="0" y="6803136"/>
            <a:ext cx="12191695" cy="54864"/>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Executive Summary</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2026-03-05  |  Page 1</a:t>
            </a:r>
          </a:p>
        </p:txBody>
      </p:sp>
      <p:sp>
        <p:nvSpPr>
          <p:cNvPr id="6" name="Rounded Rectangle 5"/>
          <p:cNvSpPr/>
          <p:nvPr/>
        </p:nvSpPr>
        <p:spPr>
          <a:xfrm>
            <a:off x="640080" y="960120"/>
            <a:ext cx="2468880" cy="1051560"/>
          </a:xfrm>
          <a:prstGeom prst="round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960120"/>
            <a:ext cx="2468880" cy="36576"/>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051560"/>
            <a:ext cx="2194560" cy="274320"/>
          </a:xfrm>
          <a:prstGeom prst="rect">
            <a:avLst/>
          </a:prstGeom>
          <a:noFill/>
        </p:spPr>
        <p:txBody>
          <a:bodyPr wrap="square">
            <a:spAutoFit/>
          </a:bodyPr>
          <a:lstStyle/>
          <a:p>
            <a:pPr algn="l">
              <a:defRPr sz="1100" b="0">
                <a:solidFill>
                  <a:srgbClr val="6C757D"/>
                </a:solidFill>
                <a:latin typeface="Meiryo"/>
              </a:defRPr>
            </a:pPr>
            <a:r>
              <a:t>Total</a:t>
            </a:r>
          </a:p>
        </p:txBody>
      </p:sp>
      <p:sp>
        <p:nvSpPr>
          <p:cNvPr id="9" name="TextBox 8"/>
          <p:cNvSpPr txBox="1"/>
          <p:nvPr/>
        </p:nvSpPr>
        <p:spPr>
          <a:xfrm>
            <a:off x="777240" y="1307592"/>
            <a:ext cx="2194560" cy="548640"/>
          </a:xfrm>
          <a:prstGeom prst="rect">
            <a:avLst/>
          </a:prstGeom>
          <a:noFill/>
        </p:spPr>
        <p:txBody>
          <a:bodyPr wrap="square">
            <a:spAutoFit/>
          </a:bodyPr>
          <a:lstStyle/>
          <a:p>
            <a:r>
              <a:rPr sz="2800" b="1">
                <a:solidFill>
                  <a:srgbClr val="005BAB"/>
                </a:solidFill>
                <a:latin typeface="Meiryo"/>
              </a:rPr>
              <a:t>6</a:t>
            </a:r>
            <a:r>
              <a:rPr sz="1400">
                <a:solidFill>
                  <a:srgbClr val="6C757D"/>
                </a:solidFill>
                <a:latin typeface="Meiryo"/>
              </a:rPr>
              <a:t> 件</a:t>
            </a:r>
          </a:p>
        </p:txBody>
      </p:sp>
      <p:sp>
        <p:nvSpPr>
          <p:cNvPr id="10" name="Rounded Rectangle 9"/>
          <p:cNvSpPr/>
          <p:nvPr/>
        </p:nvSpPr>
        <p:spPr>
          <a:xfrm>
            <a:off x="3383280" y="960120"/>
            <a:ext cx="2468880" cy="1051560"/>
          </a:xfrm>
          <a:prstGeom prst="round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83280" y="960120"/>
            <a:ext cx="2468880" cy="36576"/>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20440" y="1051560"/>
            <a:ext cx="2194560" cy="274320"/>
          </a:xfrm>
          <a:prstGeom prst="rect">
            <a:avLst/>
          </a:prstGeom>
          <a:noFill/>
        </p:spPr>
        <p:txBody>
          <a:bodyPr wrap="square">
            <a:spAutoFit/>
          </a:bodyPr>
          <a:lstStyle/>
          <a:p>
            <a:pPr algn="l">
              <a:defRPr sz="1100" b="0">
                <a:solidFill>
                  <a:srgbClr val="6C757D"/>
                </a:solidFill>
                <a:latin typeface="Meiryo"/>
              </a:defRPr>
            </a:pPr>
            <a:r>
              <a:t>Top Company</a:t>
            </a:r>
          </a:p>
        </p:txBody>
      </p:sp>
      <p:sp>
        <p:nvSpPr>
          <p:cNvPr id="13" name="TextBox 12"/>
          <p:cNvSpPr txBox="1"/>
          <p:nvPr/>
        </p:nvSpPr>
        <p:spPr>
          <a:xfrm>
            <a:off x="3520440" y="1307592"/>
            <a:ext cx="2194560" cy="548640"/>
          </a:xfrm>
          <a:prstGeom prst="rect">
            <a:avLst/>
          </a:prstGeom>
          <a:noFill/>
        </p:spPr>
        <p:txBody>
          <a:bodyPr wrap="square">
            <a:spAutoFit/>
          </a:bodyPr>
          <a:lstStyle/>
          <a:p>
            <a:r>
              <a:rPr sz="2800" b="1">
                <a:solidFill>
                  <a:srgbClr val="005BAB"/>
                </a:solidFill>
                <a:latin typeface="Meiryo"/>
              </a:rPr>
              <a:t>Anthropic</a:t>
            </a:r>
            <a:r>
              <a:rPr sz="1400">
                <a:solidFill>
                  <a:srgbClr val="6C757D"/>
                </a:solidFill>
                <a:latin typeface="Meiryo"/>
              </a:rPr>
              <a:t> 2件</a:t>
            </a:r>
          </a:p>
        </p:txBody>
      </p:sp>
      <p:sp>
        <p:nvSpPr>
          <p:cNvPr id="14" name="Rounded Rectangle 13"/>
          <p:cNvSpPr/>
          <p:nvPr/>
        </p:nvSpPr>
        <p:spPr>
          <a:xfrm>
            <a:off x="6126480" y="960120"/>
            <a:ext cx="2468880" cy="1051560"/>
          </a:xfrm>
          <a:prstGeom prst="round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26480" y="960120"/>
            <a:ext cx="2468880" cy="36576"/>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3640" y="1051560"/>
            <a:ext cx="2194560" cy="274320"/>
          </a:xfrm>
          <a:prstGeom prst="rect">
            <a:avLst/>
          </a:prstGeom>
          <a:noFill/>
        </p:spPr>
        <p:txBody>
          <a:bodyPr wrap="square">
            <a:spAutoFit/>
          </a:bodyPr>
          <a:lstStyle/>
          <a:p>
            <a:pPr algn="l">
              <a:defRPr sz="1100" b="0">
                <a:solidFill>
                  <a:srgbClr val="6C757D"/>
                </a:solidFill>
                <a:latin typeface="Meiryo"/>
              </a:defRPr>
            </a:pPr>
            <a:r>
              <a:t>High Impact</a:t>
            </a:r>
          </a:p>
        </p:txBody>
      </p:sp>
      <p:sp>
        <p:nvSpPr>
          <p:cNvPr id="17" name="TextBox 16"/>
          <p:cNvSpPr txBox="1"/>
          <p:nvPr/>
        </p:nvSpPr>
        <p:spPr>
          <a:xfrm>
            <a:off x="6263640" y="1307592"/>
            <a:ext cx="2194560" cy="548640"/>
          </a:xfrm>
          <a:prstGeom prst="rect">
            <a:avLst/>
          </a:prstGeom>
          <a:noFill/>
        </p:spPr>
        <p:txBody>
          <a:bodyPr wrap="square">
            <a:spAutoFit/>
          </a:bodyPr>
          <a:lstStyle/>
          <a:p>
            <a:r>
              <a:rPr sz="2800" b="1">
                <a:solidFill>
                  <a:srgbClr val="005BAB"/>
                </a:solidFill>
                <a:latin typeface="Meiryo"/>
              </a:rPr>
              <a:t>5</a:t>
            </a:r>
            <a:r>
              <a:rPr sz="1400">
                <a:solidFill>
                  <a:srgbClr val="6C757D"/>
                </a:solidFill>
                <a:latin typeface="Meiryo"/>
              </a:rPr>
              <a:t> 件</a:t>
            </a:r>
          </a:p>
        </p:txBody>
      </p:sp>
      <p:sp>
        <p:nvSpPr>
          <p:cNvPr id="18" name="Rounded Rectangle 17"/>
          <p:cNvSpPr/>
          <p:nvPr/>
        </p:nvSpPr>
        <p:spPr>
          <a:xfrm>
            <a:off x="8869680" y="960120"/>
            <a:ext cx="2468880" cy="1051560"/>
          </a:xfrm>
          <a:prstGeom prst="round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869680" y="960120"/>
            <a:ext cx="2468880" cy="36576"/>
          </a:xfrm>
          <a:prstGeom prst="rect">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06840" y="1051560"/>
            <a:ext cx="2194560" cy="274320"/>
          </a:xfrm>
          <a:prstGeom prst="rect">
            <a:avLst/>
          </a:prstGeom>
          <a:noFill/>
        </p:spPr>
        <p:txBody>
          <a:bodyPr wrap="square">
            <a:spAutoFit/>
          </a:bodyPr>
          <a:lstStyle/>
          <a:p>
            <a:pPr algn="l">
              <a:defRPr sz="1100" b="0">
                <a:solidFill>
                  <a:srgbClr val="6C757D"/>
                </a:solidFill>
                <a:latin typeface="Meiryo"/>
              </a:defRPr>
            </a:pPr>
            <a:r>
              <a:t>Companies</a:t>
            </a:r>
          </a:p>
        </p:txBody>
      </p:sp>
      <p:sp>
        <p:nvSpPr>
          <p:cNvPr id="21" name="TextBox 20"/>
          <p:cNvSpPr txBox="1"/>
          <p:nvPr/>
        </p:nvSpPr>
        <p:spPr>
          <a:xfrm>
            <a:off x="9006840" y="1307592"/>
            <a:ext cx="2194560" cy="548640"/>
          </a:xfrm>
          <a:prstGeom prst="rect">
            <a:avLst/>
          </a:prstGeom>
          <a:noFill/>
        </p:spPr>
        <p:txBody>
          <a:bodyPr wrap="square">
            <a:spAutoFit/>
          </a:bodyPr>
          <a:lstStyle/>
          <a:p>
            <a:r>
              <a:rPr sz="2800" b="1">
                <a:solidFill>
                  <a:srgbClr val="005BAB"/>
                </a:solidFill>
                <a:latin typeface="Meiryo"/>
              </a:rPr>
              <a:t>4</a:t>
            </a:r>
            <a:r>
              <a:rPr sz="1400">
                <a:solidFill>
                  <a:srgbClr val="6C757D"/>
                </a:solidFill>
                <a:latin typeface="Meiryo"/>
              </a:rPr>
              <a:t> 社</a:t>
            </a:r>
          </a:p>
        </p:txBody>
      </p:sp>
      <p:sp>
        <p:nvSpPr>
          <p:cNvPr id="22" name="TextBox 21"/>
          <p:cNvSpPr txBox="1"/>
          <p:nvPr/>
        </p:nvSpPr>
        <p:spPr>
          <a:xfrm>
            <a:off x="548640" y="2331720"/>
            <a:ext cx="2743200" cy="320040"/>
          </a:xfrm>
          <a:prstGeom prst="rect">
            <a:avLst/>
          </a:prstGeom>
          <a:noFill/>
        </p:spPr>
        <p:txBody>
          <a:bodyPr wrap="square">
            <a:spAutoFit/>
          </a:bodyPr>
          <a:lstStyle/>
          <a:p>
            <a:pPr algn="l">
              <a:defRPr sz="1400" b="1">
                <a:solidFill>
                  <a:srgbClr val="005BAB"/>
                </a:solidFill>
                <a:latin typeface="Meiryo"/>
              </a:defRPr>
            </a:pPr>
            <a:r>
              <a:t>KEY TAKEAWAYS</a:t>
            </a:r>
          </a:p>
        </p:txBody>
      </p:sp>
      <p:sp>
        <p:nvSpPr>
          <p:cNvPr id="23" name="Rectangle 22"/>
          <p:cNvSpPr/>
          <p:nvPr/>
        </p:nvSpPr>
        <p:spPr>
          <a:xfrm>
            <a:off x="548640" y="2624328"/>
            <a:ext cx="1828800" cy="18288"/>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274320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2743200"/>
            <a:ext cx="54864"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85800" y="2852928"/>
            <a:ext cx="384048" cy="384048"/>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2852928"/>
            <a:ext cx="384048" cy="384048"/>
          </a:xfrm>
          <a:prstGeom prst="rect">
            <a:avLst/>
          </a:prstGeom>
          <a:noFill/>
        </p:spPr>
        <p:txBody>
          <a:bodyPr wrap="square" anchor="ctr">
            <a:spAutoFit/>
          </a:bodyPr>
          <a:lstStyle/>
          <a:p>
            <a:pPr algn="ctr">
              <a:defRPr sz="1400" b="1">
                <a:solidFill>
                  <a:srgbClr val="FFFFFF"/>
                </a:solidFill>
                <a:latin typeface="Meiryo"/>
              </a:defRPr>
            </a:pPr>
            <a:r>
              <a:t>1</a:t>
            </a:r>
          </a:p>
        </p:txBody>
      </p:sp>
      <p:sp>
        <p:nvSpPr>
          <p:cNvPr id="28" name="TextBox 27"/>
          <p:cNvSpPr txBox="1"/>
          <p:nvPr/>
        </p:nvSpPr>
        <p:spPr>
          <a:xfrm>
            <a:off x="1188720" y="2816352"/>
            <a:ext cx="10271455" cy="548640"/>
          </a:xfrm>
          <a:prstGeom prst="rect">
            <a:avLst/>
          </a:prstGeom>
          <a:noFill/>
        </p:spPr>
        <p:txBody>
          <a:bodyPr wrap="square">
            <a:spAutoFit/>
          </a:bodyPr>
          <a:lstStyle/>
          <a:p>
            <a:pPr algn="l">
              <a:defRPr sz="1200" b="0">
                <a:solidFill>
                  <a:srgbClr val="1A1A2E"/>
                </a:solidFill>
                <a:latin typeface="Meiryo"/>
              </a:defRPr>
            </a:pPr>
            <a:r>
              <a:t>Anthropicのペンタゴン供給チェーンリスク指定により、60億ドルを超える投資が危機に晒されており、政治的圧力とAI企業の独立性維持との葛藤が露呈。Dario Amodei CEOは自律兵器と国内大量監視に関するガードレール削除を拒否し、業界全体の倫理基準問題となっている。</a:t>
            </a:r>
          </a:p>
        </p:txBody>
      </p:sp>
      <p:sp>
        <p:nvSpPr>
          <p:cNvPr id="29" name="Rectangle 28"/>
          <p:cNvSpPr/>
          <p:nvPr/>
        </p:nvSpPr>
        <p:spPr>
          <a:xfrm>
            <a:off x="548640" y="352044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3520440"/>
            <a:ext cx="54864" cy="685800"/>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85800" y="3630168"/>
            <a:ext cx="384048" cy="384048"/>
          </a:xfrm>
          <a:prstGeom prst="ellipse">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 y="3630168"/>
            <a:ext cx="384048" cy="384048"/>
          </a:xfrm>
          <a:prstGeom prst="rect">
            <a:avLst/>
          </a:prstGeom>
          <a:noFill/>
        </p:spPr>
        <p:txBody>
          <a:bodyPr wrap="square" anchor="ctr">
            <a:spAutoFit/>
          </a:bodyPr>
          <a:lstStyle/>
          <a:p>
            <a:pPr algn="ctr">
              <a:defRPr sz="1400" b="1">
                <a:solidFill>
                  <a:srgbClr val="FFFFFF"/>
                </a:solidFill>
                <a:latin typeface="Meiryo"/>
              </a:defRPr>
            </a:pPr>
            <a:r>
              <a:t>2</a:t>
            </a:r>
          </a:p>
        </p:txBody>
      </p:sp>
      <p:sp>
        <p:nvSpPr>
          <p:cNvPr id="33" name="TextBox 32"/>
          <p:cNvSpPr txBox="1"/>
          <p:nvPr/>
        </p:nvSpPr>
        <p:spPr>
          <a:xfrm>
            <a:off x="1188720" y="3593592"/>
            <a:ext cx="10271455" cy="548640"/>
          </a:xfrm>
          <a:prstGeom prst="rect">
            <a:avLst/>
          </a:prstGeom>
          <a:noFill/>
        </p:spPr>
        <p:txBody>
          <a:bodyPr wrap="square">
            <a:spAutoFit/>
          </a:bodyPr>
          <a:lstStyle/>
          <a:p>
            <a:pPr algn="l">
              <a:defRPr sz="1200" b="0">
                <a:solidFill>
                  <a:srgbClr val="1A1A2E"/>
                </a:solidFill>
                <a:latin typeface="Meiryo"/>
              </a:defRPr>
            </a:pPr>
            <a:r>
              <a:t>OpenAIはペンタゴンとの契約で同様のガードレールを盛り込みつつも、Title 50（諜報機関活動）適用除外など抜け穴が存在。Sam Altman は契約が『rushed』であることを認めており、内部でも従業員間で議論が発生している。</a:t>
            </a:r>
          </a:p>
        </p:txBody>
      </p:sp>
      <p:sp>
        <p:nvSpPr>
          <p:cNvPr id="34" name="Rectangle 33"/>
          <p:cNvSpPr/>
          <p:nvPr/>
        </p:nvSpPr>
        <p:spPr>
          <a:xfrm>
            <a:off x="548640" y="429768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297680"/>
            <a:ext cx="54864" cy="685800"/>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85800" y="4407408"/>
            <a:ext cx="384048" cy="384048"/>
          </a:xfrm>
          <a:prstGeom prst="ellipse">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5800" y="4407408"/>
            <a:ext cx="384048" cy="384048"/>
          </a:xfrm>
          <a:prstGeom prst="rect">
            <a:avLst/>
          </a:prstGeom>
          <a:noFill/>
        </p:spPr>
        <p:txBody>
          <a:bodyPr wrap="square" anchor="ctr">
            <a:spAutoFit/>
          </a:bodyPr>
          <a:lstStyle/>
          <a:p>
            <a:pPr algn="ctr">
              <a:defRPr sz="1400" b="1">
                <a:solidFill>
                  <a:srgbClr val="FFFFFF"/>
                </a:solidFill>
                <a:latin typeface="Meiryo"/>
              </a:defRPr>
            </a:pPr>
            <a:r>
              <a:t>3</a:t>
            </a:r>
          </a:p>
        </p:txBody>
      </p:sp>
      <p:sp>
        <p:nvSpPr>
          <p:cNvPr id="38" name="TextBox 37"/>
          <p:cNvSpPr txBox="1"/>
          <p:nvPr/>
        </p:nvSpPr>
        <p:spPr>
          <a:xfrm>
            <a:off x="1188720" y="4370832"/>
            <a:ext cx="10271455" cy="548640"/>
          </a:xfrm>
          <a:prstGeom prst="rect">
            <a:avLst/>
          </a:prstGeom>
          <a:noFill/>
        </p:spPr>
        <p:txBody>
          <a:bodyPr wrap="square">
            <a:spAutoFit/>
          </a:bodyPr>
          <a:lstStyle/>
          <a:p>
            <a:pPr algn="l">
              <a:defRPr sz="1200" b="0">
                <a:solidFill>
                  <a:srgbClr val="1A1A2E"/>
                </a:solidFill>
                <a:latin typeface="Meiryo"/>
              </a:defRPr>
            </a:pPr>
            <a:r>
              <a:t>GoogleはProject Genieで汎用世界モデル技術を発表。Genie 3はビジュアル入力から任意のインタラクティブ環境を生成でき、ゲーム・シミュレーション・ロボット制御への応用が期待される段階。Google AI Ultra加入者から試用開始。</a:t>
            </a:r>
          </a:p>
        </p:txBody>
      </p:sp>
      <p:sp>
        <p:nvSpPr>
          <p:cNvPr id="39" name="Rectangle 38"/>
          <p:cNvSpPr/>
          <p:nvPr/>
        </p:nvSpPr>
        <p:spPr>
          <a:xfrm>
            <a:off x="548640" y="507492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48640" y="5074920"/>
            <a:ext cx="54864" cy="685800"/>
          </a:xfrm>
          <a:prstGeom prst="rect">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685800" y="5184648"/>
            <a:ext cx="384048" cy="384048"/>
          </a:xfrm>
          <a:prstGeom prst="ellipse">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5184648"/>
            <a:ext cx="384048" cy="384048"/>
          </a:xfrm>
          <a:prstGeom prst="rect">
            <a:avLst/>
          </a:prstGeom>
          <a:noFill/>
        </p:spPr>
        <p:txBody>
          <a:bodyPr wrap="square" anchor="ctr">
            <a:spAutoFit/>
          </a:bodyPr>
          <a:lstStyle/>
          <a:p>
            <a:pPr algn="ctr">
              <a:defRPr sz="1400" b="1">
                <a:solidFill>
                  <a:srgbClr val="FFFFFF"/>
                </a:solidFill>
                <a:latin typeface="Meiryo"/>
              </a:defRPr>
            </a:pPr>
            <a:r>
              <a:t>4</a:t>
            </a:r>
          </a:p>
        </p:txBody>
      </p:sp>
      <p:sp>
        <p:nvSpPr>
          <p:cNvPr id="43" name="TextBox 42"/>
          <p:cNvSpPr txBox="1"/>
          <p:nvPr/>
        </p:nvSpPr>
        <p:spPr>
          <a:xfrm>
            <a:off x="1188720" y="5148072"/>
            <a:ext cx="10271455" cy="548640"/>
          </a:xfrm>
          <a:prstGeom prst="rect">
            <a:avLst/>
          </a:prstGeom>
          <a:noFill/>
        </p:spPr>
        <p:txBody>
          <a:bodyPr wrap="square">
            <a:spAutoFit/>
          </a:bodyPr>
          <a:lstStyle/>
          <a:p>
            <a:pPr algn="l">
              <a:defRPr sz="1200" b="0">
                <a:solidFill>
                  <a:srgbClr val="1A1A2E"/>
                </a:solidFill>
                <a:latin typeface="Meiryo"/>
              </a:defRPr>
            </a:pPr>
            <a:r>
              <a:t>大手テック企業がAIデータセンター建設に2026年で700億ドルを投資。NVIDIA CEO Jensen Huangは『古典的コンピュータから1000倍の計算量が必要』と述べ、インフラ投資は『始まったばかり』と主張。電力・冷却・メモリが新たなボトルネック。</a:t>
            </a:r>
          </a:p>
        </p:txBody>
      </p:sp>
      <p:sp>
        <p:nvSpPr>
          <p:cNvPr id="44" name="Rectangle 43"/>
          <p:cNvSpPr/>
          <p:nvPr/>
        </p:nvSpPr>
        <p:spPr>
          <a:xfrm>
            <a:off x="548640" y="585216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8640" y="5852160"/>
            <a:ext cx="54864"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685800" y="5961888"/>
            <a:ext cx="384048" cy="384048"/>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85800" y="5961888"/>
            <a:ext cx="384048" cy="384048"/>
          </a:xfrm>
          <a:prstGeom prst="rect">
            <a:avLst/>
          </a:prstGeom>
          <a:noFill/>
        </p:spPr>
        <p:txBody>
          <a:bodyPr wrap="square" anchor="ctr">
            <a:spAutoFit/>
          </a:bodyPr>
          <a:lstStyle/>
          <a:p>
            <a:pPr algn="ctr">
              <a:defRPr sz="1400" b="1">
                <a:solidFill>
                  <a:srgbClr val="FFFFFF"/>
                </a:solidFill>
                <a:latin typeface="Meiryo"/>
              </a:defRPr>
            </a:pPr>
            <a:r>
              <a:t>5</a:t>
            </a:r>
          </a:p>
        </p:txBody>
      </p:sp>
      <p:sp>
        <p:nvSpPr>
          <p:cNvPr id="48" name="TextBox 47"/>
          <p:cNvSpPr txBox="1"/>
          <p:nvPr/>
        </p:nvSpPr>
        <p:spPr>
          <a:xfrm>
            <a:off x="1188720" y="5925312"/>
            <a:ext cx="10271455" cy="548640"/>
          </a:xfrm>
          <a:prstGeom prst="rect">
            <a:avLst/>
          </a:prstGeom>
          <a:noFill/>
        </p:spPr>
        <p:txBody>
          <a:bodyPr wrap="square">
            <a:spAutoFit/>
          </a:bodyPr>
          <a:lstStyle/>
          <a:p>
            <a:pPr algn="l">
              <a:defRPr sz="1200" b="0">
                <a:solidFill>
                  <a:srgbClr val="1A1A2E"/>
                </a:solidFill>
                <a:latin typeface="Meiryo"/>
              </a:defRPr>
            </a:pPr>
            <a:r>
              <a:t>GPU・高頻度メモリ不足がNVIDIA RTX 50シリーズで確認され、2027年度まで続く見込み。Seagateなどのストレージ企業が供給不足により価格上昇。AI インフラ整備が地政学的・環境問題へ拡張し、各国がデータセンター誘致競争を激化。</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TODAY'S HIGHLIGHT</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2026-03-05  |  Page 2</a:t>
            </a:r>
          </a:p>
        </p:txBody>
      </p:sp>
      <p:sp>
        <p:nvSpPr>
          <p:cNvPr id="6" name="TextBox 5"/>
          <p:cNvSpPr txBox="1"/>
          <p:nvPr/>
        </p:nvSpPr>
        <p:spPr>
          <a:xfrm>
            <a:off x="548640" y="960120"/>
            <a:ext cx="5303520" cy="731520"/>
          </a:xfrm>
          <a:prstGeom prst="rect">
            <a:avLst/>
          </a:prstGeom>
          <a:noFill/>
        </p:spPr>
        <p:txBody>
          <a:bodyPr wrap="square">
            <a:spAutoFit/>
          </a:bodyPr>
          <a:lstStyle/>
          <a:p>
            <a:pPr algn="l">
              <a:defRPr sz="2200" b="1">
                <a:solidFill>
                  <a:srgbClr val="1A1A2E"/>
                </a:solidFill>
                <a:latin typeface="Meiryo"/>
              </a:defRPr>
            </a:pPr>
            <a:r>
              <a:t>OpenAI、ペンタゴンとの200百万ドル AI契約に合意。自律兵器・国内監視制限付きと発表</a:t>
            </a:r>
          </a:p>
        </p:txBody>
      </p:sp>
      <p:sp>
        <p:nvSpPr>
          <p:cNvPr id="7" name="TextBox 6"/>
          <p:cNvSpPr txBox="1"/>
          <p:nvPr/>
        </p:nvSpPr>
        <p:spPr>
          <a:xfrm>
            <a:off x="548640" y="1737360"/>
            <a:ext cx="5303520" cy="320040"/>
          </a:xfrm>
          <a:prstGeom prst="rect">
            <a:avLst/>
          </a:prstGeom>
          <a:noFill/>
        </p:spPr>
        <p:txBody>
          <a:bodyPr wrap="square">
            <a:spAutoFit/>
          </a:bodyPr>
          <a:lstStyle/>
          <a:p>
            <a:pPr algn="l">
              <a:defRPr sz="1200" b="0">
                <a:solidFill>
                  <a:srgbClr val="6C757D"/>
                </a:solidFill>
                <a:latin typeface="Meiryo"/>
              </a:defRPr>
            </a:pPr>
            <a:r>
              <a:t>OpenAI  |  Business  |  ★★★★★</a:t>
            </a:r>
          </a:p>
        </p:txBody>
      </p:sp>
      <p:sp>
        <p:nvSpPr>
          <p:cNvPr id="8" name="Rounded Rectangle 7"/>
          <p:cNvSpPr/>
          <p:nvPr/>
        </p:nvSpPr>
        <p:spPr>
          <a:xfrm>
            <a:off x="548640" y="2057400"/>
            <a:ext cx="2743200" cy="109728"/>
          </a:xfrm>
          <a:prstGeom prst="round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2057400"/>
            <a:ext cx="2743200" cy="109728"/>
          </a:xfrm>
          <a:prstGeom prst="round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331720"/>
            <a:ext cx="5303520" cy="1371600"/>
          </a:xfrm>
          <a:prstGeom prst="rect">
            <a:avLst/>
          </a:prstGeom>
          <a:noFill/>
        </p:spPr>
        <p:txBody>
          <a:bodyPr wrap="square">
            <a:spAutoFit/>
          </a:bodyPr>
          <a:lstStyle/>
          <a:p>
            <a:pPr algn="l">
              <a:defRPr sz="1200" b="0">
                <a:solidFill>
                  <a:srgbClr val="1A1A2E"/>
                </a:solidFill>
                <a:latin typeface="Meiryo"/>
              </a:defRPr>
            </a:pPr>
            <a:r>
              <a:t>Sam Altman CEOは2026年2月28日、OpenAIがペンタゴンと長期AI利用契約を締結したと発表。契約額は約200百万ドル。同契約にはOpenAI技術が米国市民への大量監視や直接的自律兵器システムに使用されないことを明記。ただし、Intelligence Community（Title 50）による利用は対象外との指摘もあり、Anthropicが要求した『完全な』ガードレールではないとの評価。Altman自身『契約が急ぎで進んだ』ことを認め、その後条項修正を提案。業界内では『Ant...</a:t>
            </a:r>
          </a:p>
        </p:txBody>
      </p:sp>
      <p:sp>
        <p:nvSpPr>
          <p:cNvPr id="11" name="Rectangle 10"/>
          <p:cNvSpPr/>
          <p:nvPr/>
        </p:nvSpPr>
        <p:spPr>
          <a:xfrm>
            <a:off x="548640" y="3977640"/>
            <a:ext cx="530352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977640"/>
            <a:ext cx="54864" cy="82296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8368" y="4160520"/>
            <a:ext cx="365760" cy="36576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4160520"/>
            <a:ext cx="365760" cy="365760"/>
          </a:xfrm>
          <a:prstGeom prst="rect">
            <a:avLst/>
          </a:prstGeom>
          <a:noFill/>
        </p:spPr>
        <p:txBody>
          <a:bodyPr wrap="square" anchor="ctr">
            <a:spAutoFit/>
          </a:bodyPr>
          <a:lstStyle/>
          <a:p>
            <a:pPr algn="ctr">
              <a:defRPr sz="1300" b="1">
                <a:solidFill>
                  <a:srgbClr val="FFFFFF"/>
                </a:solidFill>
                <a:latin typeface="Meiryo"/>
              </a:defRPr>
            </a:pPr>
            <a:r>
              <a:t>I</a:t>
            </a:r>
          </a:p>
        </p:txBody>
      </p:sp>
      <p:sp>
        <p:nvSpPr>
          <p:cNvPr id="15" name="TextBox 14"/>
          <p:cNvSpPr txBox="1"/>
          <p:nvPr/>
        </p:nvSpPr>
        <p:spPr>
          <a:xfrm>
            <a:off x="1097280" y="4023360"/>
            <a:ext cx="4617720" cy="182880"/>
          </a:xfrm>
          <a:prstGeom prst="rect">
            <a:avLst/>
          </a:prstGeom>
          <a:noFill/>
        </p:spPr>
        <p:txBody>
          <a:bodyPr wrap="square">
            <a:spAutoFit/>
          </a:bodyPr>
          <a:lstStyle/>
          <a:p>
            <a:pPr algn="l">
              <a:defRPr sz="1000" b="1">
                <a:solidFill>
                  <a:srgbClr val="005BAB"/>
                </a:solidFill>
                <a:latin typeface="Meiryo"/>
              </a:defRPr>
            </a:pPr>
            <a:r>
              <a:t>Impact</a:t>
            </a:r>
          </a:p>
        </p:txBody>
      </p:sp>
      <p:sp>
        <p:nvSpPr>
          <p:cNvPr id="16" name="TextBox 15"/>
          <p:cNvSpPr txBox="1"/>
          <p:nvPr/>
        </p:nvSpPr>
        <p:spPr>
          <a:xfrm>
            <a:off x="1097280" y="4206240"/>
            <a:ext cx="4617720" cy="548640"/>
          </a:xfrm>
          <a:prstGeom prst="rect">
            <a:avLst/>
          </a:prstGeom>
          <a:noFill/>
        </p:spPr>
        <p:txBody>
          <a:bodyPr wrap="square">
            <a:spAutoFit/>
          </a:bodyPr>
          <a:lstStyle/>
          <a:p>
            <a:pPr algn="l">
              <a:defRPr sz="900" b="0">
                <a:solidFill>
                  <a:srgbClr val="1A1A2E"/>
                </a:solidFill>
                <a:latin typeface="Meiryo"/>
              </a:defRPr>
            </a:pPr>
            <a:r>
              <a:t>短期的には、ペンタゴンおよび連邦政府機関向けAI調達市場でOpenAIの独占状態が成立。Anthropic排除により、過去のベネズエラ・イラン作戦での利用実績も失失。OpenAIは government contractor市場を確保する一</a:t>
            </a:r>
          </a:p>
        </p:txBody>
      </p:sp>
      <p:sp>
        <p:nvSpPr>
          <p:cNvPr id="17" name="Rectangle 16"/>
          <p:cNvSpPr/>
          <p:nvPr/>
        </p:nvSpPr>
        <p:spPr>
          <a:xfrm>
            <a:off x="548640" y="4937760"/>
            <a:ext cx="530352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937760"/>
            <a:ext cx="54864" cy="822960"/>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58368" y="5120640"/>
            <a:ext cx="365760" cy="365760"/>
          </a:xfrm>
          <a:prstGeom prst="ellipse">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5120640"/>
            <a:ext cx="365760" cy="365760"/>
          </a:xfrm>
          <a:prstGeom prst="rect">
            <a:avLst/>
          </a:prstGeom>
          <a:noFill/>
        </p:spPr>
        <p:txBody>
          <a:bodyPr wrap="square" anchor="ctr">
            <a:spAutoFit/>
          </a:bodyPr>
          <a:lstStyle/>
          <a:p>
            <a:pPr algn="ctr">
              <a:defRPr sz="1300" b="1">
                <a:solidFill>
                  <a:srgbClr val="FFFFFF"/>
                </a:solidFill>
                <a:latin typeface="Meiryo"/>
              </a:defRPr>
            </a:pPr>
            <a:r>
              <a:t>O</a:t>
            </a:r>
          </a:p>
        </p:txBody>
      </p:sp>
      <p:sp>
        <p:nvSpPr>
          <p:cNvPr id="21" name="TextBox 20"/>
          <p:cNvSpPr txBox="1"/>
          <p:nvPr/>
        </p:nvSpPr>
        <p:spPr>
          <a:xfrm>
            <a:off x="1097280" y="4983480"/>
            <a:ext cx="4617720" cy="182880"/>
          </a:xfrm>
          <a:prstGeom prst="rect">
            <a:avLst/>
          </a:prstGeom>
          <a:noFill/>
        </p:spPr>
        <p:txBody>
          <a:bodyPr wrap="square">
            <a:spAutoFit/>
          </a:bodyPr>
          <a:lstStyle/>
          <a:p>
            <a:pPr algn="l">
              <a:defRPr sz="1000" b="1">
                <a:solidFill>
                  <a:srgbClr val="5BA4D9"/>
                </a:solidFill>
                <a:latin typeface="Meiryo"/>
              </a:defRPr>
            </a:pPr>
            <a:r>
              <a:t>Outlook</a:t>
            </a:r>
          </a:p>
        </p:txBody>
      </p:sp>
      <p:sp>
        <p:nvSpPr>
          <p:cNvPr id="22" name="TextBox 21"/>
          <p:cNvSpPr txBox="1"/>
          <p:nvPr/>
        </p:nvSpPr>
        <p:spPr>
          <a:xfrm>
            <a:off x="1097280" y="5166360"/>
            <a:ext cx="4617720" cy="548640"/>
          </a:xfrm>
          <a:prstGeom prst="rect">
            <a:avLst/>
          </a:prstGeom>
          <a:noFill/>
        </p:spPr>
        <p:txBody>
          <a:bodyPr wrap="square">
            <a:spAutoFit/>
          </a:bodyPr>
          <a:lstStyle/>
          <a:p>
            <a:pPr algn="l">
              <a:defRPr sz="900" b="0">
                <a:solidFill>
                  <a:srgbClr val="1A1A2E"/>
                </a:solidFill>
                <a:latin typeface="Meiryo"/>
              </a:defRPr>
            </a:pPr>
            <a:r>
              <a:t>2026年Q2-Q3にかけて、OpenAIとペンタゴンの実装パイロットが開始予想。一方、Anthropicが投資家圧力で政府関係修復に動く可能性も高い。EU・その他国でのAnthropicへの規制当局からの支持表明も予想され、『西側の政治的</a:t>
            </a:r>
          </a:p>
        </p:txBody>
      </p:sp>
      <p:sp>
        <p:nvSpPr>
          <p:cNvPr id="23" name="Rectangle 22"/>
          <p:cNvSpPr/>
          <p:nvPr/>
        </p:nvSpPr>
        <p:spPr>
          <a:xfrm>
            <a:off x="548640" y="5897880"/>
            <a:ext cx="530352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5897880"/>
            <a:ext cx="54864" cy="822960"/>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8368" y="6080760"/>
            <a:ext cx="365760" cy="365760"/>
          </a:xfrm>
          <a:prstGeom prst="ellipse">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6080760"/>
            <a:ext cx="365760" cy="365760"/>
          </a:xfrm>
          <a:prstGeom prst="rect">
            <a:avLst/>
          </a:prstGeom>
          <a:noFill/>
        </p:spPr>
        <p:txBody>
          <a:bodyPr wrap="square" anchor="ctr">
            <a:spAutoFit/>
          </a:bodyPr>
          <a:lstStyle/>
          <a:p>
            <a:pPr algn="ctr">
              <a:defRPr sz="1300" b="1">
                <a:solidFill>
                  <a:srgbClr val="FFFFFF"/>
                </a:solidFill>
                <a:latin typeface="Meiryo"/>
              </a:defRPr>
            </a:pPr>
            <a:r>
              <a:t>R</a:t>
            </a:r>
          </a:p>
        </p:txBody>
      </p:sp>
      <p:sp>
        <p:nvSpPr>
          <p:cNvPr id="27" name="TextBox 26"/>
          <p:cNvSpPr txBox="1"/>
          <p:nvPr/>
        </p:nvSpPr>
        <p:spPr>
          <a:xfrm>
            <a:off x="1097280" y="5943600"/>
            <a:ext cx="4617720" cy="182880"/>
          </a:xfrm>
          <a:prstGeom prst="rect">
            <a:avLst/>
          </a:prstGeom>
          <a:noFill/>
        </p:spPr>
        <p:txBody>
          <a:bodyPr wrap="square">
            <a:spAutoFit/>
          </a:bodyPr>
          <a:lstStyle/>
          <a:p>
            <a:pPr algn="l">
              <a:defRPr sz="1000" b="1">
                <a:solidFill>
                  <a:srgbClr val="FF961C"/>
                </a:solidFill>
                <a:latin typeface="Meiryo"/>
              </a:defRPr>
            </a:pPr>
            <a:r>
              <a:t>Risks</a:t>
            </a:r>
          </a:p>
        </p:txBody>
      </p:sp>
      <p:sp>
        <p:nvSpPr>
          <p:cNvPr id="28" name="TextBox 27"/>
          <p:cNvSpPr txBox="1"/>
          <p:nvPr/>
        </p:nvSpPr>
        <p:spPr>
          <a:xfrm>
            <a:off x="1097280" y="6126480"/>
            <a:ext cx="4617720" cy="548640"/>
          </a:xfrm>
          <a:prstGeom prst="rect">
            <a:avLst/>
          </a:prstGeom>
          <a:noFill/>
        </p:spPr>
        <p:txBody>
          <a:bodyPr wrap="square">
            <a:spAutoFit/>
          </a:bodyPr>
          <a:lstStyle/>
          <a:p>
            <a:pPr algn="l">
              <a:defRPr sz="900" b="0">
                <a:solidFill>
                  <a:srgbClr val="1A1A2E"/>
                </a:solidFill>
                <a:latin typeface="Meiryo"/>
              </a:defRPr>
            </a:pPr>
            <a:r>
              <a:t>OpenAI契約内の『Title 50除外』条項により、実質的には国内監視（個人の行動追跡・金融取引・通信記録の自動分析）が可能である法的リスク。米国憲法修正第4条（不合理な捜索禁止）との抵触可能性。また、『供給チェーンリスク』指定という過</a:t>
            </a:r>
          </a:p>
        </p:txBody>
      </p:sp>
      <p:pic>
        <p:nvPicPr>
          <p:cNvPr id="29" name="Picture 28" descr="highlight_diagram.png"/>
          <p:cNvPicPr>
            <a:picLocks noChangeAspect="1"/>
          </p:cNvPicPr>
          <p:nvPr/>
        </p:nvPicPr>
        <p:blipFill>
          <a:blip r:embed="rId2"/>
          <a:stretch>
            <a:fillRect/>
          </a:stretch>
        </p:blipFill>
        <p:spPr>
          <a:xfrm>
            <a:off x="6156655" y="960120"/>
            <a:ext cx="5486400" cy="4572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企業動向比較マトリクス</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2026-03-05  |  Page 3</a:t>
            </a:r>
          </a:p>
        </p:txBody>
      </p:sp>
      <p:graphicFrame>
        <p:nvGraphicFramePr>
          <p:cNvPr id="6" name="Table 5"/>
          <p:cNvGraphicFramePr>
            <a:graphicFrameLocks noGrp="1"/>
          </p:cNvGraphicFramePr>
          <p:nvPr/>
        </p:nvGraphicFramePr>
        <p:xfrm>
          <a:off x="548640" y="960120"/>
          <a:ext cx="11094415" cy="3200400"/>
        </p:xfrm>
        <a:graphic>
          <a:graphicData uri="http://schemas.openxmlformats.org/drawingml/2006/table">
            <a:tbl>
              <a:tblPr firstRow="1" bandRow="1">
                <a:tableStyleId>{5C22544A-7EE6-4342-B048-85BDC9FD1C3A}</a:tableStyleId>
              </a:tblPr>
              <a:tblGrid>
                <a:gridCol w="1645920"/>
                <a:gridCol w="2011680"/>
                <a:gridCol w="3474720"/>
                <a:gridCol w="914400"/>
                <a:gridCol w="3047695"/>
              </a:tblGrid>
              <a:tr h="640080">
                <a:tc>
                  <a:txBody>
                    <a:bodyPr/>
                    <a:lstStyle/>
                    <a:p>
                      <a:pPr algn="ctr">
                        <a:defRPr sz="1200" b="1">
                          <a:solidFill>
                            <a:srgbClr val="FFFFFF"/>
                          </a:solidFill>
                          <a:latin typeface="Meiryo"/>
                        </a:defRPr>
                      </a:pPr>
                      <a:r>
                        <a:t>企業</a:t>
                      </a:r>
                    </a:p>
                  </a:txBody>
                  <a:tcPr>
                    <a:solidFill>
                      <a:srgbClr val="005BAB"/>
                    </a:solidFill>
                  </a:tcPr>
                </a:tc>
                <a:tc>
                  <a:txBody>
                    <a:bodyPr/>
                    <a:lstStyle/>
                    <a:p>
                      <a:pPr algn="ctr">
                        <a:defRPr sz="1200" b="1">
                          <a:solidFill>
                            <a:srgbClr val="FFFFFF"/>
                          </a:solidFill>
                          <a:latin typeface="Meiryo"/>
                        </a:defRPr>
                      </a:pPr>
                      <a:r>
                        <a:t>注力分野</a:t>
                      </a:r>
                    </a:p>
                  </a:txBody>
                  <a:tcPr>
                    <a:solidFill>
                      <a:srgbClr val="005BAB"/>
                    </a:solidFill>
                  </a:tcPr>
                </a:tc>
                <a:tc>
                  <a:txBody>
                    <a:bodyPr/>
                    <a:lstStyle/>
                    <a:p>
                      <a:pPr algn="ctr">
                        <a:defRPr sz="1200" b="1">
                          <a:solidFill>
                            <a:srgbClr val="FFFFFF"/>
                          </a:solidFill>
                          <a:latin typeface="Meiryo"/>
                        </a:defRPr>
                      </a:pPr>
                      <a:r>
                        <a:t>主要アクション</a:t>
                      </a:r>
                    </a:p>
                  </a:txBody>
                  <a:tcPr>
                    <a:solidFill>
                      <a:srgbClr val="005BAB"/>
                    </a:solidFill>
                  </a:tcPr>
                </a:tc>
                <a:tc>
                  <a:txBody>
                    <a:bodyPr/>
                    <a:lstStyle/>
                    <a:p>
                      <a:pPr algn="ctr">
                        <a:defRPr sz="1200" b="1">
                          <a:solidFill>
                            <a:srgbClr val="FFFFFF"/>
                          </a:solidFill>
                          <a:latin typeface="Meiryo"/>
                        </a:defRPr>
                      </a:pPr>
                      <a:r>
                        <a:t>動向</a:t>
                      </a:r>
                    </a:p>
                  </a:txBody>
                  <a:tcPr>
                    <a:solidFill>
                      <a:srgbClr val="005BAB"/>
                    </a:solidFill>
                  </a:tcPr>
                </a:tc>
                <a:tc>
                  <a:txBody>
                    <a:bodyPr/>
                    <a:lstStyle/>
                    <a:p>
                      <a:pPr algn="ctr">
                        <a:defRPr sz="1200" b="1">
                          <a:solidFill>
                            <a:srgbClr val="FFFFFF"/>
                          </a:solidFill>
                          <a:latin typeface="Meiryo"/>
                        </a:defRPr>
                      </a:pPr>
                      <a:r>
                        <a:t>強み</a:t>
                      </a:r>
                    </a:p>
                  </a:txBody>
                  <a:tcPr>
                    <a:solidFill>
                      <a:srgbClr val="005BAB"/>
                    </a:solidFill>
                  </a:tcPr>
                </a:tc>
              </a:tr>
              <a:tr h="640080">
                <a:tc>
                  <a:txBody>
                    <a:bodyPr/>
                    <a:lstStyle/>
                    <a:p>
                      <a:pPr>
                        <a:defRPr sz="1100" b="1">
                          <a:solidFill>
                            <a:srgbClr val="1A1A2E"/>
                          </a:solidFill>
                          <a:latin typeface="Meiryo"/>
                        </a:defRPr>
                      </a:pPr>
                      <a:r>
                        <a:t>OpenAI</a:t>
                      </a:r>
                    </a:p>
                  </a:txBody>
                  <a:tcPr>
                    <a:solidFill>
                      <a:srgbClr val="FFFFFF"/>
                    </a:solidFill>
                  </a:tcPr>
                </a:tc>
                <a:tc>
                  <a:txBody>
                    <a:bodyPr/>
                    <a:lstStyle/>
                    <a:p>
                      <a:pPr>
                        <a:defRPr sz="1100">
                          <a:solidFill>
                            <a:srgbClr val="1A1A2E"/>
                          </a:solidFill>
                          <a:latin typeface="Meiryo"/>
                        </a:defRPr>
                      </a:pPr>
                      <a:r>
                        <a:t>チャットボット・汎用LLM・軍事契約</a:t>
                      </a:r>
                    </a:p>
                  </a:txBody>
                  <a:tcPr>
                    <a:solidFill>
                      <a:srgbClr val="FFFFFF"/>
                    </a:solidFill>
                  </a:tcPr>
                </a:tc>
                <a:tc>
                  <a:txBody>
                    <a:bodyPr/>
                    <a:lstStyle/>
                    <a:p>
                      <a:pPr>
                        <a:defRPr sz="1100">
                          <a:solidFill>
                            <a:srgbClr val="1A1A2E"/>
                          </a:solidFill>
                          <a:latin typeface="Meiryo"/>
                        </a:defRPr>
                      </a:pPr>
                      <a:r>
                        <a:t>ペンタゴン200百万ドル契約獲得。Anthropicの排除により市場一人勝ち状況。Sam Altmanは『契約が急ぎだった』と認めつつ、国防部門での実装に着手。</a:t>
                      </a:r>
                    </a:p>
                  </a:txBody>
                  <a:tcPr>
                    <a:solidFill>
                      <a:srgbClr val="FFFFFF"/>
                    </a:solidFill>
                  </a:tcPr>
                </a:tc>
                <a:tc>
                  <a:txBody>
                    <a:bodyPr/>
                    <a:lstStyle/>
                    <a:p>
                      <a:pPr algn="ctr">
                        <a:defRPr sz="1400" b="1">
                          <a:solidFill>
                            <a:srgbClr val="007A33"/>
                          </a:solidFill>
                          <a:latin typeface="Meiryo"/>
                        </a:defRPr>
                      </a:pPr>
                      <a:r>
                        <a:t>▲</a:t>
                      </a:r>
                    </a:p>
                  </a:txBody>
                  <a:tcPr>
                    <a:solidFill>
                      <a:srgbClr val="FFFFFF"/>
                    </a:solidFill>
                  </a:tcPr>
                </a:tc>
                <a:tc>
                  <a:txBody>
                    <a:bodyPr/>
                    <a:lstStyle/>
                    <a:p>
                      <a:pPr>
                        <a:defRPr sz="1100">
                          <a:solidFill>
                            <a:srgbClr val="1A1A2E"/>
                          </a:solidFill>
                          <a:latin typeface="Meiryo"/>
                        </a:defRPr>
                      </a:pPr>
                      <a:r>
                        <a:t>政府調達市場でのポジション確保。Anthropic排除後の政府機関からの需要独占。ただし『ガードレール削除』疑惑により社内・業界内で評判低下。</a:t>
                      </a:r>
                    </a:p>
                  </a:txBody>
                  <a:tcPr>
                    <a:solidFill>
                      <a:srgbClr val="FFFFFF"/>
                    </a:solidFill>
                  </a:tcPr>
                </a:tc>
              </a:tr>
              <a:tr h="640080">
                <a:tc>
                  <a:txBody>
                    <a:bodyPr/>
                    <a:lstStyle/>
                    <a:p>
                      <a:pPr>
                        <a:defRPr sz="1100" b="1">
                          <a:solidFill>
                            <a:srgbClr val="1A1A2E"/>
                          </a:solidFill>
                          <a:latin typeface="Meiryo"/>
                        </a:defRPr>
                      </a:pPr>
                      <a:r>
                        <a:t>Anthropic</a:t>
                      </a:r>
                    </a:p>
                  </a:txBody>
                  <a:tcPr>
                    <a:solidFill>
                      <a:srgbClr val="E8F1F8"/>
                    </a:solidFill>
                  </a:tcPr>
                </a:tc>
                <a:tc>
                  <a:txBody>
                    <a:bodyPr/>
                    <a:lstStyle/>
                    <a:p>
                      <a:pPr>
                        <a:defRPr sz="1100">
                          <a:solidFill>
                            <a:srgbClr val="1A1A2E"/>
                          </a:solidFill>
                          <a:latin typeface="Meiryo"/>
                        </a:defRPr>
                      </a:pPr>
                      <a:r>
                        <a:t>安全性重視のAI・Constitutional AI</a:t>
                      </a:r>
                    </a:p>
                  </a:txBody>
                  <a:tcPr>
                    <a:solidFill>
                      <a:srgbClr val="E8F1F8"/>
                    </a:solidFill>
                  </a:tcPr>
                </a:tc>
                <a:tc>
                  <a:txBody>
                    <a:bodyPr/>
                    <a:lstStyle/>
                    <a:p>
                      <a:pPr>
                        <a:defRPr sz="1100">
                          <a:solidFill>
                            <a:srgbClr val="1A1A2E"/>
                          </a:solidFill>
                          <a:latin typeface="Meiryo"/>
                        </a:defRPr>
                      </a:pPr>
                      <a:r>
                        <a:t>ペンタゴンの『任意の合法的使用』要求に拒否。供給チェーンリスク指定。投資家が政府との関係修復を要求。60億ドル以上の資金調達が危機に。</a:t>
                      </a:r>
                    </a:p>
                  </a:txBody>
                  <a:tcPr>
                    <a:solidFill>
                      <a:srgbClr val="E8F1F8"/>
                    </a:solidFill>
                  </a:tcPr>
                </a:tc>
                <a:tc>
                  <a:txBody>
                    <a:bodyPr/>
                    <a:lstStyle/>
                    <a:p>
                      <a:pPr algn="ctr">
                        <a:defRPr sz="1400" b="1">
                          <a:solidFill>
                            <a:srgbClr val="CC3333"/>
                          </a:solidFill>
                          <a:latin typeface="Meiryo"/>
                        </a:defRPr>
                      </a:pPr>
                      <a:r>
                        <a:t>▼</a:t>
                      </a:r>
                    </a:p>
                  </a:txBody>
                  <a:tcPr>
                    <a:solidFill>
                      <a:srgbClr val="E8F1F8"/>
                    </a:solidFill>
                  </a:tcPr>
                </a:tc>
                <a:tc>
                  <a:txBody>
                    <a:bodyPr/>
                    <a:lstStyle/>
                    <a:p>
                      <a:pPr>
                        <a:defRPr sz="1100">
                          <a:solidFill>
                            <a:srgbClr val="1A1A2E"/>
                          </a:solidFill>
                          <a:latin typeface="Meiryo"/>
                        </a:defRPr>
                      </a:pPr>
                      <a:r>
                        <a:t>AI企業の倫理的立場では業界内で高く評価。ただし政府市場からの完全排除により、商業化パイプラインが大幅制限。Dario Amodeiのリーダーシップは確実だが、ビジネス展開はきわめて限定的。</a:t>
                      </a:r>
                    </a:p>
                  </a:txBody>
                  <a:tcPr>
                    <a:solidFill>
                      <a:srgbClr val="E8F1F8"/>
                    </a:solidFill>
                  </a:tcPr>
                </a:tc>
              </a:tr>
              <a:tr h="640080">
                <a:tc>
                  <a:txBody>
                    <a:bodyPr/>
                    <a:lstStyle/>
                    <a:p>
                      <a:pPr>
                        <a:defRPr sz="1100" b="1">
                          <a:solidFill>
                            <a:srgbClr val="1A1A2E"/>
                          </a:solidFill>
                          <a:latin typeface="Meiryo"/>
                        </a:defRPr>
                      </a:pPr>
                      <a:r>
                        <a:t>Google</a:t>
                      </a:r>
                    </a:p>
                  </a:txBody>
                  <a:tcPr>
                    <a:solidFill>
                      <a:srgbClr val="FFFFFF"/>
                    </a:solidFill>
                  </a:tcPr>
                </a:tc>
                <a:tc>
                  <a:txBody>
                    <a:bodyPr/>
                    <a:lstStyle/>
                    <a:p>
                      <a:pPr>
                        <a:defRPr sz="1100">
                          <a:solidFill>
                            <a:srgbClr val="1A1A2E"/>
                          </a:solidFill>
                          <a:latin typeface="Meiryo"/>
                        </a:defRPr>
                      </a:pPr>
                      <a:r>
                        <a:t>マルチモーダルAI・ワールドモデル・科学向けAI</a:t>
                      </a:r>
                    </a:p>
                  </a:txBody>
                  <a:tcPr>
                    <a:solidFill>
                      <a:srgbClr val="FFFFFF"/>
                    </a:solidFill>
                  </a:tcPr>
                </a:tc>
                <a:tc>
                  <a:txBody>
                    <a:bodyPr/>
                    <a:lstStyle/>
                    <a:p>
                      <a:pPr>
                        <a:defRPr sz="1100">
                          <a:solidFill>
                            <a:srgbClr val="1A1A2E"/>
                          </a:solidFill>
                          <a:latin typeface="Meiryo"/>
                        </a:defRPr>
                      </a:pPr>
                      <a:r>
                        <a:t>Project Genie のロールアウト開始。Gemini 3 Deep Thinkの強化。IMO金メダル級の推論能力をデモンストレーション。政府市場では中立的ポジション維持。</a:t>
                      </a:r>
                    </a:p>
                  </a:txBody>
                  <a:tcPr>
                    <a:solidFill>
                      <a:srgbClr val="FFFFFF"/>
                    </a:solidFill>
                  </a:tcPr>
                </a:tc>
                <a:tc>
                  <a:txBody>
                    <a:bodyPr/>
                    <a:lstStyle/>
                    <a:p>
                      <a:pPr algn="ctr">
                        <a:defRPr sz="1400" b="1">
                          <a:solidFill>
                            <a:srgbClr val="007A33"/>
                          </a:solidFill>
                          <a:latin typeface="Meiryo"/>
                        </a:defRPr>
                      </a:pPr>
                      <a:r>
                        <a:t>▲</a:t>
                      </a:r>
                    </a:p>
                  </a:txBody>
                  <a:tcPr>
                    <a:solidFill>
                      <a:srgbClr val="FFFFFF"/>
                    </a:solidFill>
                  </a:tcPr>
                </a:tc>
                <a:tc>
                  <a:txBody>
                    <a:bodyPr/>
                    <a:lstStyle/>
                    <a:p>
                      <a:pPr>
                        <a:defRPr sz="1100">
                          <a:solidFill>
                            <a:srgbClr val="1A1A2E"/>
                          </a:solidFill>
                          <a:latin typeface="Meiryo"/>
                        </a:defRPr>
                      </a:pPr>
                      <a:r>
                        <a:t>技術多様性とバランス。政府・民間双方への提供体制がある。Project Genieはゲーム・シミュレーション領域で新規市場創造可能性。</a:t>
                      </a:r>
                    </a:p>
                  </a:txBody>
                  <a:tcPr>
                    <a:solidFill>
                      <a:srgbClr val="FFFFFF"/>
                    </a:solidFill>
                  </a:tcPr>
                </a:tc>
              </a:tr>
              <a:tr h="640080">
                <a:tc>
                  <a:txBody>
                    <a:bodyPr/>
                    <a:lstStyle/>
                    <a:p>
                      <a:pPr>
                        <a:defRPr sz="1100" b="1">
                          <a:solidFill>
                            <a:srgbClr val="1A1A2E"/>
                          </a:solidFill>
                          <a:latin typeface="Meiryo"/>
                        </a:defRPr>
                      </a:pPr>
                      <a:r>
                        <a:t>NVIDIA</a:t>
                      </a:r>
                    </a:p>
                  </a:txBody>
                  <a:tcPr>
                    <a:solidFill>
                      <a:srgbClr val="E8F1F8"/>
                    </a:solidFill>
                  </a:tcPr>
                </a:tc>
                <a:tc>
                  <a:txBody>
                    <a:bodyPr/>
                    <a:lstStyle/>
                    <a:p>
                      <a:pPr>
                        <a:defRPr sz="1100">
                          <a:solidFill>
                            <a:srgbClr val="1A1A2E"/>
                          </a:solidFill>
                          <a:latin typeface="Meiryo"/>
                        </a:defRPr>
                      </a:pPr>
                      <a:r>
                        <a:t>GPU・AIハードウェアプラットフォーム</a:t>
                      </a:r>
                    </a:p>
                  </a:txBody>
                  <a:tcPr>
                    <a:solidFill>
                      <a:srgbClr val="E8F1F8"/>
                    </a:solidFill>
                  </a:tcPr>
                </a:tc>
                <a:tc>
                  <a:txBody>
                    <a:bodyPr/>
                    <a:lstStyle/>
                    <a:p>
                      <a:pPr>
                        <a:defRPr sz="1100">
                          <a:solidFill>
                            <a:srgbClr val="1A1A2E"/>
                          </a:solidFill>
                          <a:latin typeface="Meiryo"/>
                        </a:defRPr>
                      </a:pPr>
                      <a:r>
                        <a:t>700億ドルのAI投資でGPU需要最大化。RTX 50シリーズ不足を公式認定。HBM・メモリ供給制約が継続。</a:t>
                      </a:r>
                    </a:p>
                  </a:txBody>
                  <a:tcPr>
                    <a:solidFill>
                      <a:srgbClr val="E8F1F8"/>
                    </a:solidFill>
                  </a:tcPr>
                </a:tc>
                <a:tc>
                  <a:txBody>
                    <a:bodyPr/>
                    <a:lstStyle/>
                    <a:p>
                      <a:pPr algn="ctr">
                        <a:defRPr sz="1400" b="1">
                          <a:solidFill>
                            <a:srgbClr val="007A33"/>
                          </a:solidFill>
                          <a:latin typeface="Meiryo"/>
                        </a:defRPr>
                      </a:pPr>
                      <a:r>
                        <a:t>▲</a:t>
                      </a:r>
                    </a:p>
                  </a:txBody>
                  <a:tcPr>
                    <a:solidFill>
                      <a:srgbClr val="E8F1F8"/>
                    </a:solidFill>
                  </a:tcPr>
                </a:tc>
                <a:tc>
                  <a:txBody>
                    <a:bodyPr/>
                    <a:lstStyle/>
                    <a:p>
                      <a:pPr>
                        <a:defRPr sz="1100">
                          <a:solidFill>
                            <a:srgbClr val="1A1A2E"/>
                          </a:solidFill>
                          <a:latin typeface="Meiryo"/>
                        </a:defRPr>
                      </a:pPr>
                      <a:r>
                        <a:t>AI革命のハードウェア基盤企業としての地位不動。ただし供給制約により、競合企業（AMD、Intel、カスタムシップ開発企業）の台頭機会も拡大。</a:t>
                      </a:r>
                    </a:p>
                  </a:txBody>
                  <a:tcPr>
                    <a:solidFill>
                      <a:srgbClr val="E8F1F8"/>
                    </a:solidFill>
                  </a:tcPr>
                </a:tc>
              </a:tr>
            </a:tbl>
          </a:graphicData>
        </a:graphic>
      </p:graphicFrame>
      <p:sp>
        <p:nvSpPr>
          <p:cNvPr id="7" name="Rounded Rectangle 6"/>
          <p:cNvSpPr/>
          <p:nvPr/>
        </p:nvSpPr>
        <p:spPr>
          <a:xfrm>
            <a:off x="548640" y="4389120"/>
            <a:ext cx="2011680" cy="320040"/>
          </a:xfrm>
          <a:prstGeom prst="round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4389120"/>
            <a:ext cx="2011680" cy="320040"/>
          </a:xfrm>
          <a:prstGeom prst="rect">
            <a:avLst/>
          </a:prstGeom>
          <a:noFill/>
        </p:spPr>
        <p:txBody>
          <a:bodyPr wrap="square" anchor="ctr">
            <a:spAutoFit/>
          </a:bodyPr>
          <a:lstStyle/>
          <a:p>
            <a:pPr algn="ctr">
              <a:defRPr sz="1100" b="1">
                <a:solidFill>
                  <a:srgbClr val="FFFFFF"/>
                </a:solidFill>
                <a:latin typeface="Meiryo"/>
              </a:defRPr>
            </a:pPr>
            <a:r>
              <a:t>  OpenAI  ▲</a:t>
            </a:r>
          </a:p>
        </p:txBody>
      </p:sp>
      <p:sp>
        <p:nvSpPr>
          <p:cNvPr id="9" name="Rounded Rectangle 8"/>
          <p:cNvSpPr/>
          <p:nvPr/>
        </p:nvSpPr>
        <p:spPr>
          <a:xfrm>
            <a:off x="2743200" y="4389120"/>
            <a:ext cx="2011680" cy="320040"/>
          </a:xfrm>
          <a:prstGeom prst="round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0" y="4389120"/>
            <a:ext cx="2011680" cy="320040"/>
          </a:xfrm>
          <a:prstGeom prst="rect">
            <a:avLst/>
          </a:prstGeom>
          <a:noFill/>
        </p:spPr>
        <p:txBody>
          <a:bodyPr wrap="square" anchor="ctr">
            <a:spAutoFit/>
          </a:bodyPr>
          <a:lstStyle/>
          <a:p>
            <a:pPr algn="ctr">
              <a:defRPr sz="1100" b="1">
                <a:solidFill>
                  <a:srgbClr val="FFFFFF"/>
                </a:solidFill>
                <a:latin typeface="Meiryo"/>
              </a:defRPr>
            </a:pPr>
            <a:r>
              <a:t>  Anthropic  ▼</a:t>
            </a:r>
          </a:p>
        </p:txBody>
      </p:sp>
      <p:sp>
        <p:nvSpPr>
          <p:cNvPr id="11" name="Rounded Rectangle 10"/>
          <p:cNvSpPr/>
          <p:nvPr/>
        </p:nvSpPr>
        <p:spPr>
          <a:xfrm>
            <a:off x="4937760" y="4389120"/>
            <a:ext cx="2011680" cy="320040"/>
          </a:xfrm>
          <a:prstGeom prst="round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37760" y="4389120"/>
            <a:ext cx="2011680" cy="320040"/>
          </a:xfrm>
          <a:prstGeom prst="rect">
            <a:avLst/>
          </a:prstGeom>
          <a:noFill/>
        </p:spPr>
        <p:txBody>
          <a:bodyPr wrap="square" anchor="ctr">
            <a:spAutoFit/>
          </a:bodyPr>
          <a:lstStyle/>
          <a:p>
            <a:pPr algn="ctr">
              <a:defRPr sz="1100" b="1">
                <a:solidFill>
                  <a:srgbClr val="FFFFFF"/>
                </a:solidFill>
                <a:latin typeface="Meiryo"/>
              </a:defRPr>
            </a:pPr>
            <a:r>
              <a:t>  Google  ▲</a:t>
            </a:r>
          </a:p>
        </p:txBody>
      </p:sp>
      <p:sp>
        <p:nvSpPr>
          <p:cNvPr id="13" name="Rounded Rectangle 12"/>
          <p:cNvSpPr/>
          <p:nvPr/>
        </p:nvSpPr>
        <p:spPr>
          <a:xfrm>
            <a:off x="7132320" y="4389120"/>
            <a:ext cx="2011680" cy="320040"/>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0" y="4389120"/>
            <a:ext cx="2011680" cy="320040"/>
          </a:xfrm>
          <a:prstGeom prst="rect">
            <a:avLst/>
          </a:prstGeom>
          <a:noFill/>
        </p:spPr>
        <p:txBody>
          <a:bodyPr wrap="square" anchor="ctr">
            <a:spAutoFit/>
          </a:bodyPr>
          <a:lstStyle/>
          <a:p>
            <a:pPr algn="ctr">
              <a:defRPr sz="1100" b="1">
                <a:solidFill>
                  <a:srgbClr val="FFFFFF"/>
                </a:solidFill>
                <a:latin typeface="Meiryo"/>
              </a:defRPr>
            </a:pPr>
            <a:r>
              <a:t>  NVIDIA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トレンドフロー分析</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2026-03-05  |  Page 4</a:t>
            </a:r>
          </a:p>
        </p:txBody>
      </p:sp>
      <p:sp>
        <p:nvSpPr>
          <p:cNvPr id="6" name="Rounded Rectangle 5"/>
          <p:cNvSpPr/>
          <p:nvPr/>
        </p:nvSpPr>
        <p:spPr>
          <a:xfrm>
            <a:off x="685800" y="1005840"/>
            <a:ext cx="5029200" cy="22860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1115568"/>
            <a:ext cx="411480" cy="41148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115568"/>
            <a:ext cx="411480" cy="411480"/>
          </a:xfrm>
          <a:prstGeom prst="rect">
            <a:avLst/>
          </a:prstGeom>
          <a:noFill/>
        </p:spPr>
        <p:txBody>
          <a:bodyPr wrap="square" anchor="ctr">
            <a:spAutoFit/>
          </a:bodyPr>
          <a:lstStyle/>
          <a:p>
            <a:pPr algn="ctr">
              <a:defRPr sz="1600" b="1">
                <a:solidFill>
                  <a:srgbClr val="FFFFFF"/>
                </a:solidFill>
                <a:latin typeface="Meiryo"/>
              </a:defRPr>
            </a:pPr>
            <a:r>
              <a:t>1</a:t>
            </a:r>
          </a:p>
        </p:txBody>
      </p:sp>
      <p:sp>
        <p:nvSpPr>
          <p:cNvPr id="9" name="TextBox 8"/>
          <p:cNvSpPr txBox="1"/>
          <p:nvPr/>
        </p:nvSpPr>
        <p:spPr>
          <a:xfrm>
            <a:off x="1325880" y="1143000"/>
            <a:ext cx="4206240" cy="365760"/>
          </a:xfrm>
          <a:prstGeom prst="rect">
            <a:avLst/>
          </a:prstGeom>
          <a:noFill/>
        </p:spPr>
        <p:txBody>
          <a:bodyPr wrap="square">
            <a:spAutoFit/>
          </a:bodyPr>
          <a:lstStyle/>
          <a:p>
            <a:pPr algn="l">
              <a:defRPr sz="1400" b="1">
                <a:solidFill>
                  <a:srgbClr val="005BAB"/>
                </a:solidFill>
                <a:latin typeface="Meiryo"/>
              </a:defRPr>
            </a:pPr>
            <a:r>
              <a:t>AI軍事化と企業倫理のシャープな対立</a:t>
            </a:r>
          </a:p>
        </p:txBody>
      </p:sp>
      <p:sp>
        <p:nvSpPr>
          <p:cNvPr id="10" name="TextBox 9"/>
          <p:cNvSpPr txBox="1"/>
          <p:nvPr/>
        </p:nvSpPr>
        <p:spPr>
          <a:xfrm>
            <a:off x="868680" y="1554480"/>
            <a:ext cx="4663440" cy="1097280"/>
          </a:xfrm>
          <a:prstGeom prst="rect">
            <a:avLst/>
          </a:prstGeom>
          <a:noFill/>
        </p:spPr>
        <p:txBody>
          <a:bodyPr wrap="square">
            <a:spAutoFit/>
          </a:bodyPr>
          <a:lstStyle/>
          <a:p>
            <a:pPr algn="l">
              <a:defRPr sz="1100" b="0">
                <a:solidFill>
                  <a:srgbClr val="1A1A2E"/>
                </a:solidFill>
                <a:latin typeface="Meiryo"/>
              </a:defRPr>
            </a:pPr>
            <a:r>
              <a:t>Anthropicがペンタゴンとの交渉で安全ガードレール（自律兵器・国内監視禁止）の削除を拒否したことで、トランプ政権から『供給チェーンリスク』指定を受け全連邦機関から排除された。これはAI企業の経営判断と国家安全保障要求の直接的衝突を示す象徴的事件。Anthropicはすでにベネズエラとイラン作戦でペンタゴンのクライアントであり、政治的圧力が強い。OpenAIは類似ガードレール付きで契約成立させ</a:t>
            </a:r>
          </a:p>
        </p:txBody>
      </p:sp>
      <p:sp>
        <p:nvSpPr>
          <p:cNvPr id="11" name="Rounded Rectangle 10"/>
          <p:cNvSpPr/>
          <p:nvPr/>
        </p:nvSpPr>
        <p:spPr>
          <a:xfrm>
            <a:off x="868680" y="2880360"/>
            <a:ext cx="1188720" cy="274320"/>
          </a:xfrm>
          <a:prstGeom prst="round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880360"/>
            <a:ext cx="1188720" cy="274320"/>
          </a:xfrm>
          <a:prstGeom prst="rect">
            <a:avLst/>
          </a:prstGeom>
          <a:noFill/>
        </p:spPr>
        <p:txBody>
          <a:bodyPr wrap="square" anchor="ctr">
            <a:spAutoFit/>
          </a:bodyPr>
          <a:lstStyle/>
          <a:p>
            <a:pPr algn="ctr">
              <a:defRPr sz="900" b="1">
                <a:solidFill>
                  <a:srgbClr val="FFFFFF"/>
                </a:solidFill>
                <a:latin typeface="Meiryo"/>
              </a:defRPr>
            </a:pPr>
            <a:r>
              <a:t>OpenAI</a:t>
            </a:r>
          </a:p>
        </p:txBody>
      </p:sp>
      <p:sp>
        <p:nvSpPr>
          <p:cNvPr id="13" name="Rounded Rectangle 12"/>
          <p:cNvSpPr/>
          <p:nvPr/>
        </p:nvSpPr>
        <p:spPr>
          <a:xfrm>
            <a:off x="2148840" y="2880360"/>
            <a:ext cx="1188720" cy="274320"/>
          </a:xfrm>
          <a:prstGeom prst="round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48840" y="2880360"/>
            <a:ext cx="1188720" cy="274320"/>
          </a:xfrm>
          <a:prstGeom prst="rect">
            <a:avLst/>
          </a:prstGeom>
          <a:noFill/>
        </p:spPr>
        <p:txBody>
          <a:bodyPr wrap="square" anchor="ctr">
            <a:spAutoFit/>
          </a:bodyPr>
          <a:lstStyle/>
          <a:p>
            <a:pPr algn="ctr">
              <a:defRPr sz="900" b="1">
                <a:solidFill>
                  <a:srgbClr val="FFFFFF"/>
                </a:solidFill>
                <a:latin typeface="Meiryo"/>
              </a:defRPr>
            </a:pPr>
            <a:r>
              <a:t>Anthropic</a:t>
            </a:r>
          </a:p>
        </p:txBody>
      </p:sp>
      <p:sp>
        <p:nvSpPr>
          <p:cNvPr id="15" name="Rounded Rectangle 14"/>
          <p:cNvSpPr/>
          <p:nvPr/>
        </p:nvSpPr>
        <p:spPr>
          <a:xfrm>
            <a:off x="3429000" y="2880360"/>
            <a:ext cx="1188720" cy="274320"/>
          </a:xfrm>
          <a:prstGeom prst="round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29000" y="2880360"/>
            <a:ext cx="1188720" cy="274320"/>
          </a:xfrm>
          <a:prstGeom prst="rect">
            <a:avLst/>
          </a:prstGeom>
          <a:noFill/>
        </p:spPr>
        <p:txBody>
          <a:bodyPr wrap="square" anchor="ctr">
            <a:spAutoFit/>
          </a:bodyPr>
          <a:lstStyle/>
          <a:p>
            <a:pPr algn="ctr">
              <a:defRPr sz="900" b="1">
                <a:solidFill>
                  <a:srgbClr val="FFFFFF"/>
                </a:solidFill>
                <a:latin typeface="Meiryo"/>
              </a:defRPr>
            </a:pPr>
            <a:r>
              <a:t>Google</a:t>
            </a:r>
          </a:p>
        </p:txBody>
      </p:sp>
      <p:sp>
        <p:nvSpPr>
          <p:cNvPr id="17" name="Rounded Rectangle 16"/>
          <p:cNvSpPr/>
          <p:nvPr/>
        </p:nvSpPr>
        <p:spPr>
          <a:xfrm>
            <a:off x="6263640" y="1005840"/>
            <a:ext cx="5029200" cy="22860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400800" y="1115568"/>
            <a:ext cx="411480" cy="41148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1115568"/>
            <a:ext cx="411480" cy="411480"/>
          </a:xfrm>
          <a:prstGeom prst="rect">
            <a:avLst/>
          </a:prstGeom>
          <a:noFill/>
        </p:spPr>
        <p:txBody>
          <a:bodyPr wrap="square" anchor="ctr">
            <a:spAutoFit/>
          </a:bodyPr>
          <a:lstStyle/>
          <a:p>
            <a:pPr algn="ctr">
              <a:defRPr sz="1600" b="1">
                <a:solidFill>
                  <a:srgbClr val="FFFFFF"/>
                </a:solidFill>
                <a:latin typeface="Meiryo"/>
              </a:defRPr>
            </a:pPr>
            <a:r>
              <a:t>2</a:t>
            </a:r>
          </a:p>
        </p:txBody>
      </p:sp>
      <p:sp>
        <p:nvSpPr>
          <p:cNvPr id="20" name="TextBox 19"/>
          <p:cNvSpPr txBox="1"/>
          <p:nvPr/>
        </p:nvSpPr>
        <p:spPr>
          <a:xfrm>
            <a:off x="6903720" y="1143000"/>
            <a:ext cx="4206240" cy="365760"/>
          </a:xfrm>
          <a:prstGeom prst="rect">
            <a:avLst/>
          </a:prstGeom>
          <a:noFill/>
        </p:spPr>
        <p:txBody>
          <a:bodyPr wrap="square">
            <a:spAutoFit/>
          </a:bodyPr>
          <a:lstStyle/>
          <a:p>
            <a:pPr algn="l">
              <a:defRPr sz="1400" b="1">
                <a:solidFill>
                  <a:srgbClr val="005BAB"/>
                </a:solidFill>
                <a:latin typeface="Meiryo"/>
              </a:defRPr>
            </a:pPr>
            <a:r>
              <a:t>ワールドモデルAIが実験段階から実用化へ転換</a:t>
            </a:r>
          </a:p>
        </p:txBody>
      </p:sp>
      <p:sp>
        <p:nvSpPr>
          <p:cNvPr id="21" name="TextBox 20"/>
          <p:cNvSpPr txBox="1"/>
          <p:nvPr/>
        </p:nvSpPr>
        <p:spPr>
          <a:xfrm>
            <a:off x="6446520" y="1554480"/>
            <a:ext cx="4663440" cy="1097280"/>
          </a:xfrm>
          <a:prstGeom prst="rect">
            <a:avLst/>
          </a:prstGeom>
          <a:noFill/>
        </p:spPr>
        <p:txBody>
          <a:bodyPr wrap="square">
            <a:spAutoFit/>
          </a:bodyPr>
          <a:lstStyle/>
          <a:p>
            <a:pPr algn="l">
              <a:defRPr sz="1100" b="0">
                <a:solidFill>
                  <a:srgbClr val="1A1A2E"/>
                </a:solidFill>
                <a:latin typeface="Meiryo"/>
              </a:defRPr>
            </a:pPr>
            <a:r>
              <a:t>GoogleがProject Genieを一般向けにロールアウト開始。このAIは、テキスト・画像指示から完全にインタラクティブな仮想環境を生成できるもので、従来のゲームエンジンや3Dモデリングのワークフローを大きく簡素化する可能性。Genie 3は汎用ワールドモデルとして設計されており、ゲーム業界、ロボット訓練シミュレーション、建築設計ビジュアライゼーションなど多分野への応用が予想される。Goog</a:t>
            </a:r>
          </a:p>
        </p:txBody>
      </p:sp>
      <p:sp>
        <p:nvSpPr>
          <p:cNvPr id="22" name="Rounded Rectangle 21"/>
          <p:cNvSpPr/>
          <p:nvPr/>
        </p:nvSpPr>
        <p:spPr>
          <a:xfrm>
            <a:off x="6446520" y="2880360"/>
            <a:ext cx="1188720" cy="274320"/>
          </a:xfrm>
          <a:prstGeom prst="round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46520" y="2880360"/>
            <a:ext cx="1188720" cy="274320"/>
          </a:xfrm>
          <a:prstGeom prst="rect">
            <a:avLst/>
          </a:prstGeom>
          <a:noFill/>
        </p:spPr>
        <p:txBody>
          <a:bodyPr wrap="square" anchor="ctr">
            <a:spAutoFit/>
          </a:bodyPr>
          <a:lstStyle/>
          <a:p>
            <a:pPr algn="ctr">
              <a:defRPr sz="900" b="1">
                <a:solidFill>
                  <a:srgbClr val="FFFFFF"/>
                </a:solidFill>
                <a:latin typeface="Meiryo"/>
              </a:defRPr>
            </a:pPr>
            <a:r>
              <a:t>Google</a:t>
            </a:r>
          </a:p>
        </p:txBody>
      </p:sp>
      <p:sp>
        <p:nvSpPr>
          <p:cNvPr id="24" name="Rounded Rectangle 23"/>
          <p:cNvSpPr/>
          <p:nvPr/>
        </p:nvSpPr>
        <p:spPr>
          <a:xfrm>
            <a:off x="7726680" y="2880360"/>
            <a:ext cx="1188720" cy="274320"/>
          </a:xfrm>
          <a:prstGeom prst="roundRect">
            <a:avLst/>
          </a:prstGeom>
          <a:solidFill>
            <a:srgbClr val="066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26680" y="2880360"/>
            <a:ext cx="1188720" cy="274320"/>
          </a:xfrm>
          <a:prstGeom prst="rect">
            <a:avLst/>
          </a:prstGeom>
          <a:noFill/>
        </p:spPr>
        <p:txBody>
          <a:bodyPr wrap="square" anchor="ctr">
            <a:spAutoFit/>
          </a:bodyPr>
          <a:lstStyle/>
          <a:p>
            <a:pPr algn="ctr">
              <a:defRPr sz="900" b="1">
                <a:solidFill>
                  <a:srgbClr val="FFFFFF"/>
                </a:solidFill>
                <a:latin typeface="Meiryo"/>
              </a:defRPr>
            </a:pPr>
            <a:r>
              <a:t>Meta</a:t>
            </a:r>
          </a:p>
        </p:txBody>
      </p:sp>
      <p:sp>
        <p:nvSpPr>
          <p:cNvPr id="26" name="Rounded Rectangle 25"/>
          <p:cNvSpPr/>
          <p:nvPr/>
        </p:nvSpPr>
        <p:spPr>
          <a:xfrm>
            <a:off x="9006840" y="2880360"/>
            <a:ext cx="1188720" cy="274320"/>
          </a:xfrm>
          <a:prstGeom prst="round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06840" y="2880360"/>
            <a:ext cx="1188720" cy="274320"/>
          </a:xfrm>
          <a:prstGeom prst="rect">
            <a:avLst/>
          </a:prstGeom>
          <a:noFill/>
        </p:spPr>
        <p:txBody>
          <a:bodyPr wrap="square" anchor="ctr">
            <a:spAutoFit/>
          </a:bodyPr>
          <a:lstStyle/>
          <a:p>
            <a:pPr algn="ctr">
              <a:defRPr sz="900" b="1">
                <a:solidFill>
                  <a:srgbClr val="FFFFFF"/>
                </a:solidFill>
                <a:latin typeface="Meiryo"/>
              </a:defRPr>
            </a:pPr>
            <a:r>
              <a:t>OpenAI</a:t>
            </a:r>
          </a:p>
        </p:txBody>
      </p:sp>
      <p:sp>
        <p:nvSpPr>
          <p:cNvPr id="28" name="Rounded Rectangle 27"/>
          <p:cNvSpPr/>
          <p:nvPr/>
        </p:nvSpPr>
        <p:spPr>
          <a:xfrm>
            <a:off x="685800" y="3520440"/>
            <a:ext cx="5029200" cy="22860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22960" y="3630168"/>
            <a:ext cx="411480" cy="41148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3630168"/>
            <a:ext cx="411480" cy="411480"/>
          </a:xfrm>
          <a:prstGeom prst="rect">
            <a:avLst/>
          </a:prstGeom>
          <a:noFill/>
        </p:spPr>
        <p:txBody>
          <a:bodyPr wrap="square" anchor="ctr">
            <a:spAutoFit/>
          </a:bodyPr>
          <a:lstStyle/>
          <a:p>
            <a:pPr algn="ctr">
              <a:defRPr sz="1600" b="1">
                <a:solidFill>
                  <a:srgbClr val="FFFFFF"/>
                </a:solidFill>
                <a:latin typeface="Meiryo"/>
              </a:defRPr>
            </a:pPr>
            <a:r>
              <a:t>3</a:t>
            </a:r>
          </a:p>
        </p:txBody>
      </p:sp>
      <p:sp>
        <p:nvSpPr>
          <p:cNvPr id="31" name="TextBox 30"/>
          <p:cNvSpPr txBox="1"/>
          <p:nvPr/>
        </p:nvSpPr>
        <p:spPr>
          <a:xfrm>
            <a:off x="1325880" y="3657600"/>
            <a:ext cx="4206240" cy="365760"/>
          </a:xfrm>
          <a:prstGeom prst="rect">
            <a:avLst/>
          </a:prstGeom>
          <a:noFill/>
        </p:spPr>
        <p:txBody>
          <a:bodyPr wrap="square">
            <a:spAutoFit/>
          </a:bodyPr>
          <a:lstStyle/>
          <a:p>
            <a:pPr algn="l">
              <a:defRPr sz="1400" b="1">
                <a:solidFill>
                  <a:srgbClr val="005BAB"/>
                </a:solidFill>
                <a:latin typeface="Meiryo"/>
              </a:defRPr>
            </a:pPr>
            <a:r>
              <a:t>AI インフラストラクチャーが地政学と環境問題の中心へ</a:t>
            </a:r>
          </a:p>
        </p:txBody>
      </p:sp>
      <p:sp>
        <p:nvSpPr>
          <p:cNvPr id="32" name="TextBox 31"/>
          <p:cNvSpPr txBox="1"/>
          <p:nvPr/>
        </p:nvSpPr>
        <p:spPr>
          <a:xfrm>
            <a:off x="868680" y="4069080"/>
            <a:ext cx="4663440" cy="1097280"/>
          </a:xfrm>
          <a:prstGeom prst="rect">
            <a:avLst/>
          </a:prstGeom>
          <a:noFill/>
        </p:spPr>
        <p:txBody>
          <a:bodyPr wrap="square">
            <a:spAutoFit/>
          </a:bodyPr>
          <a:lstStyle/>
          <a:p>
            <a:pPr algn="l">
              <a:defRPr sz="1100" b="0">
                <a:solidFill>
                  <a:srgbClr val="1A1A2E"/>
                </a:solidFill>
                <a:latin typeface="Meiryo"/>
              </a:defRPr>
            </a:pPr>
            <a:r>
              <a:t>2026年のAI投資額が700億ドルに達し、データセンター建設、GPU調達、電力確保が新たな競争軸になった。NVIDIAは供給制約を認め、メモリ・ネットワーク・冷却技術のボトルネックが2027年度まで継続予測。この現象は、AIの『ソフト側』（モデル競争）から『ハード側』（物理資源競争）へ競争軸がシフトしていることを意味。Microsoft等が原発との長期電力契約を締結する動きも報告されており、デー</a:t>
            </a:r>
          </a:p>
        </p:txBody>
      </p:sp>
      <p:sp>
        <p:nvSpPr>
          <p:cNvPr id="33" name="Rounded Rectangle 32"/>
          <p:cNvSpPr/>
          <p:nvPr/>
        </p:nvSpPr>
        <p:spPr>
          <a:xfrm>
            <a:off x="868680" y="5394960"/>
            <a:ext cx="1188720" cy="274320"/>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8680" y="5394960"/>
            <a:ext cx="1188720" cy="274320"/>
          </a:xfrm>
          <a:prstGeom prst="rect">
            <a:avLst/>
          </a:prstGeom>
          <a:noFill/>
        </p:spPr>
        <p:txBody>
          <a:bodyPr wrap="square" anchor="ctr">
            <a:spAutoFit/>
          </a:bodyPr>
          <a:lstStyle/>
          <a:p>
            <a:pPr algn="ctr">
              <a:defRPr sz="900" b="1">
                <a:solidFill>
                  <a:srgbClr val="FFFFFF"/>
                </a:solidFill>
                <a:latin typeface="Meiryo"/>
              </a:defRPr>
            </a:pPr>
            <a:r>
              <a:t>NVIDIA</a:t>
            </a:r>
          </a:p>
        </p:txBody>
      </p:sp>
      <p:sp>
        <p:nvSpPr>
          <p:cNvPr id="35" name="Rounded Rectangle 34"/>
          <p:cNvSpPr/>
          <p:nvPr/>
        </p:nvSpPr>
        <p:spPr>
          <a:xfrm>
            <a:off x="2148840" y="5394960"/>
            <a:ext cx="1188720" cy="274320"/>
          </a:xfrm>
          <a:prstGeom prst="round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148840" y="5394960"/>
            <a:ext cx="1188720" cy="274320"/>
          </a:xfrm>
          <a:prstGeom prst="rect">
            <a:avLst/>
          </a:prstGeom>
          <a:noFill/>
        </p:spPr>
        <p:txBody>
          <a:bodyPr wrap="square" anchor="ctr">
            <a:spAutoFit/>
          </a:bodyPr>
          <a:lstStyle/>
          <a:p>
            <a:pPr algn="ctr">
              <a:defRPr sz="900" b="1">
                <a:solidFill>
                  <a:srgbClr val="FFFFFF"/>
                </a:solidFill>
                <a:latin typeface="Meiryo"/>
              </a:defRPr>
            </a:pPr>
            <a:r>
              <a:t>Microsoft</a:t>
            </a:r>
          </a:p>
        </p:txBody>
      </p:sp>
      <p:sp>
        <p:nvSpPr>
          <p:cNvPr id="37" name="Rounded Rectangle 36"/>
          <p:cNvSpPr/>
          <p:nvPr/>
        </p:nvSpPr>
        <p:spPr>
          <a:xfrm>
            <a:off x="3429000" y="5394960"/>
            <a:ext cx="1188720" cy="274320"/>
          </a:xfrm>
          <a:prstGeom prst="round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429000" y="5394960"/>
            <a:ext cx="1188720" cy="274320"/>
          </a:xfrm>
          <a:prstGeom prst="rect">
            <a:avLst/>
          </a:prstGeom>
          <a:noFill/>
        </p:spPr>
        <p:txBody>
          <a:bodyPr wrap="square" anchor="ctr">
            <a:spAutoFit/>
          </a:bodyPr>
          <a:lstStyle/>
          <a:p>
            <a:pPr algn="ctr">
              <a:defRPr sz="900" b="1">
                <a:solidFill>
                  <a:srgbClr val="FFFFFF"/>
                </a:solidFill>
                <a:latin typeface="Meiryo"/>
              </a:defRPr>
            </a:pPr>
            <a:r>
              <a:t>OpenAI</a:t>
            </a:r>
          </a:p>
        </p:txBody>
      </p:sp>
      <p:sp>
        <p:nvSpPr>
          <p:cNvPr id="39" name="Rounded Rectangle 38"/>
          <p:cNvSpPr/>
          <p:nvPr/>
        </p:nvSpPr>
        <p:spPr>
          <a:xfrm>
            <a:off x="4709160" y="5394960"/>
            <a:ext cx="1188720" cy="274320"/>
          </a:xfrm>
          <a:prstGeom prst="round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709160" y="5394960"/>
            <a:ext cx="1188720" cy="274320"/>
          </a:xfrm>
          <a:prstGeom prst="rect">
            <a:avLst/>
          </a:prstGeom>
          <a:noFill/>
        </p:spPr>
        <p:txBody>
          <a:bodyPr wrap="square" anchor="ctr">
            <a:spAutoFit/>
          </a:bodyPr>
          <a:lstStyle/>
          <a:p>
            <a:pPr algn="ctr">
              <a:defRPr sz="900" b="1">
                <a:solidFill>
                  <a:srgbClr val="FFFFFF"/>
                </a:solidFill>
                <a:latin typeface="Meiryo"/>
              </a:defRPr>
            </a:pPr>
            <a:r>
              <a:t>Google</a:t>
            </a:r>
          </a:p>
        </p:txBody>
      </p:sp>
      <p:sp>
        <p:nvSpPr>
          <p:cNvPr id="41" name="Right Arrow 40"/>
          <p:cNvSpPr/>
          <p:nvPr/>
        </p:nvSpPr>
        <p:spPr>
          <a:xfrm>
            <a:off x="5760720" y="2011680"/>
            <a:ext cx="457200" cy="274320"/>
          </a:xfrm>
          <a:prstGeom prst="rightArrow">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Down Arrow 41"/>
          <p:cNvSpPr/>
          <p:nvPr/>
        </p:nvSpPr>
        <p:spPr>
          <a:xfrm>
            <a:off x="3063240" y="3300984"/>
            <a:ext cx="274320" cy="201168"/>
          </a:xfrm>
          <a:prstGeom prst="downArrow">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Top News (1/2)</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2026-03-05  |  Page 5</a:t>
            </a:r>
          </a:p>
        </p:txBody>
      </p:sp>
      <p:sp>
        <p:nvSpPr>
          <p:cNvPr id="6" name="Rectangle 5"/>
          <p:cNvSpPr/>
          <p:nvPr/>
        </p:nvSpPr>
        <p:spPr>
          <a:xfrm>
            <a:off x="548640" y="960120"/>
            <a:ext cx="11094415" cy="164592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960120"/>
            <a:ext cx="54864" cy="1645920"/>
          </a:xfrm>
          <a:prstGeom prst="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85800" y="1097280"/>
            <a:ext cx="457200" cy="457200"/>
          </a:xfrm>
          <a:prstGeom prst="ellipse">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097280"/>
            <a:ext cx="457200" cy="457200"/>
          </a:xfrm>
          <a:prstGeom prst="rect">
            <a:avLst/>
          </a:prstGeom>
          <a:noFill/>
        </p:spPr>
        <p:txBody>
          <a:bodyPr wrap="square" anchor="ctr">
            <a:spAutoFit/>
          </a:bodyPr>
          <a:lstStyle/>
          <a:p>
            <a:pPr algn="ctr">
              <a:defRPr sz="1800" b="1">
                <a:solidFill>
                  <a:srgbClr val="FFFFFF"/>
                </a:solidFill>
                <a:latin typeface="Meiryo"/>
              </a:defRPr>
            </a:pPr>
            <a:r>
              <a:t>5</a:t>
            </a:r>
          </a:p>
        </p:txBody>
      </p:sp>
      <p:sp>
        <p:nvSpPr>
          <p:cNvPr id="10" name="Rounded Rectangle 9"/>
          <p:cNvSpPr/>
          <p:nvPr/>
        </p:nvSpPr>
        <p:spPr>
          <a:xfrm>
            <a:off x="1234440" y="1252728"/>
            <a:ext cx="1828800" cy="109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234440" y="1252728"/>
            <a:ext cx="1828800" cy="109728"/>
          </a:xfrm>
          <a:prstGeom prst="round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34440" y="1033272"/>
            <a:ext cx="8229600" cy="274320"/>
          </a:xfrm>
          <a:prstGeom prst="rect">
            <a:avLst/>
          </a:prstGeom>
          <a:noFill/>
        </p:spPr>
        <p:txBody>
          <a:bodyPr wrap="square">
            <a:spAutoFit/>
          </a:bodyPr>
          <a:lstStyle/>
          <a:p>
            <a:pPr algn="l">
              <a:defRPr sz="1500" b="1">
                <a:solidFill>
                  <a:srgbClr val="1A1A2E"/>
                </a:solidFill>
                <a:latin typeface="Meiryo"/>
              </a:defRPr>
            </a:pPr>
            <a:r>
              <a:t>トランプ政権、Anthropicを全連邦機関から排除。『供給チェーンリスク』指定で60億ドル投資が危機に</a:t>
            </a:r>
          </a:p>
        </p:txBody>
      </p:sp>
      <p:sp>
        <p:nvSpPr>
          <p:cNvPr id="13" name="TextBox 12"/>
          <p:cNvSpPr txBox="1"/>
          <p:nvPr/>
        </p:nvSpPr>
        <p:spPr>
          <a:xfrm>
            <a:off x="731520" y="1463040"/>
            <a:ext cx="6675120" cy="640080"/>
          </a:xfrm>
          <a:prstGeom prst="rect">
            <a:avLst/>
          </a:prstGeom>
          <a:noFill/>
        </p:spPr>
        <p:txBody>
          <a:bodyPr wrap="square">
            <a:spAutoFit/>
          </a:bodyPr>
          <a:lstStyle/>
          <a:p>
            <a:pPr algn="l">
              <a:defRPr sz="1100" b="0">
                <a:solidFill>
                  <a:srgbClr val="1A1A2E"/>
                </a:solidFill>
                <a:latin typeface="Meiryo"/>
              </a:defRPr>
            </a:pPr>
            <a:r>
              <a:t>2026年2月27日、トランプ大統領はペンタゴンの Pete Hegseth 防衛長官の指示に基づき、Anthropicを『供給チェーンリスク』に指定。同時に、全連邦機関に対してAnthropicのClaudeモデルおよび関連製品の使用を直...</a:t>
            </a:r>
          </a:p>
        </p:txBody>
      </p:sp>
      <p:sp>
        <p:nvSpPr>
          <p:cNvPr id="14" name="Rounded Rectangle 13"/>
          <p:cNvSpPr/>
          <p:nvPr/>
        </p:nvSpPr>
        <p:spPr>
          <a:xfrm>
            <a:off x="7315200" y="1371600"/>
            <a:ext cx="4114800" cy="100584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06640" y="1389888"/>
            <a:ext cx="3931920" cy="182880"/>
          </a:xfrm>
          <a:prstGeom prst="rect">
            <a:avLst/>
          </a:prstGeom>
          <a:noFill/>
        </p:spPr>
        <p:txBody>
          <a:bodyPr wrap="square">
            <a:spAutoFit/>
          </a:bodyPr>
          <a:lstStyle/>
          <a:p>
            <a:pPr algn="l">
              <a:defRPr sz="800" b="1">
                <a:solidFill>
                  <a:srgbClr val="005BAB"/>
                </a:solidFill>
                <a:latin typeface="Meiryo"/>
              </a:defRPr>
            </a:pPr>
            <a:r>
              <a:t>IMPACT</a:t>
            </a:r>
          </a:p>
        </p:txBody>
      </p:sp>
      <p:sp>
        <p:nvSpPr>
          <p:cNvPr id="16" name="TextBox 15"/>
          <p:cNvSpPr txBox="1"/>
          <p:nvPr/>
        </p:nvSpPr>
        <p:spPr>
          <a:xfrm>
            <a:off x="7406640" y="1572768"/>
            <a:ext cx="3931920" cy="731520"/>
          </a:xfrm>
          <a:prstGeom prst="rect">
            <a:avLst/>
          </a:prstGeom>
          <a:noFill/>
        </p:spPr>
        <p:txBody>
          <a:bodyPr wrap="square">
            <a:spAutoFit/>
          </a:bodyPr>
          <a:lstStyle/>
          <a:p>
            <a:pPr algn="l">
              <a:defRPr sz="900" b="0">
                <a:solidFill>
                  <a:srgbClr val="1A1A2E"/>
                </a:solidFill>
                <a:latin typeface="Meiryo"/>
              </a:defRPr>
            </a:pPr>
            <a:r>
              <a:t>即座の影響：連邦政府機関向けのClaudeモデルの利用が終了。Anthropicはベネズエラ・イラン作戦でのペンタゴン利用実績を失失。政府防衛・情報機関からの収入が消失。長期的には、60億ドル以上の投...</a:t>
            </a:r>
          </a:p>
        </p:txBody>
      </p:sp>
      <p:sp>
        <p:nvSpPr>
          <p:cNvPr id="17" name="TextBox 16"/>
          <p:cNvSpPr txBox="1"/>
          <p:nvPr/>
        </p:nvSpPr>
        <p:spPr>
          <a:xfrm>
            <a:off x="731520" y="2331720"/>
            <a:ext cx="5486400" cy="228600"/>
          </a:xfrm>
          <a:prstGeom prst="rect">
            <a:avLst/>
          </a:prstGeom>
          <a:noFill/>
        </p:spPr>
        <p:txBody>
          <a:bodyPr wrap="square">
            <a:spAutoFit/>
          </a:bodyPr>
          <a:lstStyle/>
          <a:p>
            <a:pPr algn="l">
              <a:defRPr sz="1000" b="0">
                <a:solidFill>
                  <a:srgbClr val="6C757D"/>
                </a:solidFill>
                <a:latin typeface="Meiryo"/>
              </a:defRPr>
            </a:pPr>
            <a:r>
              <a:t>Anthropic  |  Business  |  Axios</a:t>
            </a:r>
          </a:p>
        </p:txBody>
      </p:sp>
      <p:sp>
        <p:nvSpPr>
          <p:cNvPr id="18" name="Rectangle 17"/>
          <p:cNvSpPr/>
          <p:nvPr/>
        </p:nvSpPr>
        <p:spPr>
          <a:xfrm>
            <a:off x="548640" y="2743200"/>
            <a:ext cx="11094415" cy="164592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2743200"/>
            <a:ext cx="54864" cy="164592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85800" y="2880360"/>
            <a:ext cx="457200" cy="457200"/>
          </a:xfrm>
          <a:prstGeom prst="ellipse">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2880360"/>
            <a:ext cx="457200" cy="457200"/>
          </a:xfrm>
          <a:prstGeom prst="rect">
            <a:avLst/>
          </a:prstGeom>
          <a:noFill/>
        </p:spPr>
        <p:txBody>
          <a:bodyPr wrap="square" anchor="ctr">
            <a:spAutoFit/>
          </a:bodyPr>
          <a:lstStyle/>
          <a:p>
            <a:pPr algn="ctr">
              <a:defRPr sz="1800" b="1">
                <a:solidFill>
                  <a:srgbClr val="FFFFFF"/>
                </a:solidFill>
                <a:latin typeface="Meiryo"/>
              </a:defRPr>
            </a:pPr>
            <a:r>
              <a:t>4</a:t>
            </a:r>
          </a:p>
        </p:txBody>
      </p:sp>
      <p:sp>
        <p:nvSpPr>
          <p:cNvPr id="22" name="Rounded Rectangle 21"/>
          <p:cNvSpPr/>
          <p:nvPr/>
        </p:nvSpPr>
        <p:spPr>
          <a:xfrm>
            <a:off x="1234440" y="3035808"/>
            <a:ext cx="1828800" cy="109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234440" y="3035808"/>
            <a:ext cx="1463040" cy="109728"/>
          </a:xfrm>
          <a:prstGeom prst="round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34440" y="2816352"/>
            <a:ext cx="8229600" cy="274320"/>
          </a:xfrm>
          <a:prstGeom prst="rect">
            <a:avLst/>
          </a:prstGeom>
          <a:noFill/>
        </p:spPr>
        <p:txBody>
          <a:bodyPr wrap="square">
            <a:spAutoFit/>
          </a:bodyPr>
          <a:lstStyle/>
          <a:p>
            <a:pPr algn="l">
              <a:defRPr sz="1500" b="1">
                <a:solidFill>
                  <a:srgbClr val="1A1A2E"/>
                </a:solidFill>
                <a:latin typeface="Meiryo"/>
              </a:defRPr>
            </a:pPr>
            <a:r>
              <a:t>Google DeepMind、Project Genie を発表。テキスト指示から対話的3D世界を自動生成するワールドモデルAI</a:t>
            </a:r>
          </a:p>
        </p:txBody>
      </p:sp>
      <p:sp>
        <p:nvSpPr>
          <p:cNvPr id="25" name="TextBox 24"/>
          <p:cNvSpPr txBox="1"/>
          <p:nvPr/>
        </p:nvSpPr>
        <p:spPr>
          <a:xfrm>
            <a:off x="731520" y="3246120"/>
            <a:ext cx="6675120" cy="640080"/>
          </a:xfrm>
          <a:prstGeom prst="rect">
            <a:avLst/>
          </a:prstGeom>
          <a:noFill/>
        </p:spPr>
        <p:txBody>
          <a:bodyPr wrap="square">
            <a:spAutoFit/>
          </a:bodyPr>
          <a:lstStyle/>
          <a:p>
            <a:pPr algn="l">
              <a:defRPr sz="1100" b="0">
                <a:solidFill>
                  <a:srgbClr val="1A1A2E"/>
                </a:solidFill>
                <a:latin typeface="Meiryo"/>
              </a:defRPr>
            </a:pPr>
            <a:r>
              <a:t>GoogleのDeepMindチームが『Project Genie』を公開。同プロジェクトは、テキスト指示・スケッチ・画像入力から、ユーザーがインタラクティブに操作できる完全なゲーム世界・シミュレーション環境を生成するAIモデル。Genie...</a:t>
            </a:r>
          </a:p>
        </p:txBody>
      </p:sp>
      <p:sp>
        <p:nvSpPr>
          <p:cNvPr id="26" name="Rounded Rectangle 25"/>
          <p:cNvSpPr/>
          <p:nvPr/>
        </p:nvSpPr>
        <p:spPr>
          <a:xfrm>
            <a:off x="7315200" y="3154680"/>
            <a:ext cx="4114800" cy="100584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06640" y="3172968"/>
            <a:ext cx="3931920" cy="182880"/>
          </a:xfrm>
          <a:prstGeom prst="rect">
            <a:avLst/>
          </a:prstGeom>
          <a:noFill/>
        </p:spPr>
        <p:txBody>
          <a:bodyPr wrap="square">
            <a:spAutoFit/>
          </a:bodyPr>
          <a:lstStyle/>
          <a:p>
            <a:pPr algn="l">
              <a:defRPr sz="800" b="1">
                <a:solidFill>
                  <a:srgbClr val="005BAB"/>
                </a:solidFill>
                <a:latin typeface="Meiryo"/>
              </a:defRPr>
            </a:pPr>
            <a:r>
              <a:t>IMPACT</a:t>
            </a:r>
          </a:p>
        </p:txBody>
      </p:sp>
      <p:sp>
        <p:nvSpPr>
          <p:cNvPr id="28" name="TextBox 27"/>
          <p:cNvSpPr txBox="1"/>
          <p:nvPr/>
        </p:nvSpPr>
        <p:spPr>
          <a:xfrm>
            <a:off x="7406640" y="3355848"/>
            <a:ext cx="3931920" cy="731520"/>
          </a:xfrm>
          <a:prstGeom prst="rect">
            <a:avLst/>
          </a:prstGeom>
          <a:noFill/>
        </p:spPr>
        <p:txBody>
          <a:bodyPr wrap="square">
            <a:spAutoFit/>
          </a:bodyPr>
          <a:lstStyle/>
          <a:p>
            <a:pPr algn="l">
              <a:defRPr sz="900" b="0">
                <a:solidFill>
                  <a:srgbClr val="1A1A2E"/>
                </a:solidFill>
                <a:latin typeface="Meiryo"/>
              </a:defRPr>
            </a:pPr>
            <a:r>
              <a:t>短期的（2026年内）：ゲーム開発者がプロトタイピング時間を数ヶ月から数週間へ短縮。インディーゲーム開発の参入障壁が大幅低下。Unreal・Unityなどのゲームエンジン企業への需要が『フル開発』から...</a:t>
            </a:r>
          </a:p>
        </p:txBody>
      </p:sp>
      <p:sp>
        <p:nvSpPr>
          <p:cNvPr id="29" name="TextBox 28"/>
          <p:cNvSpPr txBox="1"/>
          <p:nvPr/>
        </p:nvSpPr>
        <p:spPr>
          <a:xfrm>
            <a:off x="731520" y="4114800"/>
            <a:ext cx="5486400" cy="228600"/>
          </a:xfrm>
          <a:prstGeom prst="rect">
            <a:avLst/>
          </a:prstGeom>
          <a:noFill/>
        </p:spPr>
        <p:txBody>
          <a:bodyPr wrap="square">
            <a:spAutoFit/>
          </a:bodyPr>
          <a:lstStyle/>
          <a:p>
            <a:pPr algn="l">
              <a:defRPr sz="1000" b="0">
                <a:solidFill>
                  <a:srgbClr val="6C757D"/>
                </a:solidFill>
                <a:latin typeface="Meiryo"/>
              </a:defRPr>
            </a:pPr>
            <a:r>
              <a:t>Google  |  LLM  |  Google Official Blog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Top News (2/2)</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2026-03-05  |  Page 6</a:t>
            </a:r>
          </a:p>
        </p:txBody>
      </p:sp>
      <p:sp>
        <p:nvSpPr>
          <p:cNvPr id="6" name="Rectangle 5"/>
          <p:cNvSpPr/>
          <p:nvPr/>
        </p:nvSpPr>
        <p:spPr>
          <a:xfrm>
            <a:off x="548640" y="960120"/>
            <a:ext cx="11094415" cy="164592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960120"/>
            <a:ext cx="54864" cy="1645920"/>
          </a:xfrm>
          <a:prstGeom prst="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85800" y="1097280"/>
            <a:ext cx="457200" cy="457200"/>
          </a:xfrm>
          <a:prstGeom prst="ellipse">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097280"/>
            <a:ext cx="457200" cy="457200"/>
          </a:xfrm>
          <a:prstGeom prst="rect">
            <a:avLst/>
          </a:prstGeom>
          <a:noFill/>
        </p:spPr>
        <p:txBody>
          <a:bodyPr wrap="square" anchor="ctr">
            <a:spAutoFit/>
          </a:bodyPr>
          <a:lstStyle/>
          <a:p>
            <a:pPr algn="ctr">
              <a:defRPr sz="1800" b="1">
                <a:solidFill>
                  <a:srgbClr val="FFFFFF"/>
                </a:solidFill>
                <a:latin typeface="Meiryo"/>
              </a:defRPr>
            </a:pPr>
            <a:r>
              <a:t>4</a:t>
            </a:r>
          </a:p>
        </p:txBody>
      </p:sp>
      <p:sp>
        <p:nvSpPr>
          <p:cNvPr id="10" name="Rounded Rectangle 9"/>
          <p:cNvSpPr/>
          <p:nvPr/>
        </p:nvSpPr>
        <p:spPr>
          <a:xfrm>
            <a:off x="1234440" y="1252728"/>
            <a:ext cx="1828800" cy="109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234440" y="1252728"/>
            <a:ext cx="1463040" cy="109728"/>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34440" y="1033272"/>
            <a:ext cx="8229600" cy="274320"/>
          </a:xfrm>
          <a:prstGeom prst="rect">
            <a:avLst/>
          </a:prstGeom>
          <a:noFill/>
        </p:spPr>
        <p:txBody>
          <a:bodyPr wrap="square">
            <a:spAutoFit/>
          </a:bodyPr>
          <a:lstStyle/>
          <a:p>
            <a:pPr algn="l">
              <a:defRPr sz="1500" b="1">
                <a:solidFill>
                  <a:srgbClr val="1A1A2E"/>
                </a:solidFill>
                <a:latin typeface="Meiryo"/>
              </a:defRPr>
            </a:pPr>
            <a:r>
              <a:t>大手テック企業が2026年に700億ドルをAIデータセンター建設に投資。GPU・電力・冷却がボトルネック</a:t>
            </a:r>
          </a:p>
        </p:txBody>
      </p:sp>
      <p:sp>
        <p:nvSpPr>
          <p:cNvPr id="13" name="TextBox 12"/>
          <p:cNvSpPr txBox="1"/>
          <p:nvPr/>
        </p:nvSpPr>
        <p:spPr>
          <a:xfrm>
            <a:off x="731520" y="1463040"/>
            <a:ext cx="6675120" cy="640080"/>
          </a:xfrm>
          <a:prstGeom prst="rect">
            <a:avLst/>
          </a:prstGeom>
          <a:noFill/>
        </p:spPr>
        <p:txBody>
          <a:bodyPr wrap="square">
            <a:spAutoFit/>
          </a:bodyPr>
          <a:lstStyle/>
          <a:p>
            <a:pPr algn="l">
              <a:defRPr sz="1100" b="0">
                <a:solidFill>
                  <a:srgbClr val="1A1A2E"/>
                </a:solidFill>
                <a:latin typeface="Meiryo"/>
              </a:defRPr>
            </a:pPr>
            <a:r>
              <a:t>NVIDIA CEO Jensen Huangは投資家向けプレゼンテーションで、2026年のテック企業全体によるAIデータセンター投資が『700億ドル規模』に達したことを確認。同氏は『古典的コンピュータから1000倍の計算量が必要とされるA...</a:t>
            </a:r>
          </a:p>
        </p:txBody>
      </p:sp>
      <p:sp>
        <p:nvSpPr>
          <p:cNvPr id="14" name="Rounded Rectangle 13"/>
          <p:cNvSpPr/>
          <p:nvPr/>
        </p:nvSpPr>
        <p:spPr>
          <a:xfrm>
            <a:off x="7315200" y="1371600"/>
            <a:ext cx="4114800" cy="100584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06640" y="1389888"/>
            <a:ext cx="3931920" cy="182880"/>
          </a:xfrm>
          <a:prstGeom prst="rect">
            <a:avLst/>
          </a:prstGeom>
          <a:noFill/>
        </p:spPr>
        <p:txBody>
          <a:bodyPr wrap="square">
            <a:spAutoFit/>
          </a:bodyPr>
          <a:lstStyle/>
          <a:p>
            <a:pPr algn="l">
              <a:defRPr sz="800" b="1">
                <a:solidFill>
                  <a:srgbClr val="005BAB"/>
                </a:solidFill>
                <a:latin typeface="Meiryo"/>
              </a:defRPr>
            </a:pPr>
            <a:r>
              <a:t>IMPACT</a:t>
            </a:r>
          </a:p>
        </p:txBody>
      </p:sp>
      <p:sp>
        <p:nvSpPr>
          <p:cNvPr id="16" name="TextBox 15"/>
          <p:cNvSpPr txBox="1"/>
          <p:nvPr/>
        </p:nvSpPr>
        <p:spPr>
          <a:xfrm>
            <a:off x="7406640" y="1572768"/>
            <a:ext cx="3931920" cy="731520"/>
          </a:xfrm>
          <a:prstGeom prst="rect">
            <a:avLst/>
          </a:prstGeom>
          <a:noFill/>
        </p:spPr>
        <p:txBody>
          <a:bodyPr wrap="square">
            <a:spAutoFit/>
          </a:bodyPr>
          <a:lstStyle/>
          <a:p>
            <a:pPr algn="l">
              <a:defRPr sz="900" b="0">
                <a:solidFill>
                  <a:srgbClr val="1A1A2E"/>
                </a:solidFill>
                <a:latin typeface="Meiryo"/>
              </a:defRPr>
            </a:pPr>
            <a:r>
              <a:t>短期的（2026年）：GPU・メモリ不足がボトルネックとなり、新規AI企業参入や小規模企業のGPU調達が困難に。市場集中度が加速（OpenAI・Google・Microsoft等の大手独占化）。中期的...</a:t>
            </a:r>
          </a:p>
        </p:txBody>
      </p:sp>
      <p:sp>
        <p:nvSpPr>
          <p:cNvPr id="17" name="TextBox 16"/>
          <p:cNvSpPr txBox="1"/>
          <p:nvPr/>
        </p:nvSpPr>
        <p:spPr>
          <a:xfrm>
            <a:off x="731520" y="2331720"/>
            <a:ext cx="5486400" cy="228600"/>
          </a:xfrm>
          <a:prstGeom prst="rect">
            <a:avLst/>
          </a:prstGeom>
          <a:noFill/>
        </p:spPr>
        <p:txBody>
          <a:bodyPr wrap="square">
            <a:spAutoFit/>
          </a:bodyPr>
          <a:lstStyle/>
          <a:p>
            <a:pPr algn="l">
              <a:defRPr sz="1000" b="0">
                <a:solidFill>
                  <a:srgbClr val="6C757D"/>
                </a:solidFill>
                <a:latin typeface="Meiryo"/>
              </a:defRPr>
            </a:pPr>
            <a:r>
              <a:t>Other  |  Infrastructure  |  Fortune</a:t>
            </a:r>
          </a:p>
        </p:txBody>
      </p:sp>
      <p:sp>
        <p:nvSpPr>
          <p:cNvPr id="18" name="Rectangle 17"/>
          <p:cNvSpPr/>
          <p:nvPr/>
        </p:nvSpPr>
        <p:spPr>
          <a:xfrm>
            <a:off x="548640" y="2743200"/>
            <a:ext cx="11094415" cy="164592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2743200"/>
            <a:ext cx="54864" cy="1645920"/>
          </a:xfrm>
          <a:prstGeom prst="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85800" y="2880360"/>
            <a:ext cx="457200" cy="457200"/>
          </a:xfrm>
          <a:prstGeom prst="ellipse">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2880360"/>
            <a:ext cx="457200" cy="457200"/>
          </a:xfrm>
          <a:prstGeom prst="rect">
            <a:avLst/>
          </a:prstGeom>
          <a:noFill/>
        </p:spPr>
        <p:txBody>
          <a:bodyPr wrap="square" anchor="ctr">
            <a:spAutoFit/>
          </a:bodyPr>
          <a:lstStyle/>
          <a:p>
            <a:pPr algn="ctr">
              <a:defRPr sz="1800" b="1">
                <a:solidFill>
                  <a:srgbClr val="FFFFFF"/>
                </a:solidFill>
                <a:latin typeface="Meiryo"/>
              </a:defRPr>
            </a:pPr>
            <a:r>
              <a:t>4</a:t>
            </a:r>
          </a:p>
        </p:txBody>
      </p:sp>
      <p:sp>
        <p:nvSpPr>
          <p:cNvPr id="22" name="Rounded Rectangle 21"/>
          <p:cNvSpPr/>
          <p:nvPr/>
        </p:nvSpPr>
        <p:spPr>
          <a:xfrm>
            <a:off x="1234440" y="3035808"/>
            <a:ext cx="1828800" cy="109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234440" y="3035808"/>
            <a:ext cx="1463040" cy="109728"/>
          </a:xfrm>
          <a:prstGeom prst="round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34440" y="2816352"/>
            <a:ext cx="8229600" cy="274320"/>
          </a:xfrm>
          <a:prstGeom prst="rect">
            <a:avLst/>
          </a:prstGeom>
          <a:noFill/>
        </p:spPr>
        <p:txBody>
          <a:bodyPr wrap="square">
            <a:spAutoFit/>
          </a:bodyPr>
          <a:lstStyle/>
          <a:p>
            <a:pPr algn="l">
              <a:defRPr sz="1500" b="1">
                <a:solidFill>
                  <a:srgbClr val="1A1A2E"/>
                </a:solidFill>
                <a:latin typeface="Meiryo"/>
              </a:defRPr>
            </a:pPr>
            <a:r>
              <a:t>[UPDATE] Anthropic 投資家、政府との関係修復を要求。60億ドル超の資金調達が危機に瀕す</a:t>
            </a:r>
          </a:p>
        </p:txBody>
      </p:sp>
      <p:sp>
        <p:nvSpPr>
          <p:cNvPr id="25" name="TextBox 24"/>
          <p:cNvSpPr txBox="1"/>
          <p:nvPr/>
        </p:nvSpPr>
        <p:spPr>
          <a:xfrm>
            <a:off x="1234440" y="3090672"/>
            <a:ext cx="8229600" cy="164592"/>
          </a:xfrm>
          <a:prstGeom prst="rect">
            <a:avLst/>
          </a:prstGeom>
          <a:noFill/>
        </p:spPr>
        <p:txBody>
          <a:bodyPr wrap="square">
            <a:spAutoFit/>
          </a:bodyPr>
          <a:lstStyle/>
          <a:p>
            <a:pPr algn="l">
              <a:defRPr sz="900" b="1">
                <a:solidFill>
                  <a:srgbClr val="FF961C"/>
                </a:solidFill>
                <a:latin typeface="Meiryo"/>
              </a:defRPr>
            </a:pPr>
            <a:r>
              <a:t>&gt;&gt; 前日のAnthropic政府排除ニュースの続報。投資家からの経営圧力が表面化。Amodei CEOの『倫理的決断』と投資...</a:t>
            </a:r>
          </a:p>
        </p:txBody>
      </p:sp>
      <p:sp>
        <p:nvSpPr>
          <p:cNvPr id="26" name="TextBox 25"/>
          <p:cNvSpPr txBox="1"/>
          <p:nvPr/>
        </p:nvSpPr>
        <p:spPr>
          <a:xfrm>
            <a:off x="731520" y="3310128"/>
            <a:ext cx="6675120" cy="640080"/>
          </a:xfrm>
          <a:prstGeom prst="rect">
            <a:avLst/>
          </a:prstGeom>
          <a:noFill/>
        </p:spPr>
        <p:txBody>
          <a:bodyPr wrap="square">
            <a:spAutoFit/>
          </a:bodyPr>
          <a:lstStyle/>
          <a:p>
            <a:pPr algn="l">
              <a:defRPr sz="1100" b="0">
                <a:solidFill>
                  <a:srgbClr val="1A1A2E"/>
                </a:solidFill>
                <a:latin typeface="Meiryo"/>
              </a:defRPr>
            </a:pPr>
            <a:r>
              <a:t>Anthropic の投資家（200社以上のVC企業）が、ペンタゴンとの紛争から早期に脱出し、政府関係を修復するよう経営陣に圧力をかけていることが複数関係者の証言で判明。Anthropicは先月の資金調達ラウンドで約30億ドルを調達し、企業...</a:t>
            </a:r>
          </a:p>
        </p:txBody>
      </p:sp>
      <p:sp>
        <p:nvSpPr>
          <p:cNvPr id="27" name="Rounded Rectangle 26"/>
          <p:cNvSpPr/>
          <p:nvPr/>
        </p:nvSpPr>
        <p:spPr>
          <a:xfrm>
            <a:off x="7315200" y="3154680"/>
            <a:ext cx="4114800" cy="100584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06640" y="3172968"/>
            <a:ext cx="3931920" cy="182880"/>
          </a:xfrm>
          <a:prstGeom prst="rect">
            <a:avLst/>
          </a:prstGeom>
          <a:noFill/>
        </p:spPr>
        <p:txBody>
          <a:bodyPr wrap="square">
            <a:spAutoFit/>
          </a:bodyPr>
          <a:lstStyle/>
          <a:p>
            <a:pPr algn="l">
              <a:defRPr sz="800" b="1">
                <a:solidFill>
                  <a:srgbClr val="005BAB"/>
                </a:solidFill>
                <a:latin typeface="Meiryo"/>
              </a:defRPr>
            </a:pPr>
            <a:r>
              <a:t>IMPACT</a:t>
            </a:r>
          </a:p>
        </p:txBody>
      </p:sp>
      <p:sp>
        <p:nvSpPr>
          <p:cNvPr id="29" name="TextBox 28"/>
          <p:cNvSpPr txBox="1"/>
          <p:nvPr/>
        </p:nvSpPr>
        <p:spPr>
          <a:xfrm>
            <a:off x="7406640" y="3355848"/>
            <a:ext cx="3931920" cy="731520"/>
          </a:xfrm>
          <a:prstGeom prst="rect">
            <a:avLst/>
          </a:prstGeom>
          <a:noFill/>
        </p:spPr>
        <p:txBody>
          <a:bodyPr wrap="square">
            <a:spAutoFit/>
          </a:bodyPr>
          <a:lstStyle/>
          <a:p>
            <a:pPr algn="l">
              <a:defRPr sz="900" b="0">
                <a:solidFill>
                  <a:srgbClr val="1A1A2E"/>
                </a:solidFill>
                <a:latin typeface="Meiryo"/>
              </a:defRPr>
            </a:pPr>
            <a:r>
              <a:t>短期的（2026年内）：投資家からの強い圧力により、Dario Amodei CEO の経営方針が修正される可能性。あるいは、Amodei がCEO を退任し、より『政治的に柔軟な』経営者が後任となる...</a:t>
            </a:r>
          </a:p>
        </p:txBody>
      </p:sp>
      <p:sp>
        <p:nvSpPr>
          <p:cNvPr id="30" name="TextBox 29"/>
          <p:cNvSpPr txBox="1"/>
          <p:nvPr/>
        </p:nvSpPr>
        <p:spPr>
          <a:xfrm>
            <a:off x="731520" y="4114800"/>
            <a:ext cx="5486400" cy="228600"/>
          </a:xfrm>
          <a:prstGeom prst="rect">
            <a:avLst/>
          </a:prstGeom>
          <a:noFill/>
        </p:spPr>
        <p:txBody>
          <a:bodyPr wrap="square">
            <a:spAutoFit/>
          </a:bodyPr>
          <a:lstStyle/>
          <a:p>
            <a:pPr algn="l">
              <a:defRPr sz="1000" b="0">
                <a:solidFill>
                  <a:srgbClr val="6C757D"/>
                </a:solidFill>
                <a:latin typeface="Meiryo"/>
              </a:defRPr>
            </a:pPr>
            <a:r>
              <a:t>Anthropic  |  Business  |  Reuters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Global Market Impact</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2026-03-05  |  Page 7</a:t>
            </a:r>
          </a:p>
        </p:txBody>
      </p:sp>
      <p:sp>
        <p:nvSpPr>
          <p:cNvPr id="6" name="TextBox 5"/>
          <p:cNvSpPr txBox="1"/>
          <p:nvPr/>
        </p:nvSpPr>
        <p:spPr>
          <a:xfrm>
            <a:off x="548640" y="960120"/>
            <a:ext cx="5303520" cy="4572000"/>
          </a:xfrm>
          <a:prstGeom prst="rect">
            <a:avLst/>
          </a:prstGeom>
          <a:noFill/>
        </p:spPr>
        <p:txBody>
          <a:bodyPr wrap="square">
            <a:spAutoFit/>
          </a:bodyPr>
          <a:lstStyle/>
          <a:p>
            <a:pPr algn="l">
              <a:defRPr sz="1200" b="0">
                <a:solidFill>
                  <a:srgbClr val="1A1A2E"/>
                </a:solidFill>
                <a:latin typeface="Meiryo"/>
              </a:defRPr>
            </a:pPr>
            <a:r>
              <a:t>グローバルAI市場は2026年3月時点で、『米国政治による企業選別』が新たな段階へ突入しました。トランプ政権がAnthropicをペンタゴン政策に『従順でない』理由で排除した行動は、単なる政策対立ではなく、AI企業の『政治的忠順度』を調達基準とする新展開を示唆しています。米国内では、OpenAIが政府市場を獲得する一方、Anthropicは『倫理的立場を守った代償として』商業機会を失失。この現象は、西側民主主義圏における『民間企業の独立性vs政府権力』という根本的な緊張を露呈させました。中国・ロシア等の非民主体制国では、このような『企業選別』は当然ですが、米国がこうした手法を採用したことは業界に衝撃。一方、Google・Meta等の大手テック企業は『政治的中立性』を保ちながら政府・民間両市場へのアクセスを維持。ただし、政府との関係が深化するほど『独立性喪失』リスクが増加しています。技術面で</a:t>
            </a:r>
          </a:p>
        </p:txBody>
      </p:sp>
      <p:sp>
        <p:nvSpPr>
          <p:cNvPr id="7" name="TextBox 6"/>
          <p:cNvSpPr txBox="1"/>
          <p:nvPr/>
        </p:nvSpPr>
        <p:spPr>
          <a:xfrm>
            <a:off x="6156655" y="960120"/>
            <a:ext cx="5486400" cy="320040"/>
          </a:xfrm>
          <a:prstGeom prst="rect">
            <a:avLst/>
          </a:prstGeom>
          <a:noFill/>
        </p:spPr>
        <p:txBody>
          <a:bodyPr wrap="square">
            <a:spAutoFit/>
          </a:bodyPr>
          <a:lstStyle/>
          <a:p>
            <a:pPr algn="l">
              <a:defRPr sz="1400" b="1">
                <a:solidFill>
                  <a:srgbClr val="005BAB"/>
                </a:solidFill>
                <a:latin typeface="Meiryo"/>
              </a:defRPr>
            </a:pPr>
            <a:r>
              <a:t>KEY IMPACT POINTS</a:t>
            </a:r>
          </a:p>
        </p:txBody>
      </p:sp>
      <p:sp>
        <p:nvSpPr>
          <p:cNvPr id="8" name="Rectangle 7"/>
          <p:cNvSpPr/>
          <p:nvPr/>
        </p:nvSpPr>
        <p:spPr>
          <a:xfrm>
            <a:off x="6156655" y="1261872"/>
            <a:ext cx="1828800" cy="18288"/>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56655" y="14173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56655" y="1417320"/>
            <a:ext cx="54864" cy="82296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266383" y="1600200"/>
            <a:ext cx="365760" cy="36576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6383" y="1600200"/>
            <a:ext cx="365760" cy="365760"/>
          </a:xfrm>
          <a:prstGeom prst="rect">
            <a:avLst/>
          </a:prstGeom>
          <a:noFill/>
        </p:spPr>
        <p:txBody>
          <a:bodyPr wrap="square" anchor="ctr">
            <a:spAutoFit/>
          </a:bodyPr>
          <a:lstStyle/>
          <a:p>
            <a:pPr algn="ctr">
              <a:defRPr sz="1300" b="1">
                <a:solidFill>
                  <a:srgbClr val="FFFFFF"/>
                </a:solidFill>
                <a:latin typeface="Meiryo"/>
              </a:defRPr>
            </a:pPr>
            <a:r>
              <a:t>1</a:t>
            </a:r>
          </a:p>
        </p:txBody>
      </p:sp>
      <p:sp>
        <p:nvSpPr>
          <p:cNvPr id="13" name="TextBox 12"/>
          <p:cNvSpPr txBox="1"/>
          <p:nvPr/>
        </p:nvSpPr>
        <p:spPr>
          <a:xfrm>
            <a:off x="6705295" y="1490472"/>
            <a:ext cx="4800600" cy="685800"/>
          </a:xfrm>
          <a:prstGeom prst="rect">
            <a:avLst/>
          </a:prstGeom>
          <a:noFill/>
        </p:spPr>
        <p:txBody>
          <a:bodyPr wrap="square">
            <a:spAutoFit/>
          </a:bodyPr>
          <a:lstStyle/>
          <a:p>
            <a:pPr algn="l">
              <a:defRPr sz="1000" b="0">
                <a:solidFill>
                  <a:srgbClr val="1A1A2E"/>
                </a:solidFill>
                <a:latin typeface="Meiryo"/>
              </a:defRPr>
            </a:pPr>
            <a:r>
              <a:t>米国『政治的忠順度による企業選別』がグローバル標準化リスク。他国政府も『AI企業の政治的忠順度』を評価基準とする可能性。ブロック化（米国ブロック・EU ブロック・中国ブロック等）が加速する危険性。</a:t>
            </a:r>
          </a:p>
        </p:txBody>
      </p:sp>
      <p:sp>
        <p:nvSpPr>
          <p:cNvPr id="14" name="Rectangle 13"/>
          <p:cNvSpPr/>
          <p:nvPr/>
        </p:nvSpPr>
        <p:spPr>
          <a:xfrm>
            <a:off x="6156655" y="23317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56655" y="2331720"/>
            <a:ext cx="54864" cy="822960"/>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66383" y="2514600"/>
            <a:ext cx="365760" cy="365760"/>
          </a:xfrm>
          <a:prstGeom prst="ellipse">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6383" y="2514600"/>
            <a:ext cx="365760" cy="365760"/>
          </a:xfrm>
          <a:prstGeom prst="rect">
            <a:avLst/>
          </a:prstGeom>
          <a:noFill/>
        </p:spPr>
        <p:txBody>
          <a:bodyPr wrap="square" anchor="ctr">
            <a:spAutoFit/>
          </a:bodyPr>
          <a:lstStyle/>
          <a:p>
            <a:pPr algn="ctr">
              <a:defRPr sz="1300" b="1">
                <a:solidFill>
                  <a:srgbClr val="FFFFFF"/>
                </a:solidFill>
                <a:latin typeface="Meiryo"/>
              </a:defRPr>
            </a:pPr>
            <a:r>
              <a:t>2</a:t>
            </a:r>
          </a:p>
        </p:txBody>
      </p:sp>
      <p:sp>
        <p:nvSpPr>
          <p:cNvPr id="18" name="TextBox 17"/>
          <p:cNvSpPr txBox="1"/>
          <p:nvPr/>
        </p:nvSpPr>
        <p:spPr>
          <a:xfrm>
            <a:off x="6705295" y="2404872"/>
            <a:ext cx="4800600" cy="685800"/>
          </a:xfrm>
          <a:prstGeom prst="rect">
            <a:avLst/>
          </a:prstGeom>
          <a:noFill/>
        </p:spPr>
        <p:txBody>
          <a:bodyPr wrap="square">
            <a:spAutoFit/>
          </a:bodyPr>
          <a:lstStyle/>
          <a:p>
            <a:pPr algn="l">
              <a:defRPr sz="1000" b="0">
                <a:solidFill>
                  <a:srgbClr val="1A1A2E"/>
                </a:solidFill>
                <a:latin typeface="Meiryo"/>
              </a:defRPr>
            </a:pPr>
            <a:r>
              <a:t>AI インフラの『物理資源化』により、地政学的リスク（台湾有事・サプライチェーン混乱）がAI業界の中核リスクに昇格。GPU・メモリ・電力確保が『戦略物資』化。</a:t>
            </a:r>
          </a:p>
        </p:txBody>
      </p:sp>
      <p:sp>
        <p:nvSpPr>
          <p:cNvPr id="19" name="Rectangle 18"/>
          <p:cNvSpPr/>
          <p:nvPr/>
        </p:nvSpPr>
        <p:spPr>
          <a:xfrm>
            <a:off x="6156655" y="32461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56655" y="3246120"/>
            <a:ext cx="54864" cy="822960"/>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266383" y="3429000"/>
            <a:ext cx="365760" cy="365760"/>
          </a:xfrm>
          <a:prstGeom prst="ellipse">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66383" y="3429000"/>
            <a:ext cx="365760" cy="365760"/>
          </a:xfrm>
          <a:prstGeom prst="rect">
            <a:avLst/>
          </a:prstGeom>
          <a:noFill/>
        </p:spPr>
        <p:txBody>
          <a:bodyPr wrap="square" anchor="ctr">
            <a:spAutoFit/>
          </a:bodyPr>
          <a:lstStyle/>
          <a:p>
            <a:pPr algn="ctr">
              <a:defRPr sz="1300" b="1">
                <a:solidFill>
                  <a:srgbClr val="FFFFFF"/>
                </a:solidFill>
                <a:latin typeface="Meiryo"/>
              </a:defRPr>
            </a:pPr>
            <a:r>
              <a:t>3</a:t>
            </a:r>
          </a:p>
        </p:txBody>
      </p:sp>
      <p:sp>
        <p:nvSpPr>
          <p:cNvPr id="23" name="TextBox 22"/>
          <p:cNvSpPr txBox="1"/>
          <p:nvPr/>
        </p:nvSpPr>
        <p:spPr>
          <a:xfrm>
            <a:off x="6705295" y="3319272"/>
            <a:ext cx="4800600" cy="685800"/>
          </a:xfrm>
          <a:prstGeom prst="rect">
            <a:avLst/>
          </a:prstGeom>
          <a:noFill/>
        </p:spPr>
        <p:txBody>
          <a:bodyPr wrap="square">
            <a:spAutoFit/>
          </a:bodyPr>
          <a:lstStyle/>
          <a:p>
            <a:pPr algn="l">
              <a:defRPr sz="1000" b="0">
                <a:solidFill>
                  <a:srgbClr val="1A1A2E"/>
                </a:solidFill>
                <a:latin typeface="Meiryo"/>
              </a:defRPr>
            </a:pPr>
            <a:r>
              <a:t>ワールドモデルAIの実用化により、『AI生成コンテンツ』がゲーム・VR・ロボット訓練等、広範囲に拡大。著作権・合法性の問題が多岐化。</a:t>
            </a:r>
          </a:p>
        </p:txBody>
      </p:sp>
      <p:sp>
        <p:nvSpPr>
          <p:cNvPr id="24" name="Rectangle 23"/>
          <p:cNvSpPr/>
          <p:nvPr/>
        </p:nvSpPr>
        <p:spPr>
          <a:xfrm>
            <a:off x="6156655" y="41605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56655" y="4160520"/>
            <a:ext cx="54864" cy="822960"/>
          </a:xfrm>
          <a:prstGeom prst="rect">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266383" y="4343400"/>
            <a:ext cx="365760" cy="365760"/>
          </a:xfrm>
          <a:prstGeom prst="ellipse">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66383" y="4343400"/>
            <a:ext cx="365760" cy="365760"/>
          </a:xfrm>
          <a:prstGeom prst="rect">
            <a:avLst/>
          </a:prstGeom>
          <a:noFill/>
        </p:spPr>
        <p:txBody>
          <a:bodyPr wrap="square" anchor="ctr">
            <a:spAutoFit/>
          </a:bodyPr>
          <a:lstStyle/>
          <a:p>
            <a:pPr algn="ctr">
              <a:defRPr sz="1300" b="1">
                <a:solidFill>
                  <a:srgbClr val="FFFFFF"/>
                </a:solidFill>
                <a:latin typeface="Meiryo"/>
              </a:defRPr>
            </a:pPr>
            <a:r>
              <a:t>4</a:t>
            </a:r>
          </a:p>
        </p:txBody>
      </p:sp>
      <p:sp>
        <p:nvSpPr>
          <p:cNvPr id="28" name="TextBox 27"/>
          <p:cNvSpPr txBox="1"/>
          <p:nvPr/>
        </p:nvSpPr>
        <p:spPr>
          <a:xfrm>
            <a:off x="6705295" y="4233672"/>
            <a:ext cx="4800600" cy="685800"/>
          </a:xfrm>
          <a:prstGeom prst="rect">
            <a:avLst/>
          </a:prstGeom>
          <a:noFill/>
        </p:spPr>
        <p:txBody>
          <a:bodyPr wrap="square">
            <a:spAutoFit/>
          </a:bodyPr>
          <a:lstStyle/>
          <a:p>
            <a:pPr algn="l">
              <a:defRPr sz="1000" b="0">
                <a:solidFill>
                  <a:srgbClr val="1A1A2E"/>
                </a:solidFill>
                <a:latin typeface="Meiryo"/>
              </a:defRPr>
            </a:pPr>
            <a:r>
              <a:t>AI技術開発の『大企業独占化』により、スタートアップ・中小企業の参入障壁が指数関数的に上昇。グローバル『AI経済格差』が拡大。</a:t>
            </a:r>
          </a:p>
        </p:txBody>
      </p:sp>
      <p:sp>
        <p:nvSpPr>
          <p:cNvPr id="29" name="Rectangle 28"/>
          <p:cNvSpPr/>
          <p:nvPr/>
        </p:nvSpPr>
        <p:spPr>
          <a:xfrm>
            <a:off x="6156655" y="50749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56655" y="5074920"/>
            <a:ext cx="54864" cy="82296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266383" y="5257800"/>
            <a:ext cx="365760" cy="36576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66383" y="5257800"/>
            <a:ext cx="365760" cy="365760"/>
          </a:xfrm>
          <a:prstGeom prst="rect">
            <a:avLst/>
          </a:prstGeom>
          <a:noFill/>
        </p:spPr>
        <p:txBody>
          <a:bodyPr wrap="square" anchor="ctr">
            <a:spAutoFit/>
          </a:bodyPr>
          <a:lstStyle/>
          <a:p>
            <a:pPr algn="ctr">
              <a:defRPr sz="1300" b="1">
                <a:solidFill>
                  <a:srgbClr val="FFFFFF"/>
                </a:solidFill>
                <a:latin typeface="Meiryo"/>
              </a:defRPr>
            </a:pPr>
            <a:r>
              <a:t>5</a:t>
            </a:r>
          </a:p>
        </p:txBody>
      </p:sp>
      <p:sp>
        <p:nvSpPr>
          <p:cNvPr id="33" name="TextBox 32"/>
          <p:cNvSpPr txBox="1"/>
          <p:nvPr/>
        </p:nvSpPr>
        <p:spPr>
          <a:xfrm>
            <a:off x="6705295" y="5148072"/>
            <a:ext cx="4800600" cy="685800"/>
          </a:xfrm>
          <a:prstGeom prst="rect">
            <a:avLst/>
          </a:prstGeom>
          <a:noFill/>
        </p:spPr>
        <p:txBody>
          <a:bodyPr wrap="square">
            <a:spAutoFit/>
          </a:bodyPr>
          <a:lstStyle/>
          <a:p>
            <a:pPr algn="l">
              <a:defRPr sz="1000" b="0">
                <a:solidFill>
                  <a:srgbClr val="1A1A2E"/>
                </a:solidFill>
                <a:latin typeface="Meiryo"/>
              </a:defRPr>
            </a:pPr>
            <a:r>
              <a:t>政府による『AI企業排除』がビジネス・投資家心理に深刻な『政治リスク』をもたらし、AI投資の『地政学的ヘッジ』が必須に。</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日本市場インパクト &amp; アクション</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2026-03-05  |  Page 8</a:t>
            </a:r>
          </a:p>
        </p:txBody>
      </p:sp>
      <p:sp>
        <p:nvSpPr>
          <p:cNvPr id="6" name="TextBox 5"/>
          <p:cNvSpPr txBox="1"/>
          <p:nvPr/>
        </p:nvSpPr>
        <p:spPr>
          <a:xfrm>
            <a:off x="548640" y="960120"/>
            <a:ext cx="5303520" cy="320040"/>
          </a:xfrm>
          <a:prstGeom prst="rect">
            <a:avLst/>
          </a:prstGeom>
          <a:noFill/>
        </p:spPr>
        <p:txBody>
          <a:bodyPr wrap="square">
            <a:spAutoFit/>
          </a:bodyPr>
          <a:lstStyle/>
          <a:p>
            <a:pPr algn="l">
              <a:defRPr sz="1500" b="1">
                <a:solidFill>
                  <a:srgbClr val="005BAB"/>
                </a:solidFill>
                <a:latin typeface="Meiryo"/>
              </a:defRPr>
            </a:pPr>
            <a:r>
              <a:t>日本市場への影響</a:t>
            </a:r>
          </a:p>
        </p:txBody>
      </p:sp>
      <p:sp>
        <p:nvSpPr>
          <p:cNvPr id="7" name="Rectangle 6"/>
          <p:cNvSpPr/>
          <p:nvPr/>
        </p:nvSpPr>
        <p:spPr>
          <a:xfrm>
            <a:off x="548640" y="1261872"/>
            <a:ext cx="1371600" cy="18288"/>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417320"/>
            <a:ext cx="5303520" cy="86868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54864" cy="86868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1618488"/>
            <a:ext cx="384048" cy="384048"/>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618488"/>
            <a:ext cx="384048" cy="384048"/>
          </a:xfrm>
          <a:prstGeom prst="rect">
            <a:avLst/>
          </a:prstGeom>
          <a:noFill/>
        </p:spPr>
        <p:txBody>
          <a:bodyPr wrap="square" anchor="ctr">
            <a:spAutoFit/>
          </a:bodyPr>
          <a:lstStyle/>
          <a:p>
            <a:pPr algn="ctr">
              <a:defRPr sz="1400" b="1">
                <a:solidFill>
                  <a:srgbClr val="FFFFFF"/>
                </a:solidFill>
                <a:latin typeface="Meiryo"/>
              </a:defRPr>
            </a:pPr>
            <a:r>
              <a:t>1</a:t>
            </a:r>
          </a:p>
        </p:txBody>
      </p:sp>
      <p:sp>
        <p:nvSpPr>
          <p:cNvPr id="12" name="TextBox 11"/>
          <p:cNvSpPr txBox="1"/>
          <p:nvPr/>
        </p:nvSpPr>
        <p:spPr>
          <a:xfrm>
            <a:off x="1143000" y="1490472"/>
            <a:ext cx="4572000" cy="731520"/>
          </a:xfrm>
          <a:prstGeom prst="rect">
            <a:avLst/>
          </a:prstGeom>
          <a:noFill/>
        </p:spPr>
        <p:txBody>
          <a:bodyPr wrap="square">
            <a:spAutoFit/>
          </a:bodyPr>
          <a:lstStyle/>
          <a:p>
            <a:pPr algn="l">
              <a:defRPr sz="1100" b="0">
                <a:solidFill>
                  <a:srgbClr val="1A1A2E"/>
                </a:solidFill>
                <a:latin typeface="Meiryo"/>
              </a:defRPr>
            </a:pPr>
            <a:r>
              <a:t>日本政府による『AI企業政治的評価基準』の導入可能性により、新興AI企業の資金調達・事業展開リスクが増加。</a:t>
            </a:r>
          </a:p>
        </p:txBody>
      </p:sp>
      <p:sp>
        <p:nvSpPr>
          <p:cNvPr id="13" name="Rectangle 12"/>
          <p:cNvSpPr/>
          <p:nvPr/>
        </p:nvSpPr>
        <p:spPr>
          <a:xfrm>
            <a:off x="548640" y="2377440"/>
            <a:ext cx="5303520" cy="86868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2377440"/>
            <a:ext cx="54864" cy="868680"/>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58368" y="2578608"/>
            <a:ext cx="384048" cy="384048"/>
          </a:xfrm>
          <a:prstGeom prst="ellipse">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2578608"/>
            <a:ext cx="384048" cy="384048"/>
          </a:xfrm>
          <a:prstGeom prst="rect">
            <a:avLst/>
          </a:prstGeom>
          <a:noFill/>
        </p:spPr>
        <p:txBody>
          <a:bodyPr wrap="square" anchor="ctr">
            <a:spAutoFit/>
          </a:bodyPr>
          <a:lstStyle/>
          <a:p>
            <a:pPr algn="ctr">
              <a:defRPr sz="1400" b="1">
                <a:solidFill>
                  <a:srgbClr val="FFFFFF"/>
                </a:solidFill>
                <a:latin typeface="Meiryo"/>
              </a:defRPr>
            </a:pPr>
            <a:r>
              <a:t>2</a:t>
            </a:r>
          </a:p>
        </p:txBody>
      </p:sp>
      <p:sp>
        <p:nvSpPr>
          <p:cNvPr id="17" name="TextBox 16"/>
          <p:cNvSpPr txBox="1"/>
          <p:nvPr/>
        </p:nvSpPr>
        <p:spPr>
          <a:xfrm>
            <a:off x="1143000" y="2450592"/>
            <a:ext cx="4572000" cy="731520"/>
          </a:xfrm>
          <a:prstGeom prst="rect">
            <a:avLst/>
          </a:prstGeom>
          <a:noFill/>
        </p:spPr>
        <p:txBody>
          <a:bodyPr wrap="square">
            <a:spAutoFit/>
          </a:bodyPr>
          <a:lstStyle/>
          <a:p>
            <a:pPr algn="l">
              <a:defRPr sz="1100" b="0">
                <a:solidFill>
                  <a:srgbClr val="1A1A2E"/>
                </a:solidFill>
                <a:latin typeface="Meiryo"/>
              </a:defRPr>
            </a:pPr>
            <a:r>
              <a:t>GPU不足により、日本国内のAI研究・開発がボトルネック化。GPU の『戦略物資化』に対応する国産化推進策の強化が必須。</a:t>
            </a:r>
          </a:p>
        </p:txBody>
      </p:sp>
      <p:sp>
        <p:nvSpPr>
          <p:cNvPr id="18" name="Rectangle 17"/>
          <p:cNvSpPr/>
          <p:nvPr/>
        </p:nvSpPr>
        <p:spPr>
          <a:xfrm>
            <a:off x="548640" y="3337560"/>
            <a:ext cx="5303520" cy="86868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337560"/>
            <a:ext cx="54864" cy="86868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8368" y="3538728"/>
            <a:ext cx="384048" cy="384048"/>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3538728"/>
            <a:ext cx="384048" cy="384048"/>
          </a:xfrm>
          <a:prstGeom prst="rect">
            <a:avLst/>
          </a:prstGeom>
          <a:noFill/>
        </p:spPr>
        <p:txBody>
          <a:bodyPr wrap="square" anchor="ctr">
            <a:spAutoFit/>
          </a:bodyPr>
          <a:lstStyle/>
          <a:p>
            <a:pPr algn="ctr">
              <a:defRPr sz="1400" b="1">
                <a:solidFill>
                  <a:srgbClr val="FFFFFF"/>
                </a:solidFill>
                <a:latin typeface="Meiryo"/>
              </a:defRPr>
            </a:pPr>
            <a:r>
              <a:t>3</a:t>
            </a:r>
          </a:p>
        </p:txBody>
      </p:sp>
      <p:sp>
        <p:nvSpPr>
          <p:cNvPr id="22" name="TextBox 21"/>
          <p:cNvSpPr txBox="1"/>
          <p:nvPr/>
        </p:nvSpPr>
        <p:spPr>
          <a:xfrm>
            <a:off x="1143000" y="3410712"/>
            <a:ext cx="4572000" cy="731520"/>
          </a:xfrm>
          <a:prstGeom prst="rect">
            <a:avLst/>
          </a:prstGeom>
          <a:noFill/>
        </p:spPr>
        <p:txBody>
          <a:bodyPr wrap="square">
            <a:spAutoFit/>
          </a:bodyPr>
          <a:lstStyle/>
          <a:p>
            <a:pPr algn="l">
              <a:defRPr sz="1100" b="0">
                <a:solidFill>
                  <a:srgbClr val="1A1A2E"/>
                </a:solidFill>
                <a:latin typeface="Meiryo"/>
              </a:defRPr>
            </a:pPr>
            <a:r>
              <a:t>ゲーム・ロボット産業での『AI世代交代』により、日本企業の競争力が維持される可能性がある一方、遅延採用企業は急速に市場シェア喪失。</a:t>
            </a:r>
          </a:p>
        </p:txBody>
      </p:sp>
      <p:sp>
        <p:nvSpPr>
          <p:cNvPr id="23" name="Rounded Rectangle 22"/>
          <p:cNvSpPr/>
          <p:nvPr/>
        </p:nvSpPr>
        <p:spPr>
          <a:xfrm>
            <a:off x="6156655" y="960120"/>
            <a:ext cx="5486400" cy="548640"/>
          </a:xfrm>
          <a:prstGeom prst="round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39535" y="1051560"/>
            <a:ext cx="5120640" cy="365760"/>
          </a:xfrm>
          <a:prstGeom prst="rect">
            <a:avLst/>
          </a:prstGeom>
          <a:noFill/>
        </p:spPr>
        <p:txBody>
          <a:bodyPr wrap="square">
            <a:spAutoFit/>
          </a:bodyPr>
          <a:lstStyle/>
          <a:p>
            <a:pPr algn="l">
              <a:defRPr sz="1600" b="1">
                <a:solidFill>
                  <a:srgbClr val="FFFFFF"/>
                </a:solidFill>
                <a:latin typeface="Meiryo"/>
              </a:defRPr>
            </a:pPr>
            <a:r>
              <a:t>■  ACTION ITEMS</a:t>
            </a:r>
          </a:p>
        </p:txBody>
      </p:sp>
      <p:sp>
        <p:nvSpPr>
          <p:cNvPr id="25" name="Rounded Rectangle 24"/>
          <p:cNvSpPr/>
          <p:nvPr/>
        </p:nvSpPr>
        <p:spPr>
          <a:xfrm>
            <a:off x="6156655" y="1645920"/>
            <a:ext cx="5486400" cy="9144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293815" y="1874520"/>
            <a:ext cx="320040" cy="320040"/>
          </a:xfrm>
          <a:prstGeom prst="roundRect">
            <a:avLst/>
          </a:prstGeom>
          <a:solidFill>
            <a:srgbClr val="FFFFFF"/>
          </a:solidFill>
          <a:ln w="25400">
            <a:solidFill>
              <a:srgbClr val="FF96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93815" y="1874520"/>
            <a:ext cx="320040" cy="320040"/>
          </a:xfrm>
          <a:prstGeom prst="rect">
            <a:avLst/>
          </a:prstGeom>
          <a:noFill/>
        </p:spPr>
        <p:txBody>
          <a:bodyPr wrap="square" anchor="ctr">
            <a:spAutoFit/>
          </a:bodyPr>
          <a:lstStyle/>
          <a:p>
            <a:pPr algn="ctr">
              <a:defRPr sz="1400" b="1">
                <a:solidFill>
                  <a:srgbClr val="FF961C"/>
                </a:solidFill>
                <a:latin typeface="Meiryo"/>
              </a:defRPr>
            </a:pPr>
            <a:r>
              <a:t>✓</a:t>
            </a:r>
          </a:p>
        </p:txBody>
      </p:sp>
      <p:sp>
        <p:nvSpPr>
          <p:cNvPr id="28" name="TextBox 27"/>
          <p:cNvSpPr txBox="1"/>
          <p:nvPr/>
        </p:nvSpPr>
        <p:spPr>
          <a:xfrm>
            <a:off x="6705295" y="1737360"/>
            <a:ext cx="4800600" cy="731520"/>
          </a:xfrm>
          <a:prstGeom prst="rect">
            <a:avLst/>
          </a:prstGeom>
          <a:noFill/>
        </p:spPr>
        <p:txBody>
          <a:bodyPr wrap="square">
            <a:spAutoFit/>
          </a:bodyPr>
          <a:lstStyle/>
          <a:p>
            <a:pPr algn="l">
              <a:defRPr sz="1100" b="0">
                <a:solidFill>
                  <a:srgbClr val="1A1A2E"/>
                </a:solidFill>
                <a:latin typeface="Meiryo"/>
              </a:defRPr>
            </a:pPr>
            <a:r>
              <a:t>日本経済産業省（METI）は、GPU・メモリの国産化・確保に関する『戦略的投資計画』を2026年第2四半期までに策定。半導体製造企業（TSMC・Samsung対抗企業の育成）への補助金増加が必要。（対象: 経産省・半導体企業）</a:t>
            </a:r>
          </a:p>
        </p:txBody>
      </p:sp>
      <p:sp>
        <p:nvSpPr>
          <p:cNvPr id="29" name="Rounded Rectangle 28"/>
          <p:cNvSpPr/>
          <p:nvPr/>
        </p:nvSpPr>
        <p:spPr>
          <a:xfrm>
            <a:off x="6156655" y="2670048"/>
            <a:ext cx="5486400" cy="9144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293815" y="2898648"/>
            <a:ext cx="320040" cy="320040"/>
          </a:xfrm>
          <a:prstGeom prst="roundRect">
            <a:avLst/>
          </a:prstGeom>
          <a:solidFill>
            <a:srgbClr val="FFFFFF"/>
          </a:solidFill>
          <a:ln w="25400">
            <a:solidFill>
              <a:srgbClr val="FF96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93815" y="2898648"/>
            <a:ext cx="320040" cy="320040"/>
          </a:xfrm>
          <a:prstGeom prst="rect">
            <a:avLst/>
          </a:prstGeom>
          <a:noFill/>
        </p:spPr>
        <p:txBody>
          <a:bodyPr wrap="square" anchor="ctr">
            <a:spAutoFit/>
          </a:bodyPr>
          <a:lstStyle/>
          <a:p>
            <a:pPr algn="ctr">
              <a:defRPr sz="1400" b="1">
                <a:solidFill>
                  <a:srgbClr val="FF961C"/>
                </a:solidFill>
                <a:latin typeface="Meiryo"/>
              </a:defRPr>
            </a:pPr>
            <a:r>
              <a:t>✓</a:t>
            </a:r>
          </a:p>
        </p:txBody>
      </p:sp>
      <p:sp>
        <p:nvSpPr>
          <p:cNvPr id="32" name="TextBox 31"/>
          <p:cNvSpPr txBox="1"/>
          <p:nvPr/>
        </p:nvSpPr>
        <p:spPr>
          <a:xfrm>
            <a:off x="6705295" y="2761488"/>
            <a:ext cx="4800600" cy="731520"/>
          </a:xfrm>
          <a:prstGeom prst="rect">
            <a:avLst/>
          </a:prstGeom>
          <a:noFill/>
        </p:spPr>
        <p:txBody>
          <a:bodyPr wrap="square">
            <a:spAutoFit/>
          </a:bodyPr>
          <a:lstStyle/>
          <a:p>
            <a:pPr algn="l">
              <a:defRPr sz="1100" b="0">
                <a:solidFill>
                  <a:srgbClr val="1A1A2E"/>
                </a:solidFill>
                <a:latin typeface="Meiryo"/>
              </a:defRPr>
            </a:pPr>
            <a:r>
              <a:t>日本学術振興会（JSPS）・科学技術振興機構（JST）は、AI インフラ不足に対応する『GPU共有プール制度』を大学・研究機関向けに立ち上げ。2026年4月の運用開始を目指す。（対象: JSPS・JST）</a:t>
            </a:r>
          </a:p>
        </p:txBody>
      </p:sp>
      <p:sp>
        <p:nvSpPr>
          <p:cNvPr id="33" name="Rounded Rectangle 32"/>
          <p:cNvSpPr/>
          <p:nvPr/>
        </p:nvSpPr>
        <p:spPr>
          <a:xfrm>
            <a:off x="6156655" y="3694176"/>
            <a:ext cx="5486400" cy="9144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293815" y="3922776"/>
            <a:ext cx="320040" cy="320040"/>
          </a:xfrm>
          <a:prstGeom prst="roundRect">
            <a:avLst/>
          </a:prstGeom>
          <a:solidFill>
            <a:srgbClr val="FFFFFF"/>
          </a:solidFill>
          <a:ln w="25400">
            <a:solidFill>
              <a:srgbClr val="FF96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93815" y="3922776"/>
            <a:ext cx="320040" cy="320040"/>
          </a:xfrm>
          <a:prstGeom prst="rect">
            <a:avLst/>
          </a:prstGeom>
          <a:noFill/>
        </p:spPr>
        <p:txBody>
          <a:bodyPr wrap="square" anchor="ctr">
            <a:spAutoFit/>
          </a:bodyPr>
          <a:lstStyle/>
          <a:p>
            <a:pPr algn="ctr">
              <a:defRPr sz="1400" b="1">
                <a:solidFill>
                  <a:srgbClr val="FF961C"/>
                </a:solidFill>
                <a:latin typeface="Meiryo"/>
              </a:defRPr>
            </a:pPr>
            <a:r>
              <a:t>✓</a:t>
            </a:r>
          </a:p>
        </p:txBody>
      </p:sp>
      <p:sp>
        <p:nvSpPr>
          <p:cNvPr id="36" name="TextBox 35"/>
          <p:cNvSpPr txBox="1"/>
          <p:nvPr/>
        </p:nvSpPr>
        <p:spPr>
          <a:xfrm>
            <a:off x="6705295" y="3785616"/>
            <a:ext cx="4800600" cy="731520"/>
          </a:xfrm>
          <a:prstGeom prst="rect">
            <a:avLst/>
          </a:prstGeom>
          <a:noFill/>
        </p:spPr>
        <p:txBody>
          <a:bodyPr wrap="square">
            <a:spAutoFit/>
          </a:bodyPr>
          <a:lstStyle/>
          <a:p>
            <a:pPr algn="l">
              <a:defRPr sz="1100" b="0">
                <a:solidFill>
                  <a:srgbClr val="1A1A2E"/>
                </a:solidFill>
                <a:latin typeface="Meiryo"/>
              </a:defRPr>
            </a:pPr>
            <a:r>
              <a:t>日本ゲーム企業（Nintendo・SQUARE ENIX・KADOKAWA等）向けに、Project Genie 等のワールドモデルAI 活用による『開発効率化ハンドブック』を通産省と共同制作。2026年末までに公開。（対象: 経産省・ゲーム企業）</a:t>
            </a:r>
          </a:p>
        </p:txBody>
      </p:sp>
      <p:sp>
        <p:nvSpPr>
          <p:cNvPr id="37" name="Rounded Rectangle 36"/>
          <p:cNvSpPr/>
          <p:nvPr/>
        </p:nvSpPr>
        <p:spPr>
          <a:xfrm>
            <a:off x="6156655" y="4718304"/>
            <a:ext cx="5486400" cy="9144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293815" y="4946904"/>
            <a:ext cx="320040" cy="320040"/>
          </a:xfrm>
          <a:prstGeom prst="roundRect">
            <a:avLst/>
          </a:prstGeom>
          <a:solidFill>
            <a:srgbClr val="FFFFFF"/>
          </a:solidFill>
          <a:ln w="25400">
            <a:solidFill>
              <a:srgbClr val="FF96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93815" y="4946904"/>
            <a:ext cx="320040" cy="320040"/>
          </a:xfrm>
          <a:prstGeom prst="rect">
            <a:avLst/>
          </a:prstGeom>
          <a:noFill/>
        </p:spPr>
        <p:txBody>
          <a:bodyPr wrap="square" anchor="ctr">
            <a:spAutoFit/>
          </a:bodyPr>
          <a:lstStyle/>
          <a:p>
            <a:pPr algn="ctr">
              <a:defRPr sz="1400" b="1">
                <a:solidFill>
                  <a:srgbClr val="FF961C"/>
                </a:solidFill>
                <a:latin typeface="Meiryo"/>
              </a:defRPr>
            </a:pPr>
            <a:r>
              <a:t>✓</a:t>
            </a:r>
          </a:p>
        </p:txBody>
      </p:sp>
      <p:sp>
        <p:nvSpPr>
          <p:cNvPr id="40" name="TextBox 39"/>
          <p:cNvSpPr txBox="1"/>
          <p:nvPr/>
        </p:nvSpPr>
        <p:spPr>
          <a:xfrm>
            <a:off x="6705295" y="4809744"/>
            <a:ext cx="4800600" cy="731520"/>
          </a:xfrm>
          <a:prstGeom prst="rect">
            <a:avLst/>
          </a:prstGeom>
          <a:noFill/>
        </p:spPr>
        <p:txBody>
          <a:bodyPr wrap="square">
            <a:spAutoFit/>
          </a:bodyPr>
          <a:lstStyle/>
          <a:p>
            <a:pPr algn="l">
              <a:defRPr sz="1100" b="0">
                <a:solidFill>
                  <a:srgbClr val="1A1A2E"/>
                </a:solidFill>
                <a:latin typeface="Meiryo"/>
              </a:defRPr>
            </a:pPr>
            <a:r>
              <a:t>日本防衛省・自衛隊は、AI 企業選別リスクに対応する『AI企業評価基準書』を策定。米国政府との方針整合を図りながら、日本独立的な評価枠組みを構築。2026年中期までに運用開始。（対象: 防衛省・内閣府）</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AI業界標準規格 / プロトコル一覧</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2026-03-05  |  Page 9</a:t>
            </a:r>
          </a:p>
        </p:txBody>
      </p:sp>
      <p:graphicFrame>
        <p:nvGraphicFramePr>
          <p:cNvPr id="6" name="Table 5"/>
          <p:cNvGraphicFramePr>
            <a:graphicFrameLocks noGrp="1"/>
          </p:cNvGraphicFramePr>
          <p:nvPr/>
        </p:nvGraphicFramePr>
        <p:xfrm>
          <a:off x="548640" y="960120"/>
          <a:ext cx="11094415" cy="4754880"/>
        </p:xfrm>
        <a:graphic>
          <a:graphicData uri="http://schemas.openxmlformats.org/drawingml/2006/table">
            <a:tbl>
              <a:tblPr firstRow="1" bandRow="1">
                <a:tableStyleId>{5C22544A-7EE6-4342-B048-85BDC9FD1C3A}</a:tableStyleId>
              </a:tblPr>
              <a:tblGrid>
                <a:gridCol w="1463040"/>
                <a:gridCol w="1645920"/>
                <a:gridCol w="1371600"/>
                <a:gridCol w="914400"/>
                <a:gridCol w="5699455"/>
              </a:tblGrid>
              <a:tr h="594360">
                <a:tc>
                  <a:txBody>
                    <a:bodyPr/>
                    <a:lstStyle/>
                    <a:p>
                      <a:pPr algn="ctr">
                        <a:defRPr sz="1100" b="1">
                          <a:solidFill>
                            <a:srgbClr val="FFFFFF"/>
                          </a:solidFill>
                          <a:latin typeface="Meiryo"/>
                        </a:defRPr>
                      </a:pPr>
                      <a:r>
                        <a:t>規格名</a:t>
                      </a:r>
                    </a:p>
                  </a:txBody>
                  <a:tcPr>
                    <a:solidFill>
                      <a:srgbClr val="005BAB"/>
                    </a:solidFill>
                  </a:tcPr>
                </a:tc>
                <a:tc>
                  <a:txBody>
                    <a:bodyPr/>
                    <a:lstStyle/>
                    <a:p>
                      <a:pPr algn="ctr">
                        <a:defRPr sz="1100" b="1">
                          <a:solidFill>
                            <a:srgbClr val="FFFFFF"/>
                          </a:solidFill>
                          <a:latin typeface="Meiryo"/>
                        </a:defRPr>
                      </a:pPr>
                      <a:r>
                        <a:t>発表元</a:t>
                      </a:r>
                    </a:p>
                  </a:txBody>
                  <a:tcPr>
                    <a:solidFill>
                      <a:srgbClr val="005BAB"/>
                    </a:solidFill>
                  </a:tcPr>
                </a:tc>
                <a:tc>
                  <a:txBody>
                    <a:bodyPr/>
                    <a:lstStyle/>
                    <a:p>
                      <a:pPr algn="ctr">
                        <a:defRPr sz="1100" b="1">
                          <a:solidFill>
                            <a:srgbClr val="FFFFFF"/>
                          </a:solidFill>
                          <a:latin typeface="Meiryo"/>
                        </a:defRPr>
                      </a:pPr>
                      <a:r>
                        <a:t>レイヤー</a:t>
                      </a:r>
                    </a:p>
                  </a:txBody>
                  <a:tcPr>
                    <a:solidFill>
                      <a:srgbClr val="005BAB"/>
                    </a:solidFill>
                  </a:tcPr>
                </a:tc>
                <a:tc>
                  <a:txBody>
                    <a:bodyPr/>
                    <a:lstStyle/>
                    <a:p>
                      <a:pPr algn="ctr">
                        <a:defRPr sz="1100" b="1">
                          <a:solidFill>
                            <a:srgbClr val="FFFFFF"/>
                          </a:solidFill>
                          <a:latin typeface="Meiryo"/>
                        </a:defRPr>
                      </a:pPr>
                      <a:r>
                        <a:t>発表日</a:t>
                      </a:r>
                    </a:p>
                  </a:txBody>
                  <a:tcPr>
                    <a:solidFill>
                      <a:srgbClr val="005BAB"/>
                    </a:solidFill>
                  </a:tcPr>
                </a:tc>
                <a:tc>
                  <a:txBody>
                    <a:bodyPr/>
                    <a:lstStyle/>
                    <a:p>
                      <a:pPr algn="ctr">
                        <a:defRPr sz="1100" b="1">
                          <a:solidFill>
                            <a:srgbClr val="FFFFFF"/>
                          </a:solidFill>
                          <a:latin typeface="Meiryo"/>
                        </a:defRPr>
                      </a:pPr>
                      <a:r>
                        <a:t>概要</a:t>
                      </a:r>
                    </a:p>
                  </a:txBody>
                  <a:tcPr>
                    <a:solidFill>
                      <a:srgbClr val="005BAB"/>
                    </a:solidFill>
                  </a:tcPr>
                </a:tc>
              </a:tr>
              <a:tr h="594360">
                <a:tc>
                  <a:txBody>
                    <a:bodyPr/>
                    <a:lstStyle/>
                    <a:p>
                      <a:pPr>
                        <a:defRPr sz="1000" b="1">
                          <a:solidFill>
                            <a:srgbClr val="005BAB"/>
                          </a:solidFill>
                          <a:latin typeface="Meiryo"/>
                        </a:defRPr>
                      </a:pPr>
                      <a:r>
                        <a:t>UCP</a:t>
                      </a:r>
                    </a:p>
                  </a:txBody>
                  <a:tcPr>
                    <a:solidFill>
                      <a:srgbClr val="FFFFFF"/>
                    </a:solidFill>
                  </a:tcPr>
                </a:tc>
                <a:tc>
                  <a:txBody>
                    <a:bodyPr/>
                    <a:lstStyle/>
                    <a:p>
                      <a:pPr>
                        <a:defRPr sz="1000">
                          <a:solidFill>
                            <a:srgbClr val="1A1A2E"/>
                          </a:solidFill>
                          <a:latin typeface="Meiryo"/>
                        </a:defRPr>
                      </a:pPr>
                      <a:r>
                        <a:t>Google</a:t>
                      </a:r>
                    </a:p>
                  </a:txBody>
                  <a:tcPr>
                    <a:solidFill>
                      <a:srgbClr val="FFFFFF"/>
                    </a:solidFill>
                  </a:tcPr>
                </a:tc>
                <a:tc>
                  <a:txBody>
                    <a:bodyPr/>
                    <a:lstStyle/>
                    <a:p>
                      <a:pPr algn="ctr">
                        <a:defRPr sz="1000" b="1">
                          <a:solidFill>
                            <a:srgbClr val="5BA4D9"/>
                          </a:solidFill>
                          <a:latin typeface="Meiryo"/>
                        </a:defRPr>
                      </a:pPr>
                      <a:r>
                        <a:t>Commerce</a:t>
                      </a:r>
                    </a:p>
                  </a:txBody>
                  <a:tcPr>
                    <a:solidFill>
                      <a:srgbClr val="FFFFFF"/>
                    </a:solidFill>
                  </a:tcPr>
                </a:tc>
                <a:tc>
                  <a:txBody>
                    <a:bodyPr/>
                    <a:lstStyle/>
                    <a:p>
                      <a:pPr algn="ctr">
                        <a:defRPr sz="1000">
                          <a:solidFill>
                            <a:srgbClr val="6C757D"/>
                          </a:solidFill>
                          <a:latin typeface="Meiryo"/>
                        </a:defRPr>
                      </a:pPr>
                      <a:r>
                        <a:t>2026-01</a:t>
                      </a:r>
                    </a:p>
                  </a:txBody>
                  <a:tcPr>
                    <a:solidFill>
                      <a:srgbClr val="FFFFFF"/>
                    </a:solidFill>
                  </a:tcPr>
                </a:tc>
                <a:tc>
                  <a:txBody>
                    <a:bodyPr/>
                    <a:lstStyle/>
                    <a:p>
                      <a:pPr>
                        <a:defRPr sz="1000">
                          <a:solidFill>
                            <a:srgbClr val="1A1A2E"/>
                          </a:solidFill>
                          <a:latin typeface="Meiryo"/>
                        </a:defRPr>
                      </a:pPr>
                      <a:r>
                        <a:t>AIエージェント経由の商取引を標準化。A2A・MCP・AP2を統合オーケストレーションする上位プロトコル。Shopify・Walmart等が支持。</a:t>
                      </a:r>
                    </a:p>
                  </a:txBody>
                  <a:tcPr>
                    <a:solidFill>
                      <a:srgbClr val="FFFFFF"/>
                    </a:solidFill>
                  </a:tcPr>
                </a:tc>
              </a:tr>
              <a:tr h="594360">
                <a:tc>
                  <a:txBody>
                    <a:bodyPr/>
                    <a:lstStyle/>
                    <a:p>
                      <a:pPr>
                        <a:defRPr sz="1000" b="1">
                          <a:solidFill>
                            <a:srgbClr val="005BAB"/>
                          </a:solidFill>
                          <a:latin typeface="Meiryo"/>
                        </a:defRPr>
                      </a:pPr>
                      <a:r>
                        <a:t>Agent Skills</a:t>
                      </a:r>
                    </a:p>
                  </a:txBody>
                  <a:tcPr>
                    <a:solidFill>
                      <a:srgbClr val="E8F1F8"/>
                    </a:solidFill>
                  </a:tcPr>
                </a:tc>
                <a:tc>
                  <a:txBody>
                    <a:bodyPr/>
                    <a:lstStyle/>
                    <a:p>
                      <a:pPr>
                        <a:defRPr sz="1000">
                          <a:solidFill>
                            <a:srgbClr val="1A1A2E"/>
                          </a:solidFill>
                          <a:latin typeface="Meiryo"/>
                        </a:defRPr>
                      </a:pPr>
                      <a:r>
                        <a:t>Anthropic</a:t>
                      </a:r>
                    </a:p>
                  </a:txBody>
                  <a:tcPr>
                    <a:solidFill>
                      <a:srgbClr val="E8F1F8"/>
                    </a:solidFill>
                  </a:tcPr>
                </a:tc>
                <a:tc>
                  <a:txBody>
                    <a:bodyPr/>
                    <a:lstStyle/>
                    <a:p>
                      <a:pPr algn="ctr">
                        <a:defRPr sz="1000" b="1">
                          <a:solidFill>
                            <a:srgbClr val="5BA4D9"/>
                          </a:solidFill>
                          <a:latin typeface="Meiryo"/>
                        </a:defRPr>
                      </a:pPr>
                      <a:r>
                        <a:t>Agent Capability</a:t>
                      </a:r>
                    </a:p>
                  </a:txBody>
                  <a:tcPr>
                    <a:solidFill>
                      <a:srgbClr val="E8F1F8"/>
                    </a:solidFill>
                  </a:tcPr>
                </a:tc>
                <a:tc>
                  <a:txBody>
                    <a:bodyPr/>
                    <a:lstStyle/>
                    <a:p>
                      <a:pPr algn="ctr">
                        <a:defRPr sz="1000">
                          <a:solidFill>
                            <a:srgbClr val="6C757D"/>
                          </a:solidFill>
                          <a:latin typeface="Meiryo"/>
                        </a:defRPr>
                      </a:pPr>
                      <a:r>
                        <a:t>2025-12</a:t>
                      </a:r>
                    </a:p>
                  </a:txBody>
                  <a:tcPr>
                    <a:solidFill>
                      <a:srgbClr val="E8F1F8"/>
                    </a:solidFill>
                  </a:tcPr>
                </a:tc>
                <a:tc>
                  <a:txBody>
                    <a:bodyPr/>
                    <a:lstStyle/>
                    <a:p>
                      <a:pPr>
                        <a:defRPr sz="1000">
                          <a:solidFill>
                            <a:srgbClr val="1A1A2E"/>
                          </a:solidFill>
                          <a:latin typeface="Meiryo"/>
                        </a:defRPr>
                      </a:pPr>
                      <a:r>
                        <a:t>AIエージェントに再現可能なワークフローを教えるオープン標準。SKILL.mdベースのプログレッシブ・ディスクロージャー方式。Microsoft・OpenAI等が採用。</a:t>
                      </a:r>
                    </a:p>
                  </a:txBody>
                  <a:tcPr>
                    <a:solidFill>
                      <a:srgbClr val="E8F1F8"/>
                    </a:solidFill>
                  </a:tcPr>
                </a:tc>
              </a:tr>
              <a:tr h="594360">
                <a:tc>
                  <a:txBody>
                    <a:bodyPr/>
                    <a:lstStyle/>
                    <a:p>
                      <a:pPr>
                        <a:defRPr sz="1000" b="1">
                          <a:solidFill>
                            <a:srgbClr val="005BAB"/>
                          </a:solidFill>
                          <a:latin typeface="Meiryo"/>
                        </a:defRPr>
                      </a:pPr>
                      <a:r>
                        <a:t>ANP</a:t>
                      </a:r>
                    </a:p>
                  </a:txBody>
                  <a:tcPr>
                    <a:solidFill>
                      <a:srgbClr val="FFFFFF"/>
                    </a:solidFill>
                  </a:tcPr>
                </a:tc>
                <a:tc>
                  <a:txBody>
                    <a:bodyPr/>
                    <a:lstStyle/>
                    <a:p>
                      <a:pPr>
                        <a:defRPr sz="1000">
                          <a:solidFill>
                            <a:srgbClr val="1A1A2E"/>
                          </a:solidFill>
                          <a:latin typeface="Meiryo"/>
                        </a:defRPr>
                      </a:pPr>
                      <a:r>
                        <a:t>ANP Community (中国移動/Huawei等)</a:t>
                      </a:r>
                    </a:p>
                  </a:txBody>
                  <a:tcPr>
                    <a:solidFill>
                      <a:srgbClr val="FFFFFF"/>
                    </a:solidFill>
                  </a:tcPr>
                </a:tc>
                <a:tc>
                  <a:txBody>
                    <a:bodyPr/>
                    <a:lstStyle/>
                    <a:p>
                      <a:pPr algn="ctr">
                        <a:defRPr sz="1000" b="1">
                          <a:solidFill>
                            <a:srgbClr val="5BA4D9"/>
                          </a:solidFill>
                          <a:latin typeface="Meiryo"/>
                        </a:defRPr>
                      </a:pPr>
                      <a:r>
                        <a:t>Network Discovery</a:t>
                      </a:r>
                    </a:p>
                  </a:txBody>
                  <a:tcPr>
                    <a:solidFill>
                      <a:srgbClr val="FFFFFF"/>
                    </a:solidFill>
                  </a:tcPr>
                </a:tc>
                <a:tc>
                  <a:txBody>
                    <a:bodyPr/>
                    <a:lstStyle/>
                    <a:p>
                      <a:pPr algn="ctr">
                        <a:defRPr sz="1000">
                          <a:solidFill>
                            <a:srgbClr val="6C757D"/>
                          </a:solidFill>
                          <a:latin typeface="Meiryo"/>
                        </a:defRPr>
                      </a:pPr>
                      <a:r>
                        <a:t>2025-10</a:t>
                      </a:r>
                    </a:p>
                  </a:txBody>
                  <a:tcPr>
                    <a:solidFill>
                      <a:srgbClr val="FFFFFF"/>
                    </a:solidFill>
                  </a:tcPr>
                </a:tc>
                <a:tc>
                  <a:txBody>
                    <a:bodyPr/>
                    <a:lstStyle/>
                    <a:p>
                      <a:pPr>
                        <a:defRPr sz="1000">
                          <a:solidFill>
                            <a:srgbClr val="1A1A2E"/>
                          </a:solidFill>
                          <a:latin typeface="Meiryo"/>
                        </a:defRPr>
                      </a:pPr>
                      <a:r>
                        <a:t>数十億のエージェントのためのネットワークプロトコル。W3C DIDによるID認証、JSON-LDによる能力公開の3層アーキテクチャ。</a:t>
                      </a:r>
                    </a:p>
                  </a:txBody>
                  <a:tcPr>
                    <a:solidFill>
                      <a:srgbClr val="FFFFFF"/>
                    </a:solidFill>
                  </a:tcPr>
                </a:tc>
              </a:tr>
              <a:tr h="594360">
                <a:tc>
                  <a:txBody>
                    <a:bodyPr/>
                    <a:lstStyle/>
                    <a:p>
                      <a:pPr>
                        <a:defRPr sz="1000" b="1">
                          <a:solidFill>
                            <a:srgbClr val="005BAB"/>
                          </a:solidFill>
                          <a:latin typeface="Meiryo"/>
                        </a:defRPr>
                      </a:pPr>
                      <a:r>
                        <a:t>ACP</a:t>
                      </a:r>
                    </a:p>
                  </a:txBody>
                  <a:tcPr>
                    <a:solidFill>
                      <a:srgbClr val="E8F1F8"/>
                    </a:solidFill>
                  </a:tcPr>
                </a:tc>
                <a:tc>
                  <a:txBody>
                    <a:bodyPr/>
                    <a:lstStyle/>
                    <a:p>
                      <a:pPr>
                        <a:defRPr sz="1000">
                          <a:solidFill>
                            <a:srgbClr val="1A1A2E"/>
                          </a:solidFill>
                          <a:latin typeface="Meiryo"/>
                        </a:defRPr>
                      </a:pPr>
                      <a:r>
                        <a:t>OpenAI + Stripe</a:t>
                      </a:r>
                    </a:p>
                  </a:txBody>
                  <a:tcPr>
                    <a:solidFill>
                      <a:srgbClr val="E8F1F8"/>
                    </a:solidFill>
                  </a:tcPr>
                </a:tc>
                <a:tc>
                  <a:txBody>
                    <a:bodyPr/>
                    <a:lstStyle/>
                    <a:p>
                      <a:pPr algn="ctr">
                        <a:defRPr sz="1000" b="1">
                          <a:solidFill>
                            <a:srgbClr val="5BA4D9"/>
                          </a:solidFill>
                          <a:latin typeface="Meiryo"/>
                        </a:defRPr>
                      </a:pPr>
                      <a:r>
                        <a:t>Commerce</a:t>
                      </a:r>
                    </a:p>
                  </a:txBody>
                  <a:tcPr>
                    <a:solidFill>
                      <a:srgbClr val="E8F1F8"/>
                    </a:solidFill>
                  </a:tcPr>
                </a:tc>
                <a:tc>
                  <a:txBody>
                    <a:bodyPr/>
                    <a:lstStyle/>
                    <a:p>
                      <a:pPr algn="ctr">
                        <a:defRPr sz="1000">
                          <a:solidFill>
                            <a:srgbClr val="6C757D"/>
                          </a:solidFill>
                          <a:latin typeface="Meiryo"/>
                        </a:defRPr>
                      </a:pPr>
                      <a:r>
                        <a:t>2025-09</a:t>
                      </a:r>
                    </a:p>
                  </a:txBody>
                  <a:tcPr>
                    <a:solidFill>
                      <a:srgbClr val="E8F1F8"/>
                    </a:solidFill>
                  </a:tcPr>
                </a:tc>
                <a:tc>
                  <a:txBody>
                    <a:bodyPr/>
                    <a:lstStyle/>
                    <a:p>
                      <a:pPr>
                        <a:defRPr sz="1000">
                          <a:solidFill>
                            <a:srgbClr val="1A1A2E"/>
                          </a:solidFill>
                          <a:latin typeface="Meiryo"/>
                        </a:defRPr>
                      </a:pPr>
                      <a:r>
                        <a:t>AIエージェント経由の商取引フローを実現するオープン標準。物理/デジタル商品、サブスクリプション対応。ChatGPTで実装済み。</a:t>
                      </a:r>
                    </a:p>
                  </a:txBody>
                  <a:tcPr>
                    <a:solidFill>
                      <a:srgbClr val="E8F1F8"/>
                    </a:solidFill>
                  </a:tcPr>
                </a:tc>
              </a:tr>
              <a:tr h="594360">
                <a:tc>
                  <a:txBody>
                    <a:bodyPr/>
                    <a:lstStyle/>
                    <a:p>
                      <a:pPr>
                        <a:defRPr sz="1000" b="1">
                          <a:solidFill>
                            <a:srgbClr val="005BAB"/>
                          </a:solidFill>
                          <a:latin typeface="Meiryo"/>
                        </a:defRPr>
                      </a:pPr>
                      <a:r>
                        <a:t>AGENTS.md</a:t>
                      </a:r>
                    </a:p>
                  </a:txBody>
                  <a:tcPr>
                    <a:solidFill>
                      <a:srgbClr val="FFFFFF"/>
                    </a:solidFill>
                  </a:tcPr>
                </a:tc>
                <a:tc>
                  <a:txBody>
                    <a:bodyPr/>
                    <a:lstStyle/>
                    <a:p>
                      <a:pPr>
                        <a:defRPr sz="1000">
                          <a:solidFill>
                            <a:srgbClr val="1A1A2E"/>
                          </a:solidFill>
                          <a:latin typeface="Meiryo"/>
                        </a:defRPr>
                      </a:pPr>
                      <a:r>
                        <a:t>OpenAI</a:t>
                      </a:r>
                    </a:p>
                  </a:txBody>
                  <a:tcPr>
                    <a:solidFill>
                      <a:srgbClr val="FFFFFF"/>
                    </a:solidFill>
                  </a:tcPr>
                </a:tc>
                <a:tc>
                  <a:txBody>
                    <a:bodyPr/>
                    <a:lstStyle/>
                    <a:p>
                      <a:pPr algn="ctr">
                        <a:defRPr sz="1000" b="1">
                          <a:solidFill>
                            <a:srgbClr val="5BA4D9"/>
                          </a:solidFill>
                          <a:latin typeface="Meiryo"/>
                        </a:defRPr>
                      </a:pPr>
                      <a:r>
                        <a:t>Project Instruction</a:t>
                      </a:r>
                    </a:p>
                  </a:txBody>
                  <a:tcPr>
                    <a:solidFill>
                      <a:srgbClr val="FFFFFF"/>
                    </a:solidFill>
                  </a:tcPr>
                </a:tc>
                <a:tc>
                  <a:txBody>
                    <a:bodyPr/>
                    <a:lstStyle/>
                    <a:p>
                      <a:pPr algn="ctr">
                        <a:defRPr sz="1000">
                          <a:solidFill>
                            <a:srgbClr val="6C757D"/>
                          </a:solidFill>
                          <a:latin typeface="Meiryo"/>
                        </a:defRPr>
                      </a:pPr>
                      <a:r>
                        <a:t>2025-08</a:t>
                      </a:r>
                    </a:p>
                  </a:txBody>
                  <a:tcPr>
                    <a:solidFill>
                      <a:srgbClr val="FFFFFF"/>
                    </a:solidFill>
                  </a:tcPr>
                </a:tc>
                <a:tc>
                  <a:txBody>
                    <a:bodyPr/>
                    <a:lstStyle/>
                    <a:p>
                      <a:pPr>
                        <a:defRPr sz="1000">
                          <a:solidFill>
                            <a:srgbClr val="1A1A2E"/>
                          </a:solidFill>
                          <a:latin typeface="Meiryo"/>
                        </a:defRPr>
                      </a:pPr>
                      <a:r>
                        <a:t>AIコーディングエージェントにプロジェクト固有のガイダンスを提供するMarkdownベース規約。Copilot・Cursor・Gemini CLI等が対応。</a:t>
                      </a:r>
                    </a:p>
                  </a:txBody>
                  <a:tcPr>
                    <a:solidFill>
                      <a:srgbClr val="FFFFFF"/>
                    </a:solidFill>
                  </a:tcPr>
                </a:tc>
              </a:tr>
              <a:tr h="594360">
                <a:tc>
                  <a:txBody>
                    <a:bodyPr/>
                    <a:lstStyle/>
                    <a:p>
                      <a:pPr>
                        <a:defRPr sz="1000" b="1">
                          <a:solidFill>
                            <a:srgbClr val="005BAB"/>
                          </a:solidFill>
                          <a:latin typeface="Meiryo"/>
                        </a:defRPr>
                      </a:pPr>
                      <a:r>
                        <a:t>A2A</a:t>
                      </a:r>
                    </a:p>
                  </a:txBody>
                  <a:tcPr>
                    <a:solidFill>
                      <a:srgbClr val="E8F1F8"/>
                    </a:solidFill>
                  </a:tcPr>
                </a:tc>
                <a:tc>
                  <a:txBody>
                    <a:bodyPr/>
                    <a:lstStyle/>
                    <a:p>
                      <a:pPr>
                        <a:defRPr sz="1000">
                          <a:solidFill>
                            <a:srgbClr val="1A1A2E"/>
                          </a:solidFill>
                          <a:latin typeface="Meiryo"/>
                        </a:defRPr>
                      </a:pPr>
                      <a:r>
                        <a:t>Google Cloud</a:t>
                      </a:r>
                    </a:p>
                  </a:txBody>
                  <a:tcPr>
                    <a:solidFill>
                      <a:srgbClr val="E8F1F8"/>
                    </a:solidFill>
                  </a:tcPr>
                </a:tc>
                <a:tc>
                  <a:txBody>
                    <a:bodyPr/>
                    <a:lstStyle/>
                    <a:p>
                      <a:pPr algn="ctr">
                        <a:defRPr sz="1000" b="1">
                          <a:solidFill>
                            <a:srgbClr val="5BA4D9"/>
                          </a:solidFill>
                          <a:latin typeface="Meiryo"/>
                        </a:defRPr>
                      </a:pPr>
                      <a:r>
                        <a:t>Agent-Agent</a:t>
                      </a:r>
                    </a:p>
                  </a:txBody>
                  <a:tcPr>
                    <a:solidFill>
                      <a:srgbClr val="E8F1F8"/>
                    </a:solidFill>
                  </a:tcPr>
                </a:tc>
                <a:tc>
                  <a:txBody>
                    <a:bodyPr/>
                    <a:lstStyle/>
                    <a:p>
                      <a:pPr algn="ctr">
                        <a:defRPr sz="1000">
                          <a:solidFill>
                            <a:srgbClr val="6C757D"/>
                          </a:solidFill>
                          <a:latin typeface="Meiryo"/>
                        </a:defRPr>
                      </a:pPr>
                      <a:r>
                        <a:t>2025-04</a:t>
                      </a:r>
                    </a:p>
                  </a:txBody>
                  <a:tcPr>
                    <a:solidFill>
                      <a:srgbClr val="E8F1F8"/>
                    </a:solidFill>
                  </a:tcPr>
                </a:tc>
                <a:tc>
                  <a:txBody>
                    <a:bodyPr/>
                    <a:lstStyle/>
                    <a:p>
                      <a:pPr>
                        <a:defRPr sz="1000">
                          <a:solidFill>
                            <a:srgbClr val="1A1A2E"/>
                          </a:solidFill>
                          <a:latin typeface="Meiryo"/>
                        </a:defRPr>
                      </a:pPr>
                      <a:r>
                        <a:t>異なるプラットフォーム・ベンダー間でAIエージェント同士が通信・協働するオープンプロトコル。MCPの補完的位置づけ。</a:t>
                      </a:r>
                    </a:p>
                  </a:txBody>
                  <a:tcPr>
                    <a:solidFill>
                      <a:srgbClr val="E8F1F8"/>
                    </a:solidFill>
                  </a:tcPr>
                </a:tc>
              </a:tr>
              <a:tr h="594360">
                <a:tc>
                  <a:txBody>
                    <a:bodyPr/>
                    <a:lstStyle/>
                    <a:p>
                      <a:pPr>
                        <a:defRPr sz="1000" b="1">
                          <a:solidFill>
                            <a:srgbClr val="005BAB"/>
                          </a:solidFill>
                          <a:latin typeface="Meiryo"/>
                        </a:defRPr>
                      </a:pPr>
                      <a:r>
                        <a:t>MCP</a:t>
                      </a:r>
                    </a:p>
                  </a:txBody>
                  <a:tcPr>
                    <a:solidFill>
                      <a:srgbClr val="FFFFFF"/>
                    </a:solidFill>
                  </a:tcPr>
                </a:tc>
                <a:tc>
                  <a:txBody>
                    <a:bodyPr/>
                    <a:lstStyle/>
                    <a:p>
                      <a:pPr>
                        <a:defRPr sz="1000">
                          <a:solidFill>
                            <a:srgbClr val="1A1A2E"/>
                          </a:solidFill>
                          <a:latin typeface="Meiryo"/>
                        </a:defRPr>
                      </a:pPr>
                      <a:r>
                        <a:t>Anthropic</a:t>
                      </a:r>
                    </a:p>
                  </a:txBody>
                  <a:tcPr>
                    <a:solidFill>
                      <a:srgbClr val="FFFFFF"/>
                    </a:solidFill>
                  </a:tcPr>
                </a:tc>
                <a:tc>
                  <a:txBody>
                    <a:bodyPr/>
                    <a:lstStyle/>
                    <a:p>
                      <a:pPr algn="ctr">
                        <a:defRPr sz="1000" b="1">
                          <a:solidFill>
                            <a:srgbClr val="5BA4D9"/>
                          </a:solidFill>
                          <a:latin typeface="Meiryo"/>
                        </a:defRPr>
                      </a:pPr>
                      <a:r>
                        <a:t>Agent-Tool</a:t>
                      </a:r>
                    </a:p>
                  </a:txBody>
                  <a:tcPr>
                    <a:solidFill>
                      <a:srgbClr val="FFFFFF"/>
                    </a:solidFill>
                  </a:tcPr>
                </a:tc>
                <a:tc>
                  <a:txBody>
                    <a:bodyPr/>
                    <a:lstStyle/>
                    <a:p>
                      <a:pPr algn="ctr">
                        <a:defRPr sz="1000">
                          <a:solidFill>
                            <a:srgbClr val="6C757D"/>
                          </a:solidFill>
                          <a:latin typeface="Meiryo"/>
                        </a:defRPr>
                      </a:pPr>
                      <a:r>
                        <a:t>2024-11</a:t>
                      </a:r>
                    </a:p>
                  </a:txBody>
                  <a:tcPr>
                    <a:solidFill>
                      <a:srgbClr val="FFFFFF"/>
                    </a:solidFill>
                  </a:tcPr>
                </a:tc>
                <a:tc>
                  <a:txBody>
                    <a:bodyPr/>
                    <a:lstStyle/>
                    <a:p>
                      <a:pPr>
                        <a:defRPr sz="1000">
                          <a:solidFill>
                            <a:srgbClr val="1A1A2E"/>
                          </a:solidFill>
                          <a:latin typeface="Meiryo"/>
                        </a:defRPr>
                      </a:pPr>
                      <a:r>
                        <a:t>AIモデルを外部データソース・ツールに接続するオープン標準。10,000以上のMCPサーバーが公開済み。OpenAI・Google・Microsoft等が採用。</a:t>
                      </a:r>
                    </a:p>
                  </a:txBody>
                  <a:tcPr>
                    <a:solidFill>
                      <a:srgbClr val="FFFFFF"/>
                    </a:solidFill>
                  </a:tcPr>
                </a:tc>
              </a:tr>
            </a:tbl>
          </a:graphicData>
        </a:graphic>
      </p:graphicFrame>
      <p:sp>
        <p:nvSpPr>
          <p:cNvPr id="7" name="TextBox 6"/>
          <p:cNvSpPr txBox="1"/>
          <p:nvPr/>
        </p:nvSpPr>
        <p:spPr>
          <a:xfrm>
            <a:off x="548640" y="5897880"/>
            <a:ext cx="11094415" cy="274320"/>
          </a:xfrm>
          <a:prstGeom prst="rect">
            <a:avLst/>
          </a:prstGeom>
          <a:noFill/>
        </p:spPr>
        <p:txBody>
          <a:bodyPr wrap="square">
            <a:spAutoFit/>
          </a:bodyPr>
          <a:lstStyle/>
          <a:p>
            <a:pPr algn="l">
              <a:defRPr sz="900" b="0">
                <a:solidFill>
                  <a:srgbClr val="6C757D"/>
                </a:solidFill>
                <a:latin typeface="Meiryo"/>
              </a:defRPr>
            </a:pPr>
            <a:r>
              <a:t>※ キャッチアップ時に自動更新  |  各公式サイトで最新情報をご確認ください</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Data Dashboard</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2026-03-05  |  Page 10</a:t>
            </a:r>
          </a:p>
        </p:txBody>
      </p:sp>
      <p:sp>
        <p:nvSpPr>
          <p:cNvPr id="6" name="Rectangle 5"/>
          <p:cNvSpPr/>
          <p:nvPr/>
        </p:nvSpPr>
        <p:spPr>
          <a:xfrm>
            <a:off x="594360" y="1005840"/>
            <a:ext cx="5394960" cy="2560320"/>
          </a:xfrm>
          <a:prstGeom prst="rect">
            <a:avLst/>
          </a:prstGeom>
          <a:solidFill>
            <a:srgbClr val="FFFFFF"/>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ompany_importance.png"/>
          <p:cNvPicPr>
            <a:picLocks noChangeAspect="1"/>
          </p:cNvPicPr>
          <p:nvPr/>
        </p:nvPicPr>
        <p:blipFill>
          <a:blip r:embed="rId2"/>
          <a:stretch>
            <a:fillRect/>
          </a:stretch>
        </p:blipFill>
        <p:spPr>
          <a:xfrm>
            <a:off x="640080" y="1051560"/>
            <a:ext cx="5303520" cy="2468880"/>
          </a:xfrm>
          <a:prstGeom prst="rect">
            <a:avLst/>
          </a:prstGeom>
        </p:spPr>
      </p:pic>
      <p:sp>
        <p:nvSpPr>
          <p:cNvPr id="8" name="Rectangle 7"/>
          <p:cNvSpPr/>
          <p:nvPr/>
        </p:nvSpPr>
        <p:spPr>
          <a:xfrm>
            <a:off x="6355080" y="1005840"/>
            <a:ext cx="5394960" cy="2560320"/>
          </a:xfrm>
          <a:prstGeom prst="rect">
            <a:avLst/>
          </a:prstGeom>
          <a:solidFill>
            <a:srgbClr val="FFFFFF"/>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heatmap.png"/>
          <p:cNvPicPr>
            <a:picLocks noChangeAspect="1"/>
          </p:cNvPicPr>
          <p:nvPr/>
        </p:nvPicPr>
        <p:blipFill>
          <a:blip r:embed="rId3"/>
          <a:stretch>
            <a:fillRect/>
          </a:stretch>
        </p:blipFill>
        <p:spPr>
          <a:xfrm>
            <a:off x="6400800" y="1051560"/>
            <a:ext cx="5303520" cy="2468880"/>
          </a:xfrm>
          <a:prstGeom prst="rect">
            <a:avLst/>
          </a:prstGeom>
        </p:spPr>
      </p:pic>
      <p:sp>
        <p:nvSpPr>
          <p:cNvPr id="10" name="Rectangle 9"/>
          <p:cNvSpPr/>
          <p:nvPr/>
        </p:nvSpPr>
        <p:spPr>
          <a:xfrm>
            <a:off x="594360" y="3657600"/>
            <a:ext cx="5394960" cy="2560320"/>
          </a:xfrm>
          <a:prstGeom prst="rect">
            <a:avLst/>
          </a:prstGeom>
          <a:solidFill>
            <a:srgbClr val="FFFFFF"/>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portance_donut.png"/>
          <p:cNvPicPr>
            <a:picLocks noChangeAspect="1"/>
          </p:cNvPicPr>
          <p:nvPr/>
        </p:nvPicPr>
        <p:blipFill>
          <a:blip r:embed="rId4"/>
          <a:stretch>
            <a:fillRect/>
          </a:stretch>
        </p:blipFill>
        <p:spPr>
          <a:xfrm>
            <a:off x="640080" y="3703320"/>
            <a:ext cx="5303520" cy="2468880"/>
          </a:xfrm>
          <a:prstGeom prst="rect">
            <a:avLst/>
          </a:prstGeom>
        </p:spPr>
      </p:pic>
      <p:sp>
        <p:nvSpPr>
          <p:cNvPr id="12" name="Rectangle 11"/>
          <p:cNvSpPr/>
          <p:nvPr/>
        </p:nvSpPr>
        <p:spPr>
          <a:xfrm>
            <a:off x="6355080" y="3657600"/>
            <a:ext cx="5394960" cy="2560320"/>
          </a:xfrm>
          <a:prstGeom prst="rect">
            <a:avLst/>
          </a:prstGeom>
          <a:solidFill>
            <a:srgbClr val="FFFFFF"/>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news_landscape.png"/>
          <p:cNvPicPr>
            <a:picLocks noChangeAspect="1"/>
          </p:cNvPicPr>
          <p:nvPr/>
        </p:nvPicPr>
        <p:blipFill>
          <a:blip r:embed="rId5"/>
          <a:stretch>
            <a:fillRect/>
          </a:stretch>
        </p:blipFill>
        <p:spPr>
          <a:xfrm>
            <a:off x="6400800" y="3703320"/>
            <a:ext cx="5303520" cy="246888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Sources (引用元一覧)</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2026-03-05  |  Page 11</a:t>
            </a:r>
          </a:p>
        </p:txBody>
      </p:sp>
      <p:sp>
        <p:nvSpPr>
          <p:cNvPr id="6" name="TextBox 5"/>
          <p:cNvSpPr txBox="1"/>
          <p:nvPr/>
        </p:nvSpPr>
        <p:spPr>
          <a:xfrm>
            <a:off x="548640" y="960120"/>
            <a:ext cx="5303520" cy="5029200"/>
          </a:xfrm>
          <a:prstGeom prst="rect">
            <a:avLst/>
          </a:prstGeom>
          <a:noFill/>
        </p:spPr>
        <p:txBody>
          <a:bodyPr wrap="square">
            <a:spAutoFit/>
          </a:bodyPr>
          <a:lstStyle/>
          <a:p>
            <a:pPr algn="l">
              <a:defRPr sz="1100" b="0">
                <a:solidFill>
                  <a:srgbClr val="1A1A2E"/>
                </a:solidFill>
                <a:latin typeface="Meiryo"/>
              </a:defRPr>
            </a:pPr>
          </a:p>
          <a:p>
            <a:pPr>
              <a:spcBef>
                <a:spcPts val="300"/>
              </a:spcBef>
              <a:defRPr sz="1100" b="0">
                <a:solidFill>
                  <a:srgbClr val="6C757D"/>
                </a:solidFill>
                <a:latin typeface="Meiryo"/>
              </a:defRPr>
            </a:pPr>
            <a:r>
              <a:t>► Fortune: https://fortune.com/2026/03/02/openais-pentagon-deal-raises-new-questions-about-ai-and-mass-surveillance/</a:t>
            </a:r>
          </a:p>
          <a:p>
            <a:pPr>
              <a:spcBef>
                <a:spcPts val="300"/>
              </a:spcBef>
              <a:defRPr sz="1100" b="0">
                <a:solidFill>
                  <a:srgbClr val="6C757D"/>
                </a:solidFill>
                <a:latin typeface="Meiryo"/>
              </a:defRPr>
            </a:pPr>
            <a:r>
              <a:t>► Axios: https://www.axios.com/2026/03/02/anthropic-ai-openai-trump</a:t>
            </a:r>
          </a:p>
          <a:p>
            <a:pPr>
              <a:spcBef>
                <a:spcPts val="300"/>
              </a:spcBef>
              <a:defRPr sz="1100" b="0">
                <a:solidFill>
                  <a:srgbClr val="6C757D"/>
                </a:solidFill>
                <a:latin typeface="Meiryo"/>
              </a:defRPr>
            </a:pPr>
            <a:r>
              <a:t>► Google Official Blog: https://blog.google/innovation-and-ai/models-and-research/google-deepmind/project-genie/</a:t>
            </a:r>
          </a:p>
        </p:txBody>
      </p:sp>
      <p:sp>
        <p:nvSpPr>
          <p:cNvPr id="7" name="TextBox 6"/>
          <p:cNvSpPr txBox="1"/>
          <p:nvPr/>
        </p:nvSpPr>
        <p:spPr>
          <a:xfrm>
            <a:off x="6156655" y="960120"/>
            <a:ext cx="5486400" cy="5029200"/>
          </a:xfrm>
          <a:prstGeom prst="rect">
            <a:avLst/>
          </a:prstGeom>
          <a:noFill/>
        </p:spPr>
        <p:txBody>
          <a:bodyPr wrap="square">
            <a:spAutoFit/>
          </a:bodyPr>
          <a:lstStyle/>
          <a:p>
            <a:pPr algn="l">
              <a:defRPr sz="1100" b="0">
                <a:solidFill>
                  <a:srgbClr val="1A1A2E"/>
                </a:solidFill>
                <a:latin typeface="Meiryo"/>
              </a:defRPr>
            </a:pPr>
          </a:p>
          <a:p>
            <a:pPr>
              <a:spcBef>
                <a:spcPts val="300"/>
              </a:spcBef>
              <a:defRPr sz="1100" b="0">
                <a:solidFill>
                  <a:srgbClr val="6C757D"/>
                </a:solidFill>
                <a:latin typeface="Meiryo"/>
              </a:defRPr>
            </a:pPr>
            <a:r>
              <a:t>► Fortune: https://fortune.com/2026/02/25/nvidia-jensen-huang-big-tech-ai-infrastructure-700-billion-just-the-start/</a:t>
            </a:r>
          </a:p>
          <a:p>
            <a:pPr>
              <a:spcBef>
                <a:spcPts val="300"/>
              </a:spcBef>
              <a:defRPr sz="1100" b="0">
                <a:solidFill>
                  <a:srgbClr val="6C757D"/>
                </a:solidFill>
                <a:latin typeface="Meiryo"/>
              </a:defRPr>
            </a:pPr>
            <a:r>
              <a:t>► TweakTown / Reddit: https://www.reddit.com/r/pcmasterrace/comments/1rf8imw/nvidia-confirms-geforce-rtx-50-series-gpu-shortage-for-2026/</a:t>
            </a:r>
          </a:p>
          <a:p>
            <a:pPr>
              <a:spcBef>
                <a:spcPts val="300"/>
              </a:spcBef>
              <a:defRPr sz="1100" b="0">
                <a:solidFill>
                  <a:srgbClr val="6C757D"/>
                </a:solidFill>
                <a:latin typeface="Meiryo"/>
              </a:defRPr>
            </a:pPr>
            <a:r>
              <a:t>► Reuters: https://www.reuters.com/technology/anthropic-investors-push-de-escalate-pentagon-clash-over-ai-safeguards-sources-2026-03-04/</a:t>
            </a:r>
          </a:p>
        </p:txBody>
      </p:sp>
      <p:sp>
        <p:nvSpPr>
          <p:cNvPr id="8" name="TextBox 7"/>
          <p:cNvSpPr txBox="1"/>
          <p:nvPr/>
        </p:nvSpPr>
        <p:spPr>
          <a:xfrm>
            <a:off x="914400" y="6126480"/>
            <a:ext cx="10362895" cy="274320"/>
          </a:xfrm>
          <a:prstGeom prst="rect">
            <a:avLst/>
          </a:prstGeom>
          <a:noFill/>
        </p:spPr>
        <p:txBody>
          <a:bodyPr wrap="square">
            <a:spAutoFit/>
          </a:bodyPr>
          <a:lstStyle/>
          <a:p>
            <a:pPr algn="ctr">
              <a:defRPr sz="900" b="0">
                <a:solidFill>
                  <a:srgbClr val="6C757D"/>
                </a:solidFill>
                <a:latin typeface="Meiryo"/>
              </a:defRPr>
            </a:pPr>
            <a:r>
              <a:t>AI News Daily Deck - Generated by Claude Code | 本レポートは生成AIにより自動作成されており、一部ハルシネーションを含む可能性があります。元記事URLから一次情報をご確認ください。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