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5B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828800"/>
            <a:ext cx="100584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400" b="1">
                <a:solidFill>
                  <a:srgbClr val="FFFFFF"/>
                </a:solidFill>
                <a:latin typeface="Meiryo"/>
              </a:defRPr>
            </a:pPr>
            <a:r>
              <a:t>AI News Daily Deck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65760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0">
                <a:solidFill>
                  <a:srgbClr val="FFFFFF"/>
                </a:solidFill>
                <a:latin typeface="Meiryo"/>
              </a:defRPr>
            </a:pPr>
            <a:r>
              <a:t>2026-02-10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457200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FFFFFF"/>
                </a:solidFill>
                <a:latin typeface="Meiryo"/>
              </a:defRPr>
            </a:pPr>
            <a:r>
              <a:t>ニュース 11件 | 対象: OpenAI, Anthropic, Google, Microsoft, Meta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FF96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Meiryo"/>
              </a:defRPr>
            </a:pPr>
            <a:r>
              <a:t>TODAY'S HIGHLIGHT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188720"/>
            <a:ext cx="10515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1A1A2E"/>
                </a:solidFill>
                <a:latin typeface="Meiryo"/>
              </a:defRPr>
            </a:pPr>
            <a:r>
              <a:t>Anthropic Claude Opus 4.6リリース、ソフトウェア業界に衝撃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28600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4A4A6A"/>
                </a:solidFill>
                <a:latin typeface="Meiryo"/>
              </a:defRPr>
            </a:pPr>
            <a:r>
              <a:t>Anthropic  |  LLM  |  ★★★★★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926080"/>
            <a:ext cx="105156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1A1A2E"/>
                </a:solidFill>
                <a:latin typeface="Meiryo"/>
              </a:defRPr>
            </a:pPr>
            <a:r>
              <a:t>2月5日、Anthropic社がClaude Opus 4.6をリリース。OpenAI GPT-5.2を上回るベンチマーク性能を達成し、法務・財務・営業分野向けCoworkプラグインを発表。専門ソフトウェア株が急落し、業界に大きな影響を与えた。PowerPoint統合機能も研究プレビューとして提供開始。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21792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4A4A6A"/>
                </a:solidFill>
                <a:latin typeface="Meiryo"/>
              </a:defRPr>
            </a:pPr>
            <a:r>
              <a:t>Source: CNN Business - https://www.cnn.com/2026/02/05/tech/anthropic-opus-update-software-stocks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0A3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9144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FFFFFF"/>
                </a:solidFill>
                <a:latin typeface="Meiryo"/>
              </a:defRPr>
            </a:pPr>
            <a:r>
              <a:t>OpenAI  (1件)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097280"/>
            <a:ext cx="105156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1A1A2E"/>
                </a:solidFill>
                <a:latin typeface="Meiryo"/>
              </a:defRPr>
            </a:pPr>
            <a:r>
              <a:t>★★★★☆  OpenAI、Anthropicの15分後にCodexとGPT-5.3を発表</a:t>
            </a:r>
          </a:p>
          <a:p>
            <a:pPr>
              <a:spcBef>
                <a:spcPts val="600"/>
              </a:spcBef>
              <a:defRPr sz="1300" b="0">
                <a:solidFill>
                  <a:srgbClr val="4A4A6A"/>
                </a:solidFill>
                <a:latin typeface="Meiryo"/>
              </a:defRPr>
            </a:pPr>
            <a:r>
              <a:t>2月5日、OpenAIがエージェント型コーディングツールCodexとGPT-5.3 Codexモデルを発表。Anthropicのリリースのわずか15分後の発表となり、両社の激しい競争が浮き彫りに。Codexは今週初めにリリースされたツールの...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D4A5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9144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FFFFFF"/>
                </a:solidFill>
                <a:latin typeface="Meiryo"/>
              </a:defRPr>
            </a:pPr>
            <a:r>
              <a:t>Anthropic  (2件)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097280"/>
            <a:ext cx="105156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1A1A2E"/>
                </a:solidFill>
                <a:latin typeface="Meiryo"/>
              </a:defRPr>
            </a:pPr>
            <a:r>
              <a:t>★★★★★  Anthropic Claude Opus 4.6リリース、ソフトウェア業界に衝撃</a:t>
            </a:r>
          </a:p>
          <a:p>
            <a:pPr>
              <a:spcBef>
                <a:spcPts val="600"/>
              </a:spcBef>
              <a:defRPr sz="1300" b="0">
                <a:solidFill>
                  <a:srgbClr val="4A4A6A"/>
                </a:solidFill>
                <a:latin typeface="Meiryo"/>
              </a:defRPr>
            </a:pPr>
            <a:r>
              <a:t>2月5日、Anthropic社がClaude Opus 4.6をリリース。OpenAI GPT-5.2を上回るベンチマーク性能を達成し、法務・財務・営業分野向けCoworkプラグインを発表。専門ソフトウェア株が急落し、業界に大きな影響を与え...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194560"/>
            <a:ext cx="105156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1A1A2E"/>
                </a:solidFill>
                <a:latin typeface="Meiryo"/>
              </a:defRPr>
            </a:pPr>
            <a:r>
              <a:t>★★★★★  エージェント型AI元年：Model Context Protocol（MCP）がLinux Foundationに寄付</a:t>
            </a:r>
          </a:p>
          <a:p>
            <a:pPr>
              <a:spcBef>
                <a:spcPts val="600"/>
              </a:spcBef>
              <a:defRPr sz="1300" b="0">
                <a:solidFill>
                  <a:srgbClr val="4A4A6A"/>
                </a:solidFill>
                <a:latin typeface="Meiryo"/>
              </a:defRPr>
            </a:pPr>
            <a:r>
              <a:t>AnthropicのModel Context Protocol（MCP）が「AI版USB-C」として業界標準化へ。OpenAIとMicrosoftが公式採用を表明し、Linux Foundation傘下のAgentic AI Founda...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00A4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9144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FFFFFF"/>
                </a:solidFill>
                <a:latin typeface="Meiryo"/>
              </a:defRPr>
            </a:pPr>
            <a:r>
              <a:t>Microsoft  (2件)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097280"/>
            <a:ext cx="105156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1A1A2E"/>
                </a:solidFill>
                <a:latin typeface="Meiryo"/>
              </a:defRPr>
            </a:pPr>
            <a:r>
              <a:t>★★★★★  ビッグテック4社、AI投資総額7000億ドルに到達</a:t>
            </a:r>
          </a:p>
          <a:p>
            <a:pPr>
              <a:spcBef>
                <a:spcPts val="600"/>
              </a:spcBef>
              <a:defRPr sz="1300" b="0">
                <a:solidFill>
                  <a:srgbClr val="4A4A6A"/>
                </a:solidFill>
                <a:latin typeface="Meiryo"/>
              </a:defRPr>
            </a:pPr>
            <a:r>
              <a:t>Microsoft、Alphabet、Amazon、Metaの4社が2026年のAI関連設備投資で合計約7000億ドルを支出予定。Amazonが2000億ドルで最大、Microsoftが1450億ドル、Alphabetが最大1850億ドル、...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194560"/>
            <a:ext cx="105156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1A1A2E"/>
                </a:solidFill>
                <a:latin typeface="Meiryo"/>
              </a:defRPr>
            </a:pPr>
            <a:r>
              <a:t>★★★★★  AIコード生成が主流化：Microsoft/Google共にコードの25-30%がAI生成</a:t>
            </a:r>
          </a:p>
          <a:p>
            <a:pPr>
              <a:spcBef>
                <a:spcPts val="600"/>
              </a:spcBef>
              <a:defRPr sz="1300" b="0">
                <a:solidFill>
                  <a:srgbClr val="4A4A6A"/>
                </a:solidFill>
                <a:latin typeface="Meiryo"/>
              </a:defRPr>
            </a:pPr>
            <a:r>
              <a:t>AIコード生成がAIの最初の主要ビジネスユースケースとして確立。Microsoftコードの30%、Googleコードの25%以上がAI生成に。OpenAI Codex、Anthropic Coworkプラグイン、GitHub Copilot...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6C75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9144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FFFFFF"/>
                </a:solidFill>
                <a:latin typeface="Meiryo"/>
              </a:defRPr>
            </a:pPr>
            <a:r>
              <a:t>Other  (6件)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097280"/>
            <a:ext cx="105156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1A1A2E"/>
                </a:solidFill>
                <a:latin typeface="Meiryo"/>
              </a:defRPr>
            </a:pPr>
            <a:r>
              <a:t>★★★★☆  AI規制：コロラド州法施行を6月に延期、連邦vs州の対立激化</a:t>
            </a:r>
          </a:p>
          <a:p>
            <a:pPr>
              <a:spcBef>
                <a:spcPts val="600"/>
              </a:spcBef>
              <a:defRPr sz="1300" b="0">
                <a:solidFill>
                  <a:srgbClr val="4A4A6A"/>
                </a:solidFill>
                <a:latin typeface="Meiryo"/>
              </a:defRPr>
            </a:pPr>
            <a:r>
              <a:t>コロラド州がAI法の施行を2月1日から6月30日に延期。高リスクAIシステムに対するリスク管理とアルゴリズム差別の緩和を義務化。連邦政府は3月11日までに「過度な州法」の評価を公表予定で、州法の先制排除を示唆し連邦vs州の対立が表面化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194560"/>
            <a:ext cx="105156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1A1A2E"/>
                </a:solidFill>
                <a:latin typeface="Meiryo"/>
              </a:defRPr>
            </a:pPr>
            <a:r>
              <a:t>★★★★☆  AIスタートアップ資金調達ラッシュ：Goodfire 15億ドル評価、Fundamental 2.5億ドル調達</a:t>
            </a:r>
          </a:p>
          <a:p>
            <a:pPr>
              <a:spcBef>
                <a:spcPts val="600"/>
              </a:spcBef>
              <a:defRPr sz="1300" b="0">
                <a:solidFill>
                  <a:srgbClr val="4A4A6A"/>
                </a:solidFill>
                <a:latin typeface="Meiryo"/>
              </a:defRPr>
            </a:pPr>
            <a:r>
              <a:t>2月5日、AI関連スタートアップが大型資金調達を実施。FundamentalがシリーズAで2.5億ドル調達、GoodfireがシリーズBで1.5億ドル調達し評価額12.5億ドルに到達。Tomorrow.ioがDeepSky衛星ネットワーク展...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291840"/>
            <a:ext cx="105156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1A1A2E"/>
                </a:solidFill>
                <a:latin typeface="Meiryo"/>
              </a:defRPr>
            </a:pPr>
            <a:r>
              <a:t>★★★★☆  中国AI企業の台頭：Moonshot AIとAlibabaが米国モデルに迫る</a:t>
            </a:r>
          </a:p>
          <a:p>
            <a:pPr>
              <a:spcBef>
                <a:spcPts val="600"/>
              </a:spcBef>
              <a:defRPr sz="1300" b="0">
                <a:solidFill>
                  <a:srgbClr val="4A4A6A"/>
                </a:solidFill>
                <a:latin typeface="Meiryo"/>
              </a:defRPr>
            </a:pPr>
            <a:r>
              <a:t>中国Moonshot AIがKimi K2.5をリリース、動画生成とエージェント機能を搭載。Alibaba Qwen3-Max-Thinkingがグローバル基準で優位性を示す。中国モデルのリリース遅延が数ヶ月から数週間、時には数日に短縮。シ...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4389120"/>
            <a:ext cx="105156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1A1A2E"/>
                </a:solidFill>
                <a:latin typeface="Meiryo"/>
              </a:defRPr>
            </a:pPr>
            <a:r>
              <a:t>★★★★☆  量子コンピューティング実用化元年：IBM 2026年に古典超越を宣言</a:t>
            </a:r>
          </a:p>
          <a:p>
            <a:pPr>
              <a:spcBef>
                <a:spcPts val="600"/>
              </a:spcBef>
              <a:defRPr sz="1300" b="0">
                <a:solidFill>
                  <a:srgbClr val="4A4A6A"/>
                </a:solidFill>
                <a:latin typeface="Meiryo"/>
              </a:defRPr>
            </a:pPr>
            <a:r>
              <a:t>IBMが2026年を量子コンピュータが初めて古典コンピュータを上回る性能を達成する年と公式宣言。MicrosoftがMajorana 1トポロジカル量子ビットチップをリリース、単一チップに数百万量子ビットの搭載が可能なアーキテクチャを実現。...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5486400"/>
            <a:ext cx="105156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1A1A2E"/>
                </a:solidFill>
                <a:latin typeface="Meiryo"/>
              </a:defRPr>
            </a:pPr>
            <a:r>
              <a:t>★★★★☆  エッジAIとオンデバイスAI、2026年に主流化へ</a:t>
            </a:r>
          </a:p>
          <a:p>
            <a:pPr>
              <a:spcBef>
                <a:spcPts val="600"/>
              </a:spcBef>
              <a:defRPr sz="1300" b="0">
                <a:solidFill>
                  <a:srgbClr val="4A4A6A"/>
                </a:solidFill>
                <a:latin typeface="Meiryo"/>
              </a:defRPr>
            </a:pPr>
            <a:r>
              <a:t>2026年はオンデバイスAIとエッジインテリジェンスが主流化する年。業界はスケールアップ（H200/B200/GB200スーパーチップ）とスケールアウト（エッジ最適化、量子化、小型LLM）の戦略分岐。効率性重視のモデルクラスが純粋なスケーリ..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005B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9144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FFFFFF"/>
                </a:solidFill>
                <a:latin typeface="Meiryo"/>
              </a:defRPr>
            </a:pPr>
            <a:r>
              <a:t>日本市場動向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188720"/>
            <a:ext cx="10515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1A1A2E"/>
                </a:solidFill>
                <a:latin typeface="Meiryo"/>
              </a:defRPr>
            </a:pPr>
            <a:r>
              <a:t>日本企業は2026年2月時点でAI投資と実装で米中に大きく後れを取っている。ビッグテックの7000億ドル投資に対し、日本企業の投資規模は桁違いに小さく、独自AIモデル開発でも存在感を示せていない。特にエージェント型AI、量子コンピューティング、AIコード生成などの最先端領域での遅れが顕著。カリフォルニア州やコロラド州のAI規制法は日本の法整備にも影響を与える可能性があり、グローバル展開する日本企業は複数地域の規制対応が必須に。エッジAI・オンデバイスAI領域では、日本の電機メーカーやモバイルチップメーカーが強みを発揮できる可能性があり、ここが突破口となる。AI人材不足も深刻で、AI科学研究パートナー活用による生産性向上が急務。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005B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9144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FFFFFF"/>
                </a:solidFill>
                <a:latin typeface="Meiryo"/>
              </a:defRPr>
            </a:pPr>
            <a:r>
              <a:t>インフォグラフィック</a:t>
            </a:r>
          </a:p>
        </p:txBody>
      </p:sp>
      <p:pic>
        <p:nvPicPr>
          <p:cNvPr id="4" name="Picture 3" descr="company_ba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005840"/>
            <a:ext cx="5760720" cy="2743200"/>
          </a:xfrm>
          <a:prstGeom prst="rect">
            <a:avLst/>
          </a:prstGeom>
        </p:spPr>
      </p:pic>
      <p:pic>
        <p:nvPicPr>
          <p:cNvPr id="5" name="Picture 4" descr="wordcl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7920" y="1005840"/>
            <a:ext cx="5760720" cy="2743200"/>
          </a:xfrm>
          <a:prstGeom prst="rect">
            <a:avLst/>
          </a:prstGeom>
        </p:spPr>
      </p:pic>
      <p:pic>
        <p:nvPicPr>
          <p:cNvPr id="6" name="Picture 5" descr="category_rada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74320" y="3931920"/>
            <a:ext cx="5760720" cy="2743200"/>
          </a:xfrm>
          <a:prstGeom prst="rect">
            <a:avLst/>
          </a:prstGeom>
        </p:spPr>
      </p:pic>
      <p:pic>
        <p:nvPicPr>
          <p:cNvPr id="7" name="Picture 6" descr="importance_timelin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217920" y="3931920"/>
            <a:ext cx="5760720" cy="27432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005B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9144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FFFFFF"/>
                </a:solidFill>
                <a:latin typeface="Meiryo"/>
              </a:defRPr>
            </a:pPr>
            <a:r>
              <a:t>Sources (引用元一覧)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097280"/>
            <a:ext cx="1051560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4A4A6A"/>
                </a:solidFill>
                <a:latin typeface="Meiryo"/>
              </a:defRPr>
            </a:pPr>
          </a:p>
          <a:p>
            <a:pPr>
              <a:spcBef>
                <a:spcPts val="300"/>
              </a:spcBef>
              <a:defRPr sz="1100" b="0">
                <a:solidFill>
                  <a:srgbClr val="4A4A6A"/>
                </a:solidFill>
                <a:latin typeface="Meiryo"/>
              </a:defRPr>
            </a:pPr>
            <a:r>
              <a:t>MIT Technology Review: https://www.technologyreview.com/2026/01/12/1130027/generative-coding-ai-software-2026-breakthrough-technology</a:t>
            </a:r>
          </a:p>
          <a:p>
            <a:pPr>
              <a:spcBef>
                <a:spcPts val="300"/>
              </a:spcBef>
              <a:defRPr sz="1100" b="0">
                <a:solidFill>
                  <a:srgbClr val="4A4A6A"/>
                </a:solidFill>
                <a:latin typeface="Meiryo"/>
              </a:defRPr>
            </a:pPr>
            <a:r>
              <a:t>LLM Stats: https://llm-stats.com/llm-updates</a:t>
            </a:r>
          </a:p>
          <a:p>
            <a:pPr>
              <a:spcBef>
                <a:spcPts val="300"/>
              </a:spcBef>
              <a:defRPr sz="1100" b="0">
                <a:solidFill>
                  <a:srgbClr val="4A4A6A"/>
                </a:solidFill>
                <a:latin typeface="Meiryo"/>
              </a:defRPr>
            </a:pPr>
            <a:r>
              <a:t>Axios: https://www.axios.com/2026/02/06/amazon-microsoft-meta-ai-investment</a:t>
            </a:r>
          </a:p>
          <a:p>
            <a:pPr>
              <a:spcBef>
                <a:spcPts val="300"/>
              </a:spcBef>
              <a:defRPr sz="1100" b="0">
                <a:solidFill>
                  <a:srgbClr val="4A4A6A"/>
                </a:solidFill>
                <a:latin typeface="Meiryo"/>
              </a:defRPr>
            </a:pPr>
            <a:r>
              <a:t>National Law Review: https://natlawreview.com/article/2026-outlook-artificial-intelligence</a:t>
            </a:r>
          </a:p>
          <a:p>
            <a:pPr>
              <a:spcBef>
                <a:spcPts val="300"/>
              </a:spcBef>
              <a:defRPr sz="1100" b="0">
                <a:solidFill>
                  <a:srgbClr val="4A4A6A"/>
                </a:solidFill>
                <a:latin typeface="Meiryo"/>
              </a:defRPr>
            </a:pPr>
            <a:r>
              <a:t>Tech Startups: https://techstartups.com/2026/02/05/top-startup-and-tech-funding-news-february-5-2025/</a:t>
            </a:r>
          </a:p>
          <a:p>
            <a:pPr>
              <a:spcBef>
                <a:spcPts val="300"/>
              </a:spcBef>
              <a:defRPr sz="1100" b="0">
                <a:solidFill>
                  <a:srgbClr val="4A4A6A"/>
                </a:solidFill>
                <a:latin typeface="Meiryo"/>
              </a:defRPr>
            </a:pPr>
            <a:r>
              <a:t>MIT Sloan Management Review: https://sloanreview.mit.edu/article/five-trends-in-ai-and-data-science-for-2026/</a:t>
            </a:r>
          </a:p>
          <a:p>
            <a:pPr>
              <a:spcBef>
                <a:spcPts val="300"/>
              </a:spcBef>
              <a:defRPr sz="1100" b="0">
                <a:solidFill>
                  <a:srgbClr val="4A4A6A"/>
                </a:solidFill>
                <a:latin typeface="Meiryo"/>
              </a:defRPr>
            </a:pPr>
            <a:r>
              <a:t>TechCrunch: https://techcrunch.com/2026/02/05/openai-launches-new-agentic-coding-model-only-minutes-after-anthropic-drops-its-own/</a:t>
            </a:r>
          </a:p>
          <a:p>
            <a:pPr>
              <a:spcBef>
                <a:spcPts val="300"/>
              </a:spcBef>
              <a:defRPr sz="1100" b="0">
                <a:solidFill>
                  <a:srgbClr val="4A4A6A"/>
                </a:solidFill>
                <a:latin typeface="Meiryo"/>
              </a:defRPr>
            </a:pPr>
            <a:r>
              <a:t>MIT Technology Review: https://www.technologyreview.com/2026/01/05/1130662/whats-next-for-ai-in-2026/</a:t>
            </a:r>
          </a:p>
          <a:p>
            <a:pPr>
              <a:spcBef>
                <a:spcPts val="300"/>
              </a:spcBef>
              <a:defRPr sz="1100" b="0">
                <a:solidFill>
                  <a:srgbClr val="4A4A6A"/>
                </a:solidFill>
                <a:latin typeface="Meiryo"/>
              </a:defRPr>
            </a:pPr>
            <a:r>
              <a:t>CNN Business: https://www.cnn.com/2026/02/05/tech/anthropic-opus-update-software-stocks</a:t>
            </a:r>
          </a:p>
          <a:p>
            <a:pPr>
              <a:spcBef>
                <a:spcPts val="300"/>
              </a:spcBef>
              <a:defRPr sz="1100" b="0">
                <a:solidFill>
                  <a:srgbClr val="4A4A6A"/>
                </a:solidFill>
                <a:latin typeface="Meiryo"/>
              </a:defRPr>
            </a:pPr>
            <a:r>
              <a:t>IBM: https://www.ibm.com/think/news/ai-tech-trends-predictions-2026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640080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4A4A6A"/>
                </a:solidFill>
                <a:latin typeface="Meiryo"/>
              </a:defRPr>
            </a:pPr>
            <a:r>
              <a:t>AI News Daily Deck - Generated by Claude Code | 情報の正確性は各ソースをご確認ください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