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1097280"/>
          </a:xfrm>
          <a:prstGeom prst="rect">
            <a:avLst/>
          </a:prstGeom>
          <a:noFill/>
        </p:spPr>
        <p:txBody>
          <a:bodyPr wrap="square">
            <a:spAutoFit/>
          </a:bodyPr>
          <a:lstStyle/>
          <a:p>
            <a:pPr algn="l">
              <a:defRPr sz="5200" b="1">
                <a:solidFill>
                  <a:srgbClr val="005BAB"/>
                </a:solidFill>
                <a:latin typeface="Meiryo"/>
              </a:defRPr>
            </a:pPr>
            <a:r>
              <a:t>AI News Daily Deck</a:t>
            </a:r>
          </a:p>
        </p:txBody>
      </p:sp>
      <p:sp>
        <p:nvSpPr>
          <p:cNvPr id="4" name="Rectangle 3"/>
          <p:cNvSpPr/>
          <p:nvPr/>
        </p:nvSpPr>
        <p:spPr>
          <a:xfrm>
            <a:off x="914400" y="3200400"/>
            <a:ext cx="2743200" cy="4572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4572000" cy="640080"/>
          </a:xfrm>
          <a:prstGeom prst="rect">
            <a:avLst/>
          </a:prstGeom>
          <a:noFill/>
        </p:spPr>
        <p:txBody>
          <a:bodyPr wrap="square">
            <a:spAutoFit/>
          </a:bodyPr>
          <a:lstStyle/>
          <a:p>
            <a:pPr algn="l">
              <a:defRPr sz="2600" b="0">
                <a:solidFill>
                  <a:srgbClr val="6C757D"/>
                </a:solidFill>
                <a:latin typeface="Meiryo"/>
              </a:defRPr>
            </a:pPr>
            <a:r>
              <a:t>2026-09-05</a:t>
            </a:r>
          </a:p>
        </p:txBody>
      </p:sp>
      <p:sp>
        <p:nvSpPr>
          <p:cNvPr id="6" name="Rectangle 5"/>
          <p:cNvSpPr/>
          <p:nvPr/>
        </p:nvSpPr>
        <p:spPr>
          <a:xfrm>
            <a:off x="91440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4754880"/>
            <a:ext cx="274320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864608"/>
            <a:ext cx="2377440" cy="502920"/>
          </a:xfrm>
          <a:prstGeom prst="rect">
            <a:avLst/>
          </a:prstGeom>
          <a:noFill/>
        </p:spPr>
        <p:txBody>
          <a:bodyPr wrap="none">
            <a:spAutoFit/>
          </a:bodyPr>
          <a:lstStyle/>
          <a:p>
            <a:r>
              <a:rPr sz="3000" b="1">
                <a:solidFill>
                  <a:srgbClr val="005BAB"/>
                </a:solidFill>
                <a:latin typeface="Meiryo"/>
              </a:rPr>
              <a:t>9</a:t>
            </a:r>
            <a:r>
              <a:rPr sz="1400">
                <a:solidFill>
                  <a:srgbClr val="6C757D"/>
                </a:solidFill>
                <a:latin typeface="Meiryo"/>
              </a:rPr>
              <a:t> 件</a:t>
            </a:r>
          </a:p>
        </p:txBody>
      </p:sp>
      <p:sp>
        <p:nvSpPr>
          <p:cNvPr id="9" name="TextBox 8"/>
          <p:cNvSpPr txBox="1"/>
          <p:nvPr/>
        </p:nvSpPr>
        <p:spPr>
          <a:xfrm>
            <a:off x="1097280" y="5394960"/>
            <a:ext cx="2377440" cy="274320"/>
          </a:xfrm>
          <a:prstGeom prst="rect">
            <a:avLst/>
          </a:prstGeom>
          <a:noFill/>
        </p:spPr>
        <p:txBody>
          <a:bodyPr wrap="square">
            <a:spAutoFit/>
          </a:bodyPr>
          <a:lstStyle/>
          <a:p>
            <a:pPr algn="l">
              <a:defRPr sz="1100" b="0">
                <a:solidFill>
                  <a:srgbClr val="6C757D"/>
                </a:solidFill>
                <a:latin typeface="Meiryo"/>
              </a:defRPr>
            </a:pPr>
            <a:r>
              <a:t>Total News</a:t>
            </a:r>
          </a:p>
        </p:txBody>
      </p:sp>
      <p:sp>
        <p:nvSpPr>
          <p:cNvPr id="10" name="Rectangle 9"/>
          <p:cNvSpPr/>
          <p:nvPr/>
        </p:nvSpPr>
        <p:spPr>
          <a:xfrm>
            <a:off x="402336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0" y="4754880"/>
            <a:ext cx="274320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4864608"/>
            <a:ext cx="2377440" cy="502920"/>
          </a:xfrm>
          <a:prstGeom prst="rect">
            <a:avLst/>
          </a:prstGeom>
          <a:noFill/>
        </p:spPr>
        <p:txBody>
          <a:bodyPr wrap="none">
            <a:spAutoFit/>
          </a:bodyPr>
          <a:lstStyle/>
          <a:p>
            <a:r>
              <a:rPr sz="3000" b="1">
                <a:solidFill>
                  <a:srgbClr val="005BAB"/>
                </a:solidFill>
                <a:latin typeface="Meiryo"/>
              </a:rPr>
              <a:t>5</a:t>
            </a:r>
            <a:r>
              <a:rPr sz="1400">
                <a:solidFill>
                  <a:srgbClr val="6C757D"/>
                </a:solidFill>
                <a:latin typeface="Meiryo"/>
              </a:rPr>
              <a:t> 件</a:t>
            </a:r>
          </a:p>
        </p:txBody>
      </p:sp>
      <p:sp>
        <p:nvSpPr>
          <p:cNvPr id="13" name="TextBox 12"/>
          <p:cNvSpPr txBox="1"/>
          <p:nvPr/>
        </p:nvSpPr>
        <p:spPr>
          <a:xfrm>
            <a:off x="4206240" y="5394960"/>
            <a:ext cx="237744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4" name="Rectangle 13"/>
          <p:cNvSpPr/>
          <p:nvPr/>
        </p:nvSpPr>
        <p:spPr>
          <a:xfrm>
            <a:off x="713232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0" y="4754880"/>
            <a:ext cx="274320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4864608"/>
            <a:ext cx="2377440" cy="502920"/>
          </a:xfrm>
          <a:prstGeom prst="rect">
            <a:avLst/>
          </a:prstGeom>
          <a:noFill/>
        </p:spPr>
        <p:txBody>
          <a:bodyPr wrap="none">
            <a:spAutoFit/>
          </a:bodyPr>
          <a:lstStyle/>
          <a:p>
            <a:r>
              <a:rPr sz="3000" b="1">
                <a:solidFill>
                  <a:srgbClr val="005BAB"/>
                </a:solidFill>
                <a:latin typeface="Meiryo"/>
              </a:rPr>
              <a:t>5</a:t>
            </a:r>
            <a:r>
              <a:rPr sz="1400">
                <a:solidFill>
                  <a:srgbClr val="6C757D"/>
                </a:solidFill>
                <a:latin typeface="Meiryo"/>
              </a:rPr>
              <a:t> 社</a:t>
            </a:r>
          </a:p>
        </p:txBody>
      </p:sp>
      <p:sp>
        <p:nvSpPr>
          <p:cNvPr id="17" name="TextBox 16"/>
          <p:cNvSpPr txBox="1"/>
          <p:nvPr/>
        </p:nvSpPr>
        <p:spPr>
          <a:xfrm>
            <a:off x="7315200" y="5394960"/>
            <a:ext cx="237744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18" name="Rectangle 17"/>
          <p:cNvSpPr/>
          <p:nvPr/>
        </p:nvSpPr>
        <p:spPr>
          <a:xfrm>
            <a:off x="0" y="6803136"/>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Executive Summary</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2026-09-05  |  Page 1</a:t>
            </a:r>
          </a:p>
        </p:txBody>
      </p:sp>
      <p:sp>
        <p:nvSpPr>
          <p:cNvPr id="6" name="Rounded Rectangle 5"/>
          <p:cNvSpPr/>
          <p:nvPr/>
        </p:nvSpPr>
        <p:spPr>
          <a:xfrm>
            <a:off x="6400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960120"/>
            <a:ext cx="246888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051560"/>
            <a:ext cx="2194560" cy="274320"/>
          </a:xfrm>
          <a:prstGeom prst="rect">
            <a:avLst/>
          </a:prstGeom>
          <a:noFill/>
        </p:spPr>
        <p:txBody>
          <a:bodyPr wrap="square">
            <a:spAutoFit/>
          </a:bodyPr>
          <a:lstStyle/>
          <a:p>
            <a:pPr algn="l">
              <a:defRPr sz="1100" b="0">
                <a:solidFill>
                  <a:srgbClr val="6C757D"/>
                </a:solidFill>
                <a:latin typeface="Meiryo"/>
              </a:defRPr>
            </a:pPr>
            <a:r>
              <a:t>Total</a:t>
            </a:r>
          </a:p>
        </p:txBody>
      </p:sp>
      <p:sp>
        <p:nvSpPr>
          <p:cNvPr id="9" name="TextBox 8"/>
          <p:cNvSpPr txBox="1"/>
          <p:nvPr/>
        </p:nvSpPr>
        <p:spPr>
          <a:xfrm>
            <a:off x="777240" y="1307592"/>
            <a:ext cx="2194560" cy="548640"/>
          </a:xfrm>
          <a:prstGeom prst="rect">
            <a:avLst/>
          </a:prstGeom>
          <a:noFill/>
        </p:spPr>
        <p:txBody>
          <a:bodyPr wrap="square">
            <a:spAutoFit/>
          </a:bodyPr>
          <a:lstStyle/>
          <a:p>
            <a:r>
              <a:rPr sz="2800" b="1">
                <a:solidFill>
                  <a:srgbClr val="005BAB"/>
                </a:solidFill>
                <a:latin typeface="Meiryo"/>
              </a:rPr>
              <a:t>9</a:t>
            </a:r>
            <a:r>
              <a:rPr sz="1400">
                <a:solidFill>
                  <a:srgbClr val="6C757D"/>
                </a:solidFill>
                <a:latin typeface="Meiryo"/>
              </a:rPr>
              <a:t> 件</a:t>
            </a:r>
          </a:p>
        </p:txBody>
      </p:sp>
      <p:sp>
        <p:nvSpPr>
          <p:cNvPr id="10" name="Rounded Rectangle 9"/>
          <p:cNvSpPr/>
          <p:nvPr/>
        </p:nvSpPr>
        <p:spPr>
          <a:xfrm>
            <a:off x="33832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83280" y="960120"/>
            <a:ext cx="246888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1051560"/>
            <a:ext cx="2194560" cy="274320"/>
          </a:xfrm>
          <a:prstGeom prst="rect">
            <a:avLst/>
          </a:prstGeom>
          <a:noFill/>
        </p:spPr>
        <p:txBody>
          <a:bodyPr wrap="square">
            <a:spAutoFit/>
          </a:bodyPr>
          <a:lstStyle/>
          <a:p>
            <a:pPr algn="l">
              <a:defRPr sz="1100" b="0">
                <a:solidFill>
                  <a:srgbClr val="6C757D"/>
                </a:solidFill>
                <a:latin typeface="Meiryo"/>
              </a:defRPr>
            </a:pPr>
            <a:r>
              <a:t>Top Company</a:t>
            </a:r>
          </a:p>
        </p:txBody>
      </p:sp>
      <p:sp>
        <p:nvSpPr>
          <p:cNvPr id="13" name="TextBox 12"/>
          <p:cNvSpPr txBox="1"/>
          <p:nvPr/>
        </p:nvSpPr>
        <p:spPr>
          <a:xfrm>
            <a:off x="3520440" y="1307592"/>
            <a:ext cx="2194560" cy="548640"/>
          </a:xfrm>
          <a:prstGeom prst="rect">
            <a:avLst/>
          </a:prstGeom>
          <a:noFill/>
        </p:spPr>
        <p:txBody>
          <a:bodyPr wrap="square">
            <a:spAutoFit/>
          </a:bodyPr>
          <a:lstStyle/>
          <a:p>
            <a:r>
              <a:rPr sz="2800" b="1">
                <a:solidFill>
                  <a:srgbClr val="005BAB"/>
                </a:solidFill>
                <a:latin typeface="Meiryo"/>
              </a:rPr>
              <a:t>Other</a:t>
            </a:r>
            <a:r>
              <a:rPr sz="1400">
                <a:solidFill>
                  <a:srgbClr val="6C757D"/>
                </a:solidFill>
                <a:latin typeface="Meiryo"/>
              </a:rPr>
              <a:t> 4件</a:t>
            </a:r>
          </a:p>
        </p:txBody>
      </p:sp>
      <p:sp>
        <p:nvSpPr>
          <p:cNvPr id="14" name="Rounded Rectangle 13"/>
          <p:cNvSpPr/>
          <p:nvPr/>
        </p:nvSpPr>
        <p:spPr>
          <a:xfrm>
            <a:off x="61264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960120"/>
            <a:ext cx="246888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1051560"/>
            <a:ext cx="219456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7" name="TextBox 16"/>
          <p:cNvSpPr txBox="1"/>
          <p:nvPr/>
        </p:nvSpPr>
        <p:spPr>
          <a:xfrm>
            <a:off x="6263640" y="1307592"/>
            <a:ext cx="2194560" cy="548640"/>
          </a:xfrm>
          <a:prstGeom prst="rect">
            <a:avLst/>
          </a:prstGeom>
          <a:noFill/>
        </p:spPr>
        <p:txBody>
          <a:bodyPr wrap="square">
            <a:spAutoFit/>
          </a:bodyPr>
          <a:lstStyle/>
          <a:p>
            <a:r>
              <a:rPr sz="2800" b="1">
                <a:solidFill>
                  <a:srgbClr val="005BAB"/>
                </a:solidFill>
                <a:latin typeface="Meiryo"/>
              </a:rPr>
              <a:t>5</a:t>
            </a:r>
            <a:r>
              <a:rPr sz="1400">
                <a:solidFill>
                  <a:srgbClr val="6C757D"/>
                </a:solidFill>
                <a:latin typeface="Meiryo"/>
              </a:rPr>
              <a:t> 件</a:t>
            </a:r>
          </a:p>
        </p:txBody>
      </p:sp>
      <p:sp>
        <p:nvSpPr>
          <p:cNvPr id="18" name="Rounded Rectangle 17"/>
          <p:cNvSpPr/>
          <p:nvPr/>
        </p:nvSpPr>
        <p:spPr>
          <a:xfrm>
            <a:off x="88696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69680" y="960120"/>
            <a:ext cx="2468880" cy="36576"/>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06840" y="1051560"/>
            <a:ext cx="219456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21" name="TextBox 20"/>
          <p:cNvSpPr txBox="1"/>
          <p:nvPr/>
        </p:nvSpPr>
        <p:spPr>
          <a:xfrm>
            <a:off x="9006840" y="1307592"/>
            <a:ext cx="2194560" cy="548640"/>
          </a:xfrm>
          <a:prstGeom prst="rect">
            <a:avLst/>
          </a:prstGeom>
          <a:noFill/>
        </p:spPr>
        <p:txBody>
          <a:bodyPr wrap="square">
            <a:spAutoFit/>
          </a:bodyPr>
          <a:lstStyle/>
          <a:p>
            <a:r>
              <a:rPr sz="2800" b="1">
                <a:solidFill>
                  <a:srgbClr val="005BAB"/>
                </a:solidFill>
                <a:latin typeface="Meiryo"/>
              </a:rPr>
              <a:t>5</a:t>
            </a:r>
            <a:r>
              <a:rPr sz="1400">
                <a:solidFill>
                  <a:srgbClr val="6C757D"/>
                </a:solidFill>
                <a:latin typeface="Meiryo"/>
              </a:rPr>
              <a:t> 社</a:t>
            </a:r>
          </a:p>
        </p:txBody>
      </p:sp>
      <p:sp>
        <p:nvSpPr>
          <p:cNvPr id="22" name="TextBox 21"/>
          <p:cNvSpPr txBox="1"/>
          <p:nvPr/>
        </p:nvSpPr>
        <p:spPr>
          <a:xfrm>
            <a:off x="548640" y="2331720"/>
            <a:ext cx="2743200" cy="320040"/>
          </a:xfrm>
          <a:prstGeom prst="rect">
            <a:avLst/>
          </a:prstGeom>
          <a:noFill/>
        </p:spPr>
        <p:txBody>
          <a:bodyPr wrap="square">
            <a:spAutoFit/>
          </a:bodyPr>
          <a:lstStyle/>
          <a:p>
            <a:pPr algn="l">
              <a:defRPr sz="1400" b="1">
                <a:solidFill>
                  <a:srgbClr val="005BAB"/>
                </a:solidFill>
                <a:latin typeface="Meiryo"/>
              </a:defRPr>
            </a:pPr>
            <a:r>
              <a:t>KEY TAKEAWAYS</a:t>
            </a:r>
          </a:p>
        </p:txBody>
      </p:sp>
      <p:sp>
        <p:nvSpPr>
          <p:cNvPr id="23" name="Rectangle 22"/>
          <p:cNvSpPr/>
          <p:nvPr/>
        </p:nvSpPr>
        <p:spPr>
          <a:xfrm>
            <a:off x="548640" y="2624328"/>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274320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274320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5800" y="28529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285292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28" name="TextBox 27"/>
          <p:cNvSpPr txBox="1"/>
          <p:nvPr/>
        </p:nvSpPr>
        <p:spPr>
          <a:xfrm>
            <a:off x="1188720" y="2816352"/>
            <a:ext cx="10271455" cy="548640"/>
          </a:xfrm>
          <a:prstGeom prst="rect">
            <a:avLst/>
          </a:prstGeom>
          <a:noFill/>
        </p:spPr>
        <p:txBody>
          <a:bodyPr wrap="square">
            <a:spAutoFit/>
          </a:bodyPr>
          <a:lstStyle/>
          <a:p>
            <a:pPr algn="l">
              <a:defRPr sz="1200" b="0">
                <a:solidFill>
                  <a:srgbClr val="1A1A2E"/>
                </a:solidFill>
                <a:latin typeface="Meiryo"/>
              </a:defRPr>
            </a:pPr>
            <a:r>
              <a:t>OpenAIがGPT-6 Astraを発表、FrontierMath Tier4で98%、ARC-AGI-3で99.9%を記録しAGI論争を再燃させたが、価格やコンテキスト長は前モデルからの据え置きも目立つ</a:t>
            </a:r>
          </a:p>
        </p:txBody>
      </p:sp>
      <p:sp>
        <p:nvSpPr>
          <p:cNvPr id="29" name="Rectangle 28"/>
          <p:cNvSpPr/>
          <p:nvPr/>
        </p:nvSpPr>
        <p:spPr>
          <a:xfrm>
            <a:off x="548640" y="352044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3520440"/>
            <a:ext cx="54864" cy="68580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85800" y="363016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363016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33" name="TextBox 32"/>
          <p:cNvSpPr txBox="1"/>
          <p:nvPr/>
        </p:nvSpPr>
        <p:spPr>
          <a:xfrm>
            <a:off x="1188720" y="3593592"/>
            <a:ext cx="10271455" cy="548640"/>
          </a:xfrm>
          <a:prstGeom prst="rect">
            <a:avLst/>
          </a:prstGeom>
          <a:noFill/>
        </p:spPr>
        <p:txBody>
          <a:bodyPr wrap="square">
            <a:spAutoFit/>
          </a:bodyPr>
          <a:lstStyle/>
          <a:p>
            <a:pPr algn="l">
              <a:defRPr sz="1200" b="0">
                <a:solidFill>
                  <a:srgbClr val="1A1A2E"/>
                </a:solidFill>
                <a:latin typeface="Meiryo"/>
              </a:defRPr>
            </a:pPr>
            <a:r>
              <a:t>Metaは29州との18億ドル未成年保護和解を経て法的リスクを整理し、自律型消費者エージェント「Hatch」を数週間以内に投入する構え</a:t>
            </a:r>
          </a:p>
        </p:txBody>
      </p:sp>
      <p:sp>
        <p:nvSpPr>
          <p:cNvPr id="34" name="Rectangle 33"/>
          <p:cNvSpPr/>
          <p:nvPr/>
        </p:nvSpPr>
        <p:spPr>
          <a:xfrm>
            <a:off x="548640" y="429768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297680"/>
            <a:ext cx="54864" cy="68580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5800" y="4407408"/>
            <a:ext cx="384048" cy="384048"/>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440740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38" name="TextBox 37"/>
          <p:cNvSpPr txBox="1"/>
          <p:nvPr/>
        </p:nvSpPr>
        <p:spPr>
          <a:xfrm>
            <a:off x="1188720" y="4370832"/>
            <a:ext cx="10271455" cy="548640"/>
          </a:xfrm>
          <a:prstGeom prst="rect">
            <a:avLst/>
          </a:prstGeom>
          <a:noFill/>
        </p:spPr>
        <p:txBody>
          <a:bodyPr wrap="square">
            <a:spAutoFit/>
          </a:bodyPr>
          <a:lstStyle/>
          <a:p>
            <a:pPr algn="l">
              <a:defRPr sz="1200" b="0">
                <a:solidFill>
                  <a:srgbClr val="1A1A2E"/>
                </a:solidFill>
                <a:latin typeface="Meiryo"/>
              </a:defRPr>
            </a:pPr>
            <a:r>
              <a:t>Sony Music PublishingとWarner Chappellがトレント経由の楽曲無断学習を理由にAnthropicを提訴、創業者2名を個人として名指しし最大1曲15万ドルの賠償を要求</a:t>
            </a:r>
          </a:p>
        </p:txBody>
      </p:sp>
      <p:sp>
        <p:nvSpPr>
          <p:cNvPr id="39" name="Rectangle 38"/>
          <p:cNvSpPr/>
          <p:nvPr/>
        </p:nvSpPr>
        <p:spPr>
          <a:xfrm>
            <a:off x="548640" y="507492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 y="5074920"/>
            <a:ext cx="54864" cy="68580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85800" y="5184648"/>
            <a:ext cx="384048" cy="384048"/>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184648"/>
            <a:ext cx="384048" cy="384048"/>
          </a:xfrm>
          <a:prstGeom prst="rect">
            <a:avLst/>
          </a:prstGeom>
          <a:noFill/>
        </p:spPr>
        <p:txBody>
          <a:bodyPr wrap="square" anchor="ctr">
            <a:spAutoFit/>
          </a:bodyPr>
          <a:lstStyle/>
          <a:p>
            <a:pPr algn="ctr">
              <a:defRPr sz="1400" b="1">
                <a:solidFill>
                  <a:srgbClr val="FFFFFF"/>
                </a:solidFill>
                <a:latin typeface="Meiryo"/>
              </a:defRPr>
            </a:pPr>
            <a:r>
              <a:t>4</a:t>
            </a:r>
          </a:p>
        </p:txBody>
      </p:sp>
      <p:sp>
        <p:nvSpPr>
          <p:cNvPr id="43" name="TextBox 42"/>
          <p:cNvSpPr txBox="1"/>
          <p:nvPr/>
        </p:nvSpPr>
        <p:spPr>
          <a:xfrm>
            <a:off x="1188720" y="5148072"/>
            <a:ext cx="10271455" cy="548640"/>
          </a:xfrm>
          <a:prstGeom prst="rect">
            <a:avLst/>
          </a:prstGeom>
          <a:noFill/>
        </p:spPr>
        <p:txBody>
          <a:bodyPr wrap="square">
            <a:spAutoFit/>
          </a:bodyPr>
          <a:lstStyle/>
          <a:p>
            <a:pPr algn="l">
              <a:defRPr sz="1200" b="0">
                <a:solidFill>
                  <a:srgbClr val="1A1A2E"/>
                </a:solidFill>
                <a:latin typeface="Meiryo"/>
              </a:defRPr>
            </a:pPr>
            <a:r>
              <a:t>データセンター運営企業Crusoeが評価額300億ドルで30億ドル超を調達、Jane Streetとの130億ドル契約が起爆剤となりAIインフラ投資の資本集中が加速</a:t>
            </a:r>
          </a:p>
        </p:txBody>
      </p:sp>
      <p:sp>
        <p:nvSpPr>
          <p:cNvPr id="44" name="Rectangle 43"/>
          <p:cNvSpPr/>
          <p:nvPr/>
        </p:nvSpPr>
        <p:spPr>
          <a:xfrm>
            <a:off x="548640" y="585216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 y="585216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85800" y="59618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5961888"/>
            <a:ext cx="384048" cy="384048"/>
          </a:xfrm>
          <a:prstGeom prst="rect">
            <a:avLst/>
          </a:prstGeom>
          <a:noFill/>
        </p:spPr>
        <p:txBody>
          <a:bodyPr wrap="square" anchor="ctr">
            <a:spAutoFit/>
          </a:bodyPr>
          <a:lstStyle/>
          <a:p>
            <a:pPr algn="ctr">
              <a:defRPr sz="1400" b="1">
                <a:solidFill>
                  <a:srgbClr val="FFFFFF"/>
                </a:solidFill>
                <a:latin typeface="Meiryo"/>
              </a:defRPr>
            </a:pPr>
            <a:r>
              <a:t>5</a:t>
            </a:r>
          </a:p>
        </p:txBody>
      </p:sp>
      <p:sp>
        <p:nvSpPr>
          <p:cNvPr id="48" name="TextBox 47"/>
          <p:cNvSpPr txBox="1"/>
          <p:nvPr/>
        </p:nvSpPr>
        <p:spPr>
          <a:xfrm>
            <a:off x="1188720" y="5925312"/>
            <a:ext cx="10271455" cy="548640"/>
          </a:xfrm>
          <a:prstGeom prst="rect">
            <a:avLst/>
          </a:prstGeom>
          <a:noFill/>
        </p:spPr>
        <p:txBody>
          <a:bodyPr wrap="square">
            <a:spAutoFit/>
          </a:bodyPr>
          <a:lstStyle/>
          <a:p>
            <a:pPr algn="l">
              <a:defRPr sz="1200" b="0">
                <a:solidFill>
                  <a:srgbClr val="1A1A2E"/>
                </a:solidFill>
                <a:latin typeface="Meiryo"/>
              </a:defRPr>
            </a:pPr>
            <a:r>
              <a:t>米商務省が中国企業による海外データセンター経由の遠隔GPUアクセスを封じる新規制を9月中にも業界共有へ、輸出管理の焦点が「半導体本体」から「クラウド経由の計算力」へ移行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TODAY'S HIGHLIGHT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2026-09-05  |  Page 2</a:t>
            </a:r>
          </a:p>
        </p:txBody>
      </p:sp>
      <p:sp>
        <p:nvSpPr>
          <p:cNvPr id="6" name="TextBox 5"/>
          <p:cNvSpPr txBox="1"/>
          <p:nvPr/>
        </p:nvSpPr>
        <p:spPr>
          <a:xfrm>
            <a:off x="548640" y="960120"/>
            <a:ext cx="5303520" cy="731520"/>
          </a:xfrm>
          <a:prstGeom prst="rect">
            <a:avLst/>
          </a:prstGeom>
          <a:noFill/>
        </p:spPr>
        <p:txBody>
          <a:bodyPr wrap="square">
            <a:spAutoFit/>
          </a:bodyPr>
          <a:lstStyle/>
          <a:p>
            <a:pPr algn="l">
              <a:defRPr sz="2200" b="1">
                <a:solidFill>
                  <a:srgbClr val="1A1A2E"/>
                </a:solidFill>
                <a:latin typeface="Meiryo"/>
              </a:defRPr>
            </a:pPr>
            <a:r>
              <a:t>[UPDATE] OpenAI「GPT-6 Astra」発表、FrontierMath Tier4で98%・AGI到達論争が再燃</a:t>
            </a:r>
          </a:p>
        </p:txBody>
      </p:sp>
      <p:sp>
        <p:nvSpPr>
          <p:cNvPr id="7" name="Rounded Rectangle 6"/>
          <p:cNvSpPr/>
          <p:nvPr/>
        </p:nvSpPr>
        <p:spPr>
          <a:xfrm>
            <a:off x="548640" y="1554480"/>
            <a:ext cx="1005840" cy="256032"/>
          </a:xfrm>
          <a:prstGeom prst="round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latin typeface="Meiryo"/>
              </a:defRPr>
            </a:pPr>
            <a:r>
              <a:t>UPDATE</a:t>
            </a:r>
          </a:p>
        </p:txBody>
      </p:sp>
      <p:sp>
        <p:nvSpPr>
          <p:cNvPr id="8" name="TextBox 7"/>
          <p:cNvSpPr txBox="1"/>
          <p:nvPr/>
        </p:nvSpPr>
        <p:spPr>
          <a:xfrm>
            <a:off x="548640" y="1828800"/>
            <a:ext cx="5303520" cy="320040"/>
          </a:xfrm>
          <a:prstGeom prst="rect">
            <a:avLst/>
          </a:prstGeom>
          <a:noFill/>
        </p:spPr>
        <p:txBody>
          <a:bodyPr wrap="square">
            <a:spAutoFit/>
          </a:bodyPr>
          <a:lstStyle/>
          <a:p>
            <a:pPr algn="l">
              <a:defRPr sz="1200" b="0">
                <a:solidFill>
                  <a:srgbClr val="6C757D"/>
                </a:solidFill>
                <a:latin typeface="Meiryo"/>
              </a:defRPr>
            </a:pPr>
            <a:r>
              <a:t>OpenAI  |  LLM  |  ★★★★★</a:t>
            </a:r>
          </a:p>
        </p:txBody>
      </p:sp>
      <p:sp>
        <p:nvSpPr>
          <p:cNvPr id="9" name="Rounded Rectangle 8"/>
          <p:cNvSpPr/>
          <p:nvPr/>
        </p:nvSpPr>
        <p:spPr>
          <a:xfrm>
            <a:off x="548640" y="2057400"/>
            <a:ext cx="2743200" cy="109728"/>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2057400"/>
            <a:ext cx="2743200" cy="109728"/>
          </a:xfrm>
          <a:prstGeom prst="round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40280"/>
            <a:ext cx="5303520" cy="365760"/>
          </a:xfrm>
          <a:prstGeom prst="rect">
            <a:avLst/>
          </a:prstGeom>
          <a:noFill/>
        </p:spPr>
        <p:txBody>
          <a:bodyPr wrap="square">
            <a:spAutoFit/>
          </a:bodyPr>
          <a:lstStyle/>
          <a:p>
            <a:pPr algn="l">
              <a:defRPr sz="1100" b="1">
                <a:solidFill>
                  <a:srgbClr val="FF961C"/>
                </a:solidFill>
                <a:latin typeface="Meiryo"/>
              </a:defRPr>
            </a:pPr>
            <a:r>
              <a:t>&gt;&gt; 前日報道の「サイバーセキュリティ重大閾値到達」から一歩進み、正式リリースとベンチマーク数値（FrontierMath 98%、ARC-AGI-3 99.9%等）、AGI到達を巡るBrockman氏発言、展開スケジュールが新たに判明した。</a:t>
            </a:r>
          </a:p>
        </p:txBody>
      </p:sp>
      <p:sp>
        <p:nvSpPr>
          <p:cNvPr id="12" name="TextBox 11"/>
          <p:cNvSpPr txBox="1"/>
          <p:nvPr/>
        </p:nvSpPr>
        <p:spPr>
          <a:xfrm>
            <a:off x="548640" y="2651760"/>
            <a:ext cx="5303520" cy="1371600"/>
          </a:xfrm>
          <a:prstGeom prst="rect">
            <a:avLst/>
          </a:prstGeom>
          <a:noFill/>
        </p:spPr>
        <p:txBody>
          <a:bodyPr wrap="square">
            <a:spAutoFit/>
          </a:bodyPr>
          <a:lstStyle/>
          <a:p>
            <a:pPr algn="l">
              <a:defRPr sz="1200" b="0">
                <a:solidFill>
                  <a:srgbClr val="1A1A2E"/>
                </a:solidFill>
                <a:latin typeface="Meiryo"/>
              </a:defRPr>
            </a:pPr>
            <a:r>
              <a:t>OpenAIは2026年9月3日、新モデル「GPT-6 Astra」を発表した。FrontierMath Tier4で98%、ARC-AGI-3で99.9%、脆弱性発見能力を測るExploitBenchで100%を記録し、Greg Brockman社長は「世代を画する飛躍」でありAGI到来と見なされ得ると発言した。コンピュータ操作機能は従前比ほぼ2倍高速化し、ソフトウェア工学分野で過去最高性能を主張する。一方で同モデルは前日にサイバーセキュリティの「重大」閾値に初めて到達したと評価されており、未...</a:t>
            </a:r>
          </a:p>
        </p:txBody>
      </p:sp>
      <p:sp>
        <p:nvSpPr>
          <p:cNvPr id="13" name="Rectangle 12"/>
          <p:cNvSpPr/>
          <p:nvPr/>
        </p:nvSpPr>
        <p:spPr>
          <a:xfrm>
            <a:off x="548640" y="429768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429768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448056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480560"/>
            <a:ext cx="365760" cy="365760"/>
          </a:xfrm>
          <a:prstGeom prst="rect">
            <a:avLst/>
          </a:prstGeom>
          <a:noFill/>
        </p:spPr>
        <p:txBody>
          <a:bodyPr wrap="square" anchor="ctr">
            <a:spAutoFit/>
          </a:bodyPr>
          <a:lstStyle/>
          <a:p>
            <a:pPr algn="ctr">
              <a:defRPr sz="1300" b="1">
                <a:solidFill>
                  <a:srgbClr val="FFFFFF"/>
                </a:solidFill>
                <a:latin typeface="Meiryo"/>
              </a:defRPr>
            </a:pPr>
            <a:r>
              <a:t>I</a:t>
            </a:r>
          </a:p>
        </p:txBody>
      </p:sp>
      <p:sp>
        <p:nvSpPr>
          <p:cNvPr id="17" name="TextBox 16"/>
          <p:cNvSpPr txBox="1"/>
          <p:nvPr/>
        </p:nvSpPr>
        <p:spPr>
          <a:xfrm>
            <a:off x="1097280" y="4343400"/>
            <a:ext cx="4617720" cy="182880"/>
          </a:xfrm>
          <a:prstGeom prst="rect">
            <a:avLst/>
          </a:prstGeom>
          <a:noFill/>
        </p:spPr>
        <p:txBody>
          <a:bodyPr wrap="square">
            <a:spAutoFit/>
          </a:bodyPr>
          <a:lstStyle/>
          <a:p>
            <a:pPr algn="l">
              <a:defRPr sz="1000" b="1">
                <a:solidFill>
                  <a:srgbClr val="005BAB"/>
                </a:solidFill>
                <a:latin typeface="Meiryo"/>
              </a:defRPr>
            </a:pPr>
            <a:r>
              <a:t>Impact</a:t>
            </a:r>
          </a:p>
        </p:txBody>
      </p:sp>
      <p:sp>
        <p:nvSpPr>
          <p:cNvPr id="18" name="TextBox 17"/>
          <p:cNvSpPr txBox="1"/>
          <p:nvPr/>
        </p:nvSpPr>
        <p:spPr>
          <a:xfrm>
            <a:off x="1097280" y="4526280"/>
            <a:ext cx="4617720" cy="548640"/>
          </a:xfrm>
          <a:prstGeom prst="rect">
            <a:avLst/>
          </a:prstGeom>
          <a:noFill/>
        </p:spPr>
        <p:txBody>
          <a:bodyPr wrap="square">
            <a:spAutoFit/>
          </a:bodyPr>
          <a:lstStyle/>
          <a:p>
            <a:pPr algn="l">
              <a:defRPr sz="900" b="0">
                <a:solidFill>
                  <a:srgbClr val="1A1A2E"/>
                </a:solidFill>
                <a:latin typeface="Meiryo"/>
              </a:defRPr>
            </a:pPr>
            <a:r>
              <a:t>コーディング支援・自律エージェント市場でOpenAIの優位性が強化される可能性が高く、GitHub Copilot競合やエンタープライズ向けAIコーディングツール市場に直接的な影響が及ぶ。同時にサイバーセキュリティ企業やCISOにとっては、</a:t>
            </a:r>
          </a:p>
        </p:txBody>
      </p:sp>
      <p:sp>
        <p:nvSpPr>
          <p:cNvPr id="19" name="Rectangle 18"/>
          <p:cNvSpPr/>
          <p:nvPr/>
        </p:nvSpPr>
        <p:spPr>
          <a:xfrm>
            <a:off x="548640" y="525780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525780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544068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5440680"/>
            <a:ext cx="365760" cy="365760"/>
          </a:xfrm>
          <a:prstGeom prst="rect">
            <a:avLst/>
          </a:prstGeom>
          <a:noFill/>
        </p:spPr>
        <p:txBody>
          <a:bodyPr wrap="square" anchor="ctr">
            <a:spAutoFit/>
          </a:bodyPr>
          <a:lstStyle/>
          <a:p>
            <a:pPr algn="ctr">
              <a:defRPr sz="1300" b="1">
                <a:solidFill>
                  <a:srgbClr val="FFFFFF"/>
                </a:solidFill>
                <a:latin typeface="Meiryo"/>
              </a:defRPr>
            </a:pPr>
            <a:r>
              <a:t>O</a:t>
            </a:r>
          </a:p>
        </p:txBody>
      </p:sp>
      <p:sp>
        <p:nvSpPr>
          <p:cNvPr id="23" name="TextBox 22"/>
          <p:cNvSpPr txBox="1"/>
          <p:nvPr/>
        </p:nvSpPr>
        <p:spPr>
          <a:xfrm>
            <a:off x="1097280" y="5303520"/>
            <a:ext cx="4617720" cy="182880"/>
          </a:xfrm>
          <a:prstGeom prst="rect">
            <a:avLst/>
          </a:prstGeom>
          <a:noFill/>
        </p:spPr>
        <p:txBody>
          <a:bodyPr wrap="square">
            <a:spAutoFit/>
          </a:bodyPr>
          <a:lstStyle/>
          <a:p>
            <a:pPr algn="l">
              <a:defRPr sz="1000" b="1">
                <a:solidFill>
                  <a:srgbClr val="5BA4D9"/>
                </a:solidFill>
                <a:latin typeface="Meiryo"/>
              </a:defRPr>
            </a:pPr>
            <a:r>
              <a:t>Outlook</a:t>
            </a:r>
          </a:p>
        </p:txBody>
      </p:sp>
      <p:sp>
        <p:nvSpPr>
          <p:cNvPr id="24" name="TextBox 23"/>
          <p:cNvSpPr txBox="1"/>
          <p:nvPr/>
        </p:nvSpPr>
        <p:spPr>
          <a:xfrm>
            <a:off x="1097280" y="5486400"/>
            <a:ext cx="4617720" cy="548640"/>
          </a:xfrm>
          <a:prstGeom prst="rect">
            <a:avLst/>
          </a:prstGeom>
          <a:noFill/>
        </p:spPr>
        <p:txBody>
          <a:bodyPr wrap="square">
            <a:spAutoFit/>
          </a:bodyPr>
          <a:lstStyle/>
          <a:p>
            <a:pPr algn="l">
              <a:defRPr sz="900" b="0">
                <a:solidFill>
                  <a:srgbClr val="1A1A2E"/>
                </a:solidFill>
                <a:latin typeface="Meiryo"/>
              </a:defRPr>
            </a:pPr>
            <a:r>
              <a:t>2026年9月中にPlus・Pro・Business・Enterprise・API利用者へ順次展開される見通し。2026年第4四半期には競合のGoogle Gemini・Anthropic Claudeが対抗モデルを投入するとみられ、ベンチ</a:t>
            </a:r>
          </a:p>
        </p:txBody>
      </p:sp>
      <p:sp>
        <p:nvSpPr>
          <p:cNvPr id="25" name="Rectangle 24"/>
          <p:cNvSpPr/>
          <p:nvPr/>
        </p:nvSpPr>
        <p:spPr>
          <a:xfrm>
            <a:off x="548640" y="621792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621792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58368" y="640080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6400800"/>
            <a:ext cx="365760" cy="365760"/>
          </a:xfrm>
          <a:prstGeom prst="rect">
            <a:avLst/>
          </a:prstGeom>
          <a:noFill/>
        </p:spPr>
        <p:txBody>
          <a:bodyPr wrap="square" anchor="ctr">
            <a:spAutoFit/>
          </a:bodyPr>
          <a:lstStyle/>
          <a:p>
            <a:pPr algn="ctr">
              <a:defRPr sz="1300" b="1">
                <a:solidFill>
                  <a:srgbClr val="FFFFFF"/>
                </a:solidFill>
                <a:latin typeface="Meiryo"/>
              </a:defRPr>
            </a:pPr>
            <a:r>
              <a:t>R</a:t>
            </a:r>
          </a:p>
        </p:txBody>
      </p:sp>
      <p:sp>
        <p:nvSpPr>
          <p:cNvPr id="29" name="TextBox 28"/>
          <p:cNvSpPr txBox="1"/>
          <p:nvPr/>
        </p:nvSpPr>
        <p:spPr>
          <a:xfrm>
            <a:off x="1097280" y="6263640"/>
            <a:ext cx="4617720" cy="182880"/>
          </a:xfrm>
          <a:prstGeom prst="rect">
            <a:avLst/>
          </a:prstGeom>
          <a:noFill/>
        </p:spPr>
        <p:txBody>
          <a:bodyPr wrap="square">
            <a:spAutoFit/>
          </a:bodyPr>
          <a:lstStyle/>
          <a:p>
            <a:pPr algn="l">
              <a:defRPr sz="1000" b="1">
                <a:solidFill>
                  <a:srgbClr val="FF961C"/>
                </a:solidFill>
                <a:latin typeface="Meiryo"/>
              </a:defRPr>
            </a:pPr>
            <a:r>
              <a:t>Risks</a:t>
            </a:r>
          </a:p>
        </p:txBody>
      </p:sp>
      <p:sp>
        <p:nvSpPr>
          <p:cNvPr id="30" name="TextBox 29"/>
          <p:cNvSpPr txBox="1"/>
          <p:nvPr/>
        </p:nvSpPr>
        <p:spPr>
          <a:xfrm>
            <a:off x="1097280" y="6446520"/>
            <a:ext cx="4617720" cy="548640"/>
          </a:xfrm>
          <a:prstGeom prst="rect">
            <a:avLst/>
          </a:prstGeom>
          <a:noFill/>
        </p:spPr>
        <p:txBody>
          <a:bodyPr wrap="square">
            <a:spAutoFit/>
          </a:bodyPr>
          <a:lstStyle/>
          <a:p>
            <a:pPr algn="l">
              <a:defRPr sz="900" b="0">
                <a:solidFill>
                  <a:srgbClr val="1A1A2E"/>
                </a:solidFill>
                <a:latin typeface="Meiryo"/>
              </a:defRPr>
            </a:pPr>
            <a:r>
              <a:t>サイバーセキュリティの「重大」閾値到達は、悪用された場合に未知の脆弱性を突く自動攻撃ツールとして転用されるリスクを内包する。またAGI到達を巡る発言は誇大表現との批判を招きやすく、規制当局の追加的な監視強化を招く可能性がある。</a:t>
            </a:r>
          </a:p>
        </p:txBody>
      </p:sp>
      <p:pic>
        <p:nvPicPr>
          <p:cNvPr id="31" name="Picture 30" descr="highlight_diagram.png"/>
          <p:cNvPicPr>
            <a:picLocks noChangeAspect="1"/>
          </p:cNvPicPr>
          <p:nvPr/>
        </p:nvPicPr>
        <p:blipFill>
          <a:blip r:embed="rId2"/>
          <a:stretch>
            <a:fillRect/>
          </a:stretch>
        </p:blipFill>
        <p:spPr>
          <a:xfrm>
            <a:off x="6156655" y="960120"/>
            <a:ext cx="548640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企業動向比較マトリクス</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2026-09-05  |  Page 3</a:t>
            </a:r>
          </a:p>
        </p:txBody>
      </p:sp>
      <p:graphicFrame>
        <p:nvGraphicFramePr>
          <p:cNvPr id="6" name="Table 5"/>
          <p:cNvGraphicFramePr>
            <a:graphicFrameLocks noGrp="1"/>
          </p:cNvGraphicFramePr>
          <p:nvPr/>
        </p:nvGraphicFramePr>
        <p:xfrm>
          <a:off x="548640" y="960120"/>
          <a:ext cx="11094415" cy="3840479"/>
        </p:xfrm>
        <a:graphic>
          <a:graphicData uri="http://schemas.openxmlformats.org/drawingml/2006/table">
            <a:tbl>
              <a:tblPr firstRow="1" bandRow="1">
                <a:tableStyleId>{5C22544A-7EE6-4342-B048-85BDC9FD1C3A}</a:tableStyleId>
              </a:tblPr>
              <a:tblGrid>
                <a:gridCol w="1645920"/>
                <a:gridCol w="2011680"/>
                <a:gridCol w="3474720"/>
                <a:gridCol w="914400"/>
                <a:gridCol w="3047695"/>
              </a:tblGrid>
              <a:tr h="640079">
                <a:tc>
                  <a:txBody>
                    <a:bodyPr/>
                    <a:lstStyle/>
                    <a:p>
                      <a:pPr algn="ctr">
                        <a:defRPr sz="1200" b="1">
                          <a:solidFill>
                            <a:srgbClr val="FFFFFF"/>
                          </a:solidFill>
                          <a:latin typeface="Meiryo"/>
                        </a:defRPr>
                      </a:pPr>
                      <a:r>
                        <a:t>企業</a:t>
                      </a:r>
                    </a:p>
                  </a:txBody>
                  <a:tcPr>
                    <a:solidFill>
                      <a:srgbClr val="005BAB"/>
                    </a:solidFill>
                  </a:tcPr>
                </a:tc>
                <a:tc>
                  <a:txBody>
                    <a:bodyPr/>
                    <a:lstStyle/>
                    <a:p>
                      <a:pPr algn="ctr">
                        <a:defRPr sz="1200" b="1">
                          <a:solidFill>
                            <a:srgbClr val="FFFFFF"/>
                          </a:solidFill>
                          <a:latin typeface="Meiryo"/>
                        </a:defRPr>
                      </a:pPr>
                      <a:r>
                        <a:t>注力分野</a:t>
                      </a:r>
                    </a:p>
                  </a:txBody>
                  <a:tcPr>
                    <a:solidFill>
                      <a:srgbClr val="005BAB"/>
                    </a:solidFill>
                  </a:tcPr>
                </a:tc>
                <a:tc>
                  <a:txBody>
                    <a:bodyPr/>
                    <a:lstStyle/>
                    <a:p>
                      <a:pPr algn="ctr">
                        <a:defRPr sz="1200" b="1">
                          <a:solidFill>
                            <a:srgbClr val="FFFFFF"/>
                          </a:solidFill>
                          <a:latin typeface="Meiryo"/>
                        </a:defRPr>
                      </a:pPr>
                      <a:r>
                        <a:t>主要アクション</a:t>
                      </a:r>
                    </a:p>
                  </a:txBody>
                  <a:tcPr>
                    <a:solidFill>
                      <a:srgbClr val="005BAB"/>
                    </a:solidFill>
                  </a:tcPr>
                </a:tc>
                <a:tc>
                  <a:txBody>
                    <a:bodyPr/>
                    <a:lstStyle/>
                    <a:p>
                      <a:pPr algn="ctr">
                        <a:defRPr sz="1200" b="1">
                          <a:solidFill>
                            <a:srgbClr val="FFFFFF"/>
                          </a:solidFill>
                          <a:latin typeface="Meiryo"/>
                        </a:defRPr>
                      </a:pPr>
                      <a:r>
                        <a:t>動向</a:t>
                      </a:r>
                    </a:p>
                  </a:txBody>
                  <a:tcPr>
                    <a:solidFill>
                      <a:srgbClr val="005BAB"/>
                    </a:solidFill>
                  </a:tcPr>
                </a:tc>
                <a:tc>
                  <a:txBody>
                    <a:bodyPr/>
                    <a:lstStyle/>
                    <a:p>
                      <a:pPr algn="ctr">
                        <a:defRPr sz="1200" b="1">
                          <a:solidFill>
                            <a:srgbClr val="FFFFFF"/>
                          </a:solidFill>
                          <a:latin typeface="Meiryo"/>
                        </a:defRPr>
                      </a:pPr>
                      <a:r>
                        <a:t>強み</a:t>
                      </a:r>
                    </a:p>
                  </a:txBody>
                  <a:tcPr>
                    <a:solidFill>
                      <a:srgbClr val="005BAB"/>
                    </a:solidFill>
                  </a:tcPr>
                </a:tc>
              </a:tr>
              <a:tr h="640079">
                <a:tc>
                  <a:txBody>
                    <a:bodyPr/>
                    <a:lstStyle/>
                    <a:p>
                      <a:pPr>
                        <a:defRPr sz="1100" b="1">
                          <a:solidFill>
                            <a:srgbClr val="1A1A2E"/>
                          </a:solidFill>
                          <a:latin typeface="Meiryo"/>
                        </a:defRPr>
                      </a:pPr>
                      <a:r>
                        <a:t>OpenAI</a:t>
                      </a:r>
                    </a:p>
                  </a:txBody>
                  <a:tcPr>
                    <a:solidFill>
                      <a:srgbClr val="FFFFFF"/>
                    </a:solidFill>
                  </a:tcPr>
                </a:tc>
                <a:tc>
                  <a:txBody>
                    <a:bodyPr/>
                    <a:lstStyle/>
                    <a:p>
                      <a:pPr>
                        <a:defRPr sz="1100">
                          <a:solidFill>
                            <a:srgbClr val="1A1A2E"/>
                          </a:solidFill>
                          <a:latin typeface="Meiryo"/>
                        </a:defRPr>
                      </a:pPr>
                      <a:r>
                        <a:t>フロンティアLLM・エージェントOS</a:t>
                      </a:r>
                    </a:p>
                  </a:txBody>
                  <a:tcPr>
                    <a:solidFill>
                      <a:srgbClr val="FFFFFF"/>
                    </a:solidFill>
                  </a:tcPr>
                </a:tc>
                <a:tc>
                  <a:txBody>
                    <a:bodyPr/>
                    <a:lstStyle/>
                    <a:p>
                      <a:pPr>
                        <a:defRPr sz="1100">
                          <a:solidFill>
                            <a:srgbClr val="1A1A2E"/>
                          </a:solidFill>
                          <a:latin typeface="Meiryo"/>
                        </a:defRPr>
                      </a:pPr>
                      <a:r>
                        <a:t>GPT-6 Astraを発表しFrontierMath Tier4で98%を記録、サイバーセキュリティ「重大」閾値到達も公表</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ベンチマーク性能とブランド訴求力で依然リード</a:t>
                      </a:r>
                    </a:p>
                  </a:txBody>
                  <a:tcPr>
                    <a:solidFill>
                      <a:srgbClr val="FFFFFF"/>
                    </a:solidFill>
                  </a:tcPr>
                </a:tc>
              </a:tr>
              <a:tr h="640079">
                <a:tc>
                  <a:txBody>
                    <a:bodyPr/>
                    <a:lstStyle/>
                    <a:p>
                      <a:pPr>
                        <a:defRPr sz="1100" b="1">
                          <a:solidFill>
                            <a:srgbClr val="1A1A2E"/>
                          </a:solidFill>
                          <a:latin typeface="Meiryo"/>
                        </a:defRPr>
                      </a:pPr>
                      <a:r>
                        <a:t>Anthropic</a:t>
                      </a:r>
                    </a:p>
                  </a:txBody>
                  <a:tcPr>
                    <a:solidFill>
                      <a:srgbClr val="E8F1F8"/>
                    </a:solidFill>
                  </a:tcPr>
                </a:tc>
                <a:tc>
                  <a:txBody>
                    <a:bodyPr/>
                    <a:lstStyle/>
                    <a:p>
                      <a:pPr>
                        <a:defRPr sz="1100">
                          <a:solidFill>
                            <a:srgbClr val="1A1A2E"/>
                          </a:solidFill>
                          <a:latin typeface="Meiryo"/>
                        </a:defRPr>
                      </a:pPr>
                      <a:r>
                        <a:t>エンタープライズ向け安全性重視LLM</a:t>
                      </a:r>
                    </a:p>
                  </a:txBody>
                  <a:tcPr>
                    <a:solidFill>
                      <a:srgbClr val="E8F1F8"/>
                    </a:solidFill>
                  </a:tcPr>
                </a:tc>
                <a:tc>
                  <a:txBody>
                    <a:bodyPr/>
                    <a:lstStyle/>
                    <a:p>
                      <a:pPr>
                        <a:defRPr sz="1100">
                          <a:solidFill>
                            <a:srgbClr val="1A1A2E"/>
                          </a:solidFill>
                          <a:latin typeface="Meiryo"/>
                        </a:defRPr>
                      </a:pPr>
                      <a:r>
                        <a:t>Sony Music Publishing・Warner Chappellから著作権侵害で提訴され、創業者2名が個人被告に</a:t>
                      </a:r>
                    </a:p>
                  </a:txBody>
                  <a:tcPr>
                    <a:solidFill>
                      <a:srgbClr val="E8F1F8"/>
                    </a:solidFill>
                  </a:tcPr>
                </a:tc>
                <a:tc>
                  <a:txBody>
                    <a:bodyPr/>
                    <a:lstStyle/>
                    <a:p>
                      <a:pPr algn="ctr">
                        <a:defRPr sz="1400" b="1">
                          <a:solidFill>
                            <a:srgbClr val="CC3333"/>
                          </a:solidFill>
                          <a:latin typeface="Meiryo"/>
                        </a:defRPr>
                      </a:pPr>
                      <a:r>
                        <a:t>▼</a:t>
                      </a:r>
                    </a:p>
                  </a:txBody>
                  <a:tcPr>
                    <a:solidFill>
                      <a:srgbClr val="E8F1F8"/>
                    </a:solidFill>
                  </a:tcPr>
                </a:tc>
                <a:tc>
                  <a:txBody>
                    <a:bodyPr/>
                    <a:lstStyle/>
                    <a:p>
                      <a:pPr>
                        <a:defRPr sz="1100">
                          <a:solidFill>
                            <a:srgbClr val="1A1A2E"/>
                          </a:solidFill>
                          <a:latin typeface="Meiryo"/>
                        </a:defRPr>
                      </a:pPr>
                      <a:r>
                        <a:t>企業導入基盤は強いが法的リスクが顕在化</a:t>
                      </a:r>
                    </a:p>
                  </a:txBody>
                  <a:tcPr>
                    <a:solidFill>
                      <a:srgbClr val="E8F1F8"/>
                    </a:solidFill>
                  </a:tcPr>
                </a:tc>
              </a:tr>
              <a:tr h="640079">
                <a:tc>
                  <a:txBody>
                    <a:bodyPr/>
                    <a:lstStyle/>
                    <a:p>
                      <a:pPr>
                        <a:defRPr sz="1100" b="1">
                          <a:solidFill>
                            <a:srgbClr val="1A1A2E"/>
                          </a:solidFill>
                          <a:latin typeface="Meiryo"/>
                        </a:defRPr>
                      </a:pPr>
                      <a:r>
                        <a:t>Google</a:t>
                      </a:r>
                    </a:p>
                  </a:txBody>
                  <a:tcPr>
                    <a:solidFill>
                      <a:srgbClr val="FFFFFF"/>
                    </a:solidFill>
                  </a:tcPr>
                </a:tc>
                <a:tc>
                  <a:txBody>
                    <a:bodyPr/>
                    <a:lstStyle/>
                    <a:p>
                      <a:pPr>
                        <a:defRPr sz="1100">
                          <a:solidFill>
                            <a:srgbClr val="1A1A2E"/>
                          </a:solidFill>
                          <a:latin typeface="Meiryo"/>
                        </a:defRPr>
                      </a:pPr>
                      <a:r>
                        <a:t>マルチモーダル・生産性ツール</a:t>
                      </a:r>
                    </a:p>
                  </a:txBody>
                  <a:tcPr>
                    <a:solidFill>
                      <a:srgbClr val="FFFFFF"/>
                    </a:solidFill>
                  </a:tcPr>
                </a:tc>
                <a:tc>
                  <a:txBody>
                    <a:bodyPr/>
                    <a:lstStyle/>
                    <a:p>
                      <a:pPr>
                        <a:defRPr sz="1100">
                          <a:solidFill>
                            <a:srgbClr val="1A1A2E"/>
                          </a:solidFill>
                          <a:latin typeface="Meiryo"/>
                        </a:defRPr>
                      </a:pPr>
                      <a:r>
                        <a:t>Gemini Notebookの利用上限を固定制から計算量ベースに移行し収益化を強化</a:t>
                      </a:r>
                    </a:p>
                  </a:txBody>
                  <a:tcPr>
                    <a:solidFill>
                      <a:srgbClr val="FFFFFF"/>
                    </a:solidFill>
                  </a:tcPr>
                </a:tc>
                <a:tc>
                  <a:txBody>
                    <a:bodyPr/>
                    <a:lstStyle/>
                    <a:p>
                      <a:pPr algn="ctr">
                        <a:defRPr sz="1400" b="1">
                          <a:solidFill>
                            <a:srgbClr val="6C757D"/>
                          </a:solidFill>
                          <a:latin typeface="Meiryo"/>
                        </a:defRPr>
                      </a:pPr>
                      <a:r>
                        <a:t>◆</a:t>
                      </a:r>
                    </a:p>
                  </a:txBody>
                  <a:tcPr>
                    <a:solidFill>
                      <a:srgbClr val="FFFFFF"/>
                    </a:solidFill>
                  </a:tcPr>
                </a:tc>
                <a:tc>
                  <a:txBody>
                    <a:bodyPr/>
                    <a:lstStyle/>
                    <a:p>
                      <a:pPr>
                        <a:defRPr sz="1100">
                          <a:solidFill>
                            <a:srgbClr val="1A1A2E"/>
                          </a:solidFill>
                          <a:latin typeface="Meiryo"/>
                        </a:defRPr>
                      </a:pPr>
                      <a:r>
                        <a:t>既存プロダクト群への統合力とインフラ規模</a:t>
                      </a:r>
                    </a:p>
                  </a:txBody>
                  <a:tcPr>
                    <a:solidFill>
                      <a:srgbClr val="FFFFFF"/>
                    </a:solidFill>
                  </a:tcPr>
                </a:tc>
              </a:tr>
              <a:tr h="640079">
                <a:tc>
                  <a:txBody>
                    <a:bodyPr/>
                    <a:lstStyle/>
                    <a:p>
                      <a:pPr>
                        <a:defRPr sz="1100" b="1">
                          <a:solidFill>
                            <a:srgbClr val="1A1A2E"/>
                          </a:solidFill>
                          <a:latin typeface="Meiryo"/>
                        </a:defRPr>
                      </a:pPr>
                      <a:r>
                        <a:t>Meta</a:t>
                      </a:r>
                    </a:p>
                  </a:txBody>
                  <a:tcPr>
                    <a:solidFill>
                      <a:srgbClr val="E8F1F8"/>
                    </a:solidFill>
                  </a:tcPr>
                </a:tc>
                <a:tc>
                  <a:txBody>
                    <a:bodyPr/>
                    <a:lstStyle/>
                    <a:p>
                      <a:pPr>
                        <a:defRPr sz="1100">
                          <a:solidFill>
                            <a:srgbClr val="1A1A2E"/>
                          </a:solidFill>
                          <a:latin typeface="Meiryo"/>
                        </a:defRPr>
                      </a:pPr>
                      <a:r>
                        <a:t>消費者向け自律エージェント</a:t>
                      </a:r>
                    </a:p>
                  </a:txBody>
                  <a:tcPr>
                    <a:solidFill>
                      <a:srgbClr val="E8F1F8"/>
                    </a:solidFill>
                  </a:tcPr>
                </a:tc>
                <a:tc>
                  <a:txBody>
                    <a:bodyPr/>
                    <a:lstStyle/>
                    <a:p>
                      <a:pPr>
                        <a:defRPr sz="1100">
                          <a:solidFill>
                            <a:srgbClr val="1A1A2E"/>
                          </a:solidFill>
                          <a:latin typeface="Meiryo"/>
                        </a:defRPr>
                      </a:pPr>
                      <a:r>
                        <a:t>18億ドルの未成年保護和解を経て自律エージェント「Hatch」を数週間以内に投入予定</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20億人規模のInstagram/WhatsAppユーザー基盤</a:t>
                      </a:r>
                    </a:p>
                  </a:txBody>
                  <a:tcPr>
                    <a:solidFill>
                      <a:srgbClr val="E8F1F8"/>
                    </a:solidFill>
                  </a:tcPr>
                </a:tc>
              </a:tr>
              <a:tr h="640084">
                <a:tc>
                  <a:txBody>
                    <a:bodyPr/>
                    <a:lstStyle/>
                    <a:p>
                      <a:pPr>
                        <a:defRPr sz="1100" b="1">
                          <a:solidFill>
                            <a:srgbClr val="1A1A2E"/>
                          </a:solidFill>
                          <a:latin typeface="Meiryo"/>
                        </a:defRPr>
                      </a:pPr>
                      <a:r>
                        <a:t>Other</a:t>
                      </a:r>
                    </a:p>
                  </a:txBody>
                  <a:tcPr>
                    <a:solidFill>
                      <a:srgbClr val="FFFFFF"/>
                    </a:solidFill>
                  </a:tcPr>
                </a:tc>
                <a:tc>
                  <a:txBody>
                    <a:bodyPr/>
                    <a:lstStyle/>
                    <a:p>
                      <a:pPr>
                        <a:defRPr sz="1100">
                          <a:solidFill>
                            <a:srgbClr val="1A1A2E"/>
                          </a:solidFill>
                          <a:latin typeface="Meiryo"/>
                        </a:defRPr>
                      </a:pPr>
                      <a:r>
                        <a:t>AIインフラ・エージェント（xAI/Crusoe/Figure AI等）</a:t>
                      </a:r>
                    </a:p>
                  </a:txBody>
                  <a:tcPr>
                    <a:solidFill>
                      <a:srgbClr val="FFFFFF"/>
                    </a:solidFill>
                  </a:tcPr>
                </a:tc>
                <a:tc>
                  <a:txBody>
                    <a:bodyPr/>
                    <a:lstStyle/>
                    <a:p>
                      <a:pPr>
                        <a:defRPr sz="1100">
                          <a:solidFill>
                            <a:srgbClr val="1A1A2E"/>
                          </a:solidFill>
                          <a:latin typeface="Meiryo"/>
                        </a:defRPr>
                      </a:pPr>
                      <a:r>
                        <a:t>Crusoeが評価額300億ドルで3,000億円規模調達、xAIはGrok Botをベータ拡大</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インフラ需要の追い風を受け資金調達が加速</a:t>
                      </a:r>
                    </a:p>
                  </a:txBody>
                  <a:tcPr>
                    <a:solidFill>
                      <a:srgbClr val="FFFFFF"/>
                    </a:solidFill>
                  </a:tcPr>
                </a:tc>
              </a:tr>
            </a:tbl>
          </a:graphicData>
        </a:graphic>
      </p:graphicFrame>
      <p:sp>
        <p:nvSpPr>
          <p:cNvPr id="7" name="Rounded Rectangle 6"/>
          <p:cNvSpPr/>
          <p:nvPr/>
        </p:nvSpPr>
        <p:spPr>
          <a:xfrm>
            <a:off x="548640" y="5029199"/>
            <a:ext cx="2011680" cy="32004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5029199"/>
            <a:ext cx="2011680" cy="320040"/>
          </a:xfrm>
          <a:prstGeom prst="rect">
            <a:avLst/>
          </a:prstGeom>
          <a:noFill/>
        </p:spPr>
        <p:txBody>
          <a:bodyPr wrap="square" anchor="ctr">
            <a:spAutoFit/>
          </a:bodyPr>
          <a:lstStyle/>
          <a:p>
            <a:pPr algn="ctr">
              <a:defRPr sz="1100" b="1">
                <a:solidFill>
                  <a:srgbClr val="FFFFFF"/>
                </a:solidFill>
                <a:latin typeface="Meiryo"/>
              </a:defRPr>
            </a:pPr>
            <a:r>
              <a:t>  OpenAI  ▲</a:t>
            </a:r>
          </a:p>
        </p:txBody>
      </p:sp>
      <p:sp>
        <p:nvSpPr>
          <p:cNvPr id="9" name="Rounded Rectangle 8"/>
          <p:cNvSpPr/>
          <p:nvPr/>
        </p:nvSpPr>
        <p:spPr>
          <a:xfrm>
            <a:off x="2743200" y="5029199"/>
            <a:ext cx="2011680" cy="32004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5029199"/>
            <a:ext cx="2011680" cy="320040"/>
          </a:xfrm>
          <a:prstGeom prst="rect">
            <a:avLst/>
          </a:prstGeom>
          <a:noFill/>
        </p:spPr>
        <p:txBody>
          <a:bodyPr wrap="square" anchor="ctr">
            <a:spAutoFit/>
          </a:bodyPr>
          <a:lstStyle/>
          <a:p>
            <a:pPr algn="ctr">
              <a:defRPr sz="1100" b="1">
                <a:solidFill>
                  <a:srgbClr val="FFFFFF"/>
                </a:solidFill>
                <a:latin typeface="Meiryo"/>
              </a:defRPr>
            </a:pPr>
            <a:r>
              <a:t>  Anthropic  ▼</a:t>
            </a:r>
          </a:p>
        </p:txBody>
      </p:sp>
      <p:sp>
        <p:nvSpPr>
          <p:cNvPr id="11" name="Rounded Rectangle 10"/>
          <p:cNvSpPr/>
          <p:nvPr/>
        </p:nvSpPr>
        <p:spPr>
          <a:xfrm>
            <a:off x="4937760" y="5029199"/>
            <a:ext cx="2011680" cy="32004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5029199"/>
            <a:ext cx="2011680" cy="320040"/>
          </a:xfrm>
          <a:prstGeom prst="rect">
            <a:avLst/>
          </a:prstGeom>
          <a:noFill/>
        </p:spPr>
        <p:txBody>
          <a:bodyPr wrap="square" anchor="ctr">
            <a:spAutoFit/>
          </a:bodyPr>
          <a:lstStyle/>
          <a:p>
            <a:pPr algn="ctr">
              <a:defRPr sz="1100" b="1">
                <a:solidFill>
                  <a:srgbClr val="FFFFFF"/>
                </a:solidFill>
                <a:latin typeface="Meiryo"/>
              </a:defRPr>
            </a:pPr>
            <a:r>
              <a:t>  Google  ◆</a:t>
            </a:r>
          </a:p>
        </p:txBody>
      </p:sp>
      <p:sp>
        <p:nvSpPr>
          <p:cNvPr id="13" name="Rounded Rectangle 12"/>
          <p:cNvSpPr/>
          <p:nvPr/>
        </p:nvSpPr>
        <p:spPr>
          <a:xfrm>
            <a:off x="7132320" y="5029199"/>
            <a:ext cx="2011680" cy="32004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5029199"/>
            <a:ext cx="2011680" cy="320040"/>
          </a:xfrm>
          <a:prstGeom prst="rect">
            <a:avLst/>
          </a:prstGeom>
          <a:noFill/>
        </p:spPr>
        <p:txBody>
          <a:bodyPr wrap="square" anchor="ctr">
            <a:spAutoFit/>
          </a:bodyPr>
          <a:lstStyle/>
          <a:p>
            <a:pPr algn="ctr">
              <a:defRPr sz="1100" b="1">
                <a:solidFill>
                  <a:srgbClr val="FFFFFF"/>
                </a:solidFill>
                <a:latin typeface="Meiryo"/>
              </a:defRPr>
            </a:pPr>
            <a:r>
              <a:t>  Meta  ▲</a:t>
            </a:r>
          </a:p>
        </p:txBody>
      </p:sp>
      <p:sp>
        <p:nvSpPr>
          <p:cNvPr id="15" name="Rounded Rectangle 14"/>
          <p:cNvSpPr/>
          <p:nvPr/>
        </p:nvSpPr>
        <p:spPr>
          <a:xfrm>
            <a:off x="9326880" y="5029199"/>
            <a:ext cx="2011680" cy="32004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5029199"/>
            <a:ext cx="2011680" cy="320040"/>
          </a:xfrm>
          <a:prstGeom prst="rect">
            <a:avLst/>
          </a:prstGeom>
          <a:noFill/>
        </p:spPr>
        <p:txBody>
          <a:bodyPr wrap="square" anchor="ctr">
            <a:spAutoFit/>
          </a:bodyPr>
          <a:lstStyle/>
          <a:p>
            <a:pPr algn="ctr">
              <a:defRPr sz="1100" b="1">
                <a:solidFill>
                  <a:srgbClr val="FFFFFF"/>
                </a:solidFill>
                <a:latin typeface="Meiryo"/>
              </a:defRPr>
            </a:pPr>
            <a:r>
              <a:t>  Other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トレンドフロー分析</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2026-09-05  |  Page 4</a:t>
            </a:r>
          </a:p>
        </p:txBody>
      </p:sp>
      <p:sp>
        <p:nvSpPr>
          <p:cNvPr id="6" name="Rounded Rectangle 5"/>
          <p:cNvSpPr/>
          <p:nvPr/>
        </p:nvSpPr>
        <p:spPr>
          <a:xfrm>
            <a:off x="68580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115568"/>
            <a:ext cx="411480" cy="411480"/>
          </a:xfrm>
          <a:prstGeom prst="rect">
            <a:avLst/>
          </a:prstGeom>
          <a:noFill/>
        </p:spPr>
        <p:txBody>
          <a:bodyPr wrap="square" anchor="ctr">
            <a:spAutoFit/>
          </a:bodyPr>
          <a:lstStyle/>
          <a:p>
            <a:pPr algn="ctr">
              <a:defRPr sz="1600" b="1">
                <a:solidFill>
                  <a:srgbClr val="FFFFFF"/>
                </a:solidFill>
                <a:latin typeface="Meiryo"/>
              </a:defRPr>
            </a:pPr>
            <a:r>
              <a:t>1</a:t>
            </a:r>
          </a:p>
        </p:txBody>
      </p:sp>
      <p:sp>
        <p:nvSpPr>
          <p:cNvPr id="9" name="TextBox 8"/>
          <p:cNvSpPr txBox="1"/>
          <p:nvPr/>
        </p:nvSpPr>
        <p:spPr>
          <a:xfrm>
            <a:off x="1325880" y="1143000"/>
            <a:ext cx="4206240" cy="365760"/>
          </a:xfrm>
          <a:prstGeom prst="rect">
            <a:avLst/>
          </a:prstGeom>
          <a:noFill/>
        </p:spPr>
        <p:txBody>
          <a:bodyPr wrap="square">
            <a:spAutoFit/>
          </a:bodyPr>
          <a:lstStyle/>
          <a:p>
            <a:pPr algn="l">
              <a:defRPr sz="1400" b="1">
                <a:solidFill>
                  <a:srgbClr val="005BAB"/>
                </a:solidFill>
                <a:latin typeface="Meiryo"/>
              </a:defRPr>
            </a:pPr>
            <a:r>
              <a:t>AGI論争の再燃とベンチマーク飽和</a:t>
            </a:r>
          </a:p>
        </p:txBody>
      </p:sp>
      <p:sp>
        <p:nvSpPr>
          <p:cNvPr id="10" name="TextBox 9"/>
          <p:cNvSpPr txBox="1"/>
          <p:nvPr/>
        </p:nvSpPr>
        <p:spPr>
          <a:xfrm>
            <a:off x="868680" y="1554480"/>
            <a:ext cx="4663440" cy="1097280"/>
          </a:xfrm>
          <a:prstGeom prst="rect">
            <a:avLst/>
          </a:prstGeom>
          <a:noFill/>
        </p:spPr>
        <p:txBody>
          <a:bodyPr wrap="square">
            <a:spAutoFit/>
          </a:bodyPr>
          <a:lstStyle/>
          <a:p>
            <a:pPr algn="l">
              <a:defRPr sz="1100" b="0">
                <a:solidFill>
                  <a:srgbClr val="1A1A2E"/>
                </a:solidFill>
                <a:latin typeface="Meiryo"/>
              </a:defRPr>
            </a:pPr>
            <a:r>
              <a:t>GPT-6 AstraはFrontierMath Tier4で98%、ExploitBenchで100%を記録し、OpenAI幹部は「AGIの到来と見なされ得る」と発言した。一方で同モデルはサイバーセキュリティの「重大」閾値に初めて到達し、未知の脆弱性を人間の誘導なしに発見・悪用できる能力を持つと評価された。性能向上が防御的リスクと表裏一体で進む構図が鮮明になっており、能力向上のたびに安全性評価と</a:t>
            </a:r>
          </a:p>
        </p:txBody>
      </p:sp>
      <p:sp>
        <p:nvSpPr>
          <p:cNvPr id="11" name="Rounded Rectangle 10"/>
          <p:cNvSpPr/>
          <p:nvPr/>
        </p:nvSpPr>
        <p:spPr>
          <a:xfrm>
            <a:off x="868680" y="28803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803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13" name="Rounded Rectangle 12"/>
          <p:cNvSpPr/>
          <p:nvPr/>
        </p:nvSpPr>
        <p:spPr>
          <a:xfrm>
            <a:off x="2148840" y="28803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48840" y="28803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15" name="Rounded Rectangle 14"/>
          <p:cNvSpPr/>
          <p:nvPr/>
        </p:nvSpPr>
        <p:spPr>
          <a:xfrm>
            <a:off x="626364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0080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115568"/>
            <a:ext cx="411480" cy="411480"/>
          </a:xfrm>
          <a:prstGeom prst="rect">
            <a:avLst/>
          </a:prstGeom>
          <a:noFill/>
        </p:spPr>
        <p:txBody>
          <a:bodyPr wrap="square" anchor="ctr">
            <a:spAutoFit/>
          </a:bodyPr>
          <a:lstStyle/>
          <a:p>
            <a:pPr algn="ctr">
              <a:defRPr sz="1600" b="1">
                <a:solidFill>
                  <a:srgbClr val="FFFFFF"/>
                </a:solidFill>
                <a:latin typeface="Meiryo"/>
              </a:defRPr>
            </a:pPr>
            <a:r>
              <a:t>2</a:t>
            </a:r>
          </a:p>
        </p:txBody>
      </p:sp>
      <p:sp>
        <p:nvSpPr>
          <p:cNvPr id="18" name="TextBox 17"/>
          <p:cNvSpPr txBox="1"/>
          <p:nvPr/>
        </p:nvSpPr>
        <p:spPr>
          <a:xfrm>
            <a:off x="6903720" y="1143000"/>
            <a:ext cx="4206240" cy="365760"/>
          </a:xfrm>
          <a:prstGeom prst="rect">
            <a:avLst/>
          </a:prstGeom>
          <a:noFill/>
        </p:spPr>
        <p:txBody>
          <a:bodyPr wrap="square">
            <a:spAutoFit/>
          </a:bodyPr>
          <a:lstStyle/>
          <a:p>
            <a:pPr algn="l">
              <a:defRPr sz="1400" b="1">
                <a:solidFill>
                  <a:srgbClr val="005BAB"/>
                </a:solidFill>
                <a:latin typeface="Meiryo"/>
              </a:defRPr>
            </a:pPr>
            <a:r>
              <a:t>自律型AIエージェントの消費者市場本格投入</a:t>
            </a:r>
          </a:p>
        </p:txBody>
      </p:sp>
      <p:sp>
        <p:nvSpPr>
          <p:cNvPr id="19" name="TextBox 18"/>
          <p:cNvSpPr txBox="1"/>
          <p:nvPr/>
        </p:nvSpPr>
        <p:spPr>
          <a:xfrm>
            <a:off x="6446520" y="1554480"/>
            <a:ext cx="4663440" cy="1097280"/>
          </a:xfrm>
          <a:prstGeom prst="rect">
            <a:avLst/>
          </a:prstGeom>
          <a:noFill/>
        </p:spPr>
        <p:txBody>
          <a:bodyPr wrap="square">
            <a:spAutoFit/>
          </a:bodyPr>
          <a:lstStyle/>
          <a:p>
            <a:pPr algn="l">
              <a:defRPr sz="1100" b="0">
                <a:solidFill>
                  <a:srgbClr val="1A1A2E"/>
                </a:solidFill>
                <a:latin typeface="Meiryo"/>
              </a:defRPr>
            </a:pPr>
            <a:r>
              <a:t>Metaの「Hatch」（月額最大200ドル、Instagram・WhatsApp上で買い物や予約を代行）、xAIの「Grok Bot」（常時稼働のクラウドコンピュータ付きAIチームメイト）が相次いで消費者・ビジネス市場に投入されつつある。従来のチャット応答型から、実際にタスクを実行する「行動するAI」への転換が加速しており、Instagramの日次利用者20億人規模への展開はAIエージェント普及</a:t>
            </a:r>
          </a:p>
        </p:txBody>
      </p:sp>
      <p:sp>
        <p:nvSpPr>
          <p:cNvPr id="20" name="Rounded Rectangle 19"/>
          <p:cNvSpPr/>
          <p:nvPr/>
        </p:nvSpPr>
        <p:spPr>
          <a:xfrm>
            <a:off x="6446520" y="2880360"/>
            <a:ext cx="1188720" cy="27432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2880360"/>
            <a:ext cx="1188720" cy="274320"/>
          </a:xfrm>
          <a:prstGeom prst="rect">
            <a:avLst/>
          </a:prstGeom>
          <a:noFill/>
        </p:spPr>
        <p:txBody>
          <a:bodyPr wrap="square" anchor="ctr">
            <a:spAutoFit/>
          </a:bodyPr>
          <a:lstStyle/>
          <a:p>
            <a:pPr algn="ctr">
              <a:defRPr sz="900" b="1">
                <a:solidFill>
                  <a:srgbClr val="FFFFFF"/>
                </a:solidFill>
                <a:latin typeface="Meiryo"/>
              </a:defRPr>
            </a:pPr>
            <a:r>
              <a:t>Meta</a:t>
            </a:r>
          </a:p>
        </p:txBody>
      </p:sp>
      <p:sp>
        <p:nvSpPr>
          <p:cNvPr id="22" name="Rounded Rectangle 21"/>
          <p:cNvSpPr/>
          <p:nvPr/>
        </p:nvSpPr>
        <p:spPr>
          <a:xfrm>
            <a:off x="7726680" y="28803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26680" y="2880360"/>
            <a:ext cx="1188720" cy="274320"/>
          </a:xfrm>
          <a:prstGeom prst="rect">
            <a:avLst/>
          </a:prstGeom>
          <a:noFill/>
        </p:spPr>
        <p:txBody>
          <a:bodyPr wrap="square" anchor="ctr">
            <a:spAutoFit/>
          </a:bodyPr>
          <a:lstStyle/>
          <a:p>
            <a:pPr algn="ctr">
              <a:defRPr sz="900" b="1">
                <a:solidFill>
                  <a:srgbClr val="FFFFFF"/>
                </a:solidFill>
                <a:latin typeface="Meiryo"/>
              </a:defRPr>
            </a:pPr>
            <a:r>
              <a:t>Other</a:t>
            </a:r>
          </a:p>
        </p:txBody>
      </p:sp>
      <p:sp>
        <p:nvSpPr>
          <p:cNvPr id="24" name="Rounded Rectangle 23"/>
          <p:cNvSpPr/>
          <p:nvPr/>
        </p:nvSpPr>
        <p:spPr>
          <a:xfrm>
            <a:off x="685800" y="35204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22960" y="36301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630168"/>
            <a:ext cx="411480" cy="411480"/>
          </a:xfrm>
          <a:prstGeom prst="rect">
            <a:avLst/>
          </a:prstGeom>
          <a:noFill/>
        </p:spPr>
        <p:txBody>
          <a:bodyPr wrap="square" anchor="ctr">
            <a:spAutoFit/>
          </a:bodyPr>
          <a:lstStyle/>
          <a:p>
            <a:pPr algn="ctr">
              <a:defRPr sz="1600" b="1">
                <a:solidFill>
                  <a:srgbClr val="FFFFFF"/>
                </a:solidFill>
                <a:latin typeface="Meiryo"/>
              </a:defRPr>
            </a:pPr>
            <a:r>
              <a:t>3</a:t>
            </a:r>
          </a:p>
        </p:txBody>
      </p:sp>
      <p:sp>
        <p:nvSpPr>
          <p:cNvPr id="27" name="TextBox 26"/>
          <p:cNvSpPr txBox="1"/>
          <p:nvPr/>
        </p:nvSpPr>
        <p:spPr>
          <a:xfrm>
            <a:off x="1325880" y="3657600"/>
            <a:ext cx="4206240" cy="365760"/>
          </a:xfrm>
          <a:prstGeom prst="rect">
            <a:avLst/>
          </a:prstGeom>
          <a:noFill/>
        </p:spPr>
        <p:txBody>
          <a:bodyPr wrap="square">
            <a:spAutoFit/>
          </a:bodyPr>
          <a:lstStyle/>
          <a:p>
            <a:pPr algn="l">
              <a:defRPr sz="1400" b="1">
                <a:solidFill>
                  <a:srgbClr val="005BAB"/>
                </a:solidFill>
                <a:latin typeface="Meiryo"/>
              </a:defRPr>
            </a:pPr>
            <a:r>
              <a:t>AIインフラを巡る資本集中と地政学的再編</a:t>
            </a:r>
          </a:p>
        </p:txBody>
      </p:sp>
      <p:sp>
        <p:nvSpPr>
          <p:cNvPr id="28" name="TextBox 27"/>
          <p:cNvSpPr txBox="1"/>
          <p:nvPr/>
        </p:nvSpPr>
        <p:spPr>
          <a:xfrm>
            <a:off x="868680" y="4069080"/>
            <a:ext cx="4663440" cy="1097280"/>
          </a:xfrm>
          <a:prstGeom prst="rect">
            <a:avLst/>
          </a:prstGeom>
          <a:noFill/>
        </p:spPr>
        <p:txBody>
          <a:bodyPr wrap="square">
            <a:spAutoFit/>
          </a:bodyPr>
          <a:lstStyle/>
          <a:p>
            <a:pPr algn="l">
              <a:defRPr sz="1100" b="0">
                <a:solidFill>
                  <a:srgbClr val="1A1A2E"/>
                </a:solidFill>
                <a:latin typeface="Meiryo"/>
              </a:defRPr>
            </a:pPr>
            <a:r>
              <a:t>Crusoeが評価額300億ドルで3,000億円規模を調達する一方、米商務省は中国企業が東南アジア経由でBlackwell GPUの計算力に遠隔アクセスする抜け穴を塞ぐ新規制を準備している。ハードウェア本体の禁輸だけでは実効性を欠く現実が、上海INF Techの2,300基・約1億ドル契約や、Tencentの1万5,000基・約12億ドル契約を通じて露呈した。AIインフラ投資は少数の巨大プレイヤー</a:t>
            </a:r>
          </a:p>
        </p:txBody>
      </p:sp>
      <p:sp>
        <p:nvSpPr>
          <p:cNvPr id="29" name="Rounded Rectangle 28"/>
          <p:cNvSpPr/>
          <p:nvPr/>
        </p:nvSpPr>
        <p:spPr>
          <a:xfrm>
            <a:off x="868680" y="53949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5394960"/>
            <a:ext cx="1188720" cy="274320"/>
          </a:xfrm>
          <a:prstGeom prst="rect">
            <a:avLst/>
          </a:prstGeom>
          <a:noFill/>
        </p:spPr>
        <p:txBody>
          <a:bodyPr wrap="square" anchor="ctr">
            <a:spAutoFit/>
          </a:bodyPr>
          <a:lstStyle/>
          <a:p>
            <a:pPr algn="ctr">
              <a:defRPr sz="900" b="1">
                <a:solidFill>
                  <a:srgbClr val="FFFFFF"/>
                </a:solidFill>
                <a:latin typeface="Meiryo"/>
              </a:defRPr>
            </a:pPr>
            <a:r>
              <a:t>Other</a:t>
            </a:r>
          </a:p>
        </p:txBody>
      </p:sp>
      <p:sp>
        <p:nvSpPr>
          <p:cNvPr id="31" name="Rounded Rectangle 30"/>
          <p:cNvSpPr/>
          <p:nvPr/>
        </p:nvSpPr>
        <p:spPr>
          <a:xfrm>
            <a:off x="2148840" y="53949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48840" y="53949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33" name="Rounded Rectangle 32"/>
          <p:cNvSpPr/>
          <p:nvPr/>
        </p:nvSpPr>
        <p:spPr>
          <a:xfrm>
            <a:off x="3429000" y="53949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29000" y="53949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35" name="Right Arrow 34"/>
          <p:cNvSpPr/>
          <p:nvPr/>
        </p:nvSpPr>
        <p:spPr>
          <a:xfrm>
            <a:off x="5760720" y="2011680"/>
            <a:ext cx="457200" cy="274320"/>
          </a:xfrm>
          <a:prstGeom prst="right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own Arrow 35"/>
          <p:cNvSpPr/>
          <p:nvPr/>
        </p:nvSpPr>
        <p:spPr>
          <a:xfrm>
            <a:off x="3063240" y="3300984"/>
            <a:ext cx="274320" cy="201168"/>
          </a:xfrm>
          <a:prstGeom prst="down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(1/2)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2026-09-05  |  Page 5</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5</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828800" cy="109728"/>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Meta、18億ドル未成年保護和解でAI事業への法的障壁解消　自律エージェント「Hatch」投入へ</a:t>
            </a:r>
          </a:p>
        </p:txBody>
      </p:sp>
      <p:sp>
        <p:nvSpPr>
          <p:cNvPr id="13" name="TextBox 12"/>
          <p:cNvSpPr txBox="1"/>
          <p:nvPr/>
        </p:nvSpPr>
        <p:spPr>
          <a:xfrm>
            <a:off x="731520" y="1463040"/>
            <a:ext cx="6675120" cy="640080"/>
          </a:xfrm>
          <a:prstGeom prst="rect">
            <a:avLst/>
          </a:prstGeom>
          <a:noFill/>
        </p:spPr>
        <p:txBody>
          <a:bodyPr wrap="square">
            <a:spAutoFit/>
          </a:bodyPr>
          <a:lstStyle/>
          <a:p>
            <a:pPr algn="l">
              <a:defRPr sz="1100" b="0">
                <a:solidFill>
                  <a:srgbClr val="1A1A2E"/>
                </a:solidFill>
                <a:latin typeface="Meiryo"/>
              </a:defRPr>
            </a:pPr>
            <a:r>
              <a:t>Metaは米29州との間で未成年ユーザー保護を巡る訴訟について、最大18億ドル（保証分約12.7億ドル＋条件付き約5億ドル）を10年かけて支払う和解に合意した。第3四半期に約100億ドルの引当金を計上する見通し。Morgan Stanley...</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spAutoFit/>
          </a:bodyPr>
          <a:lstStyle/>
          <a:p>
            <a:pPr algn="l">
              <a:defRPr sz="900" b="0">
                <a:solidFill>
                  <a:srgbClr val="1A1A2E"/>
                </a:solidFill>
                <a:latin typeface="Meiryo"/>
              </a:defRPr>
            </a:pPr>
            <a:r>
              <a:t>20億人規模のInstagram日次利用者基盤への展開は、自律型AIエージェント市場における最大規模の消費者接点となる可能性がある。広告・EC・サブスクリプション事業者にとって、Hatch経由の購買代...</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Meta  |  Business  |  CNBC</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463040" cy="109728"/>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Sony Music Publishing・Warner ChappellがAnthropicを提訴、創業者2名を個人被告に</a:t>
            </a:r>
          </a:p>
        </p:txBody>
      </p:sp>
      <p:sp>
        <p:nvSpPr>
          <p:cNvPr id="25" name="TextBox 24"/>
          <p:cNvSpPr txBox="1"/>
          <p:nvPr/>
        </p:nvSpPr>
        <p:spPr>
          <a:xfrm>
            <a:off x="731520" y="3246120"/>
            <a:ext cx="6675120" cy="640080"/>
          </a:xfrm>
          <a:prstGeom prst="rect">
            <a:avLst/>
          </a:prstGeom>
          <a:noFill/>
        </p:spPr>
        <p:txBody>
          <a:bodyPr wrap="square">
            <a:spAutoFit/>
          </a:bodyPr>
          <a:lstStyle/>
          <a:p>
            <a:pPr algn="l">
              <a:defRPr sz="1100" b="0">
                <a:solidFill>
                  <a:srgbClr val="1A1A2E"/>
                </a:solidFill>
                <a:latin typeface="Meiryo"/>
              </a:defRPr>
            </a:pPr>
            <a:r>
              <a:t>Sony Music PublishingとWarner Chappell Musicは、Anthropicが著作権保有楽曲を無断でトレント経由により大量収集・学習させたとして、カリフォルニア北部地区連邦地裁に提訴した。訴状は「大規模かつ悪...</a:t>
            </a:r>
          </a:p>
        </p:txBody>
      </p:sp>
      <p:sp>
        <p:nvSpPr>
          <p:cNvPr id="26" name="Rounded Rectangle 25"/>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8" name="TextBox 27"/>
          <p:cNvSpPr txBox="1"/>
          <p:nvPr/>
        </p:nvSpPr>
        <p:spPr>
          <a:xfrm>
            <a:off x="7406640" y="3355848"/>
            <a:ext cx="3931920" cy="731520"/>
          </a:xfrm>
          <a:prstGeom prst="rect">
            <a:avLst/>
          </a:prstGeom>
          <a:noFill/>
        </p:spPr>
        <p:txBody>
          <a:bodyPr wrap="square">
            <a:spAutoFit/>
          </a:bodyPr>
          <a:lstStyle/>
          <a:p>
            <a:pPr algn="l">
              <a:defRPr sz="900" b="0">
                <a:solidFill>
                  <a:srgbClr val="1A1A2E"/>
                </a:solidFill>
                <a:latin typeface="Meiryo"/>
              </a:defRPr>
            </a:pPr>
            <a:r>
              <a:t>音楽業界とAI業界の対立が先鋭化し、他のレーベルや出版社による追随提訴を誘発する可能性が高い。Anthropicの企業向け契約における補償条項（indemnification）の重要性が増し、エンター...</a:t>
            </a:r>
          </a:p>
        </p:txBody>
      </p:sp>
      <p:sp>
        <p:nvSpPr>
          <p:cNvPr id="29" name="TextBox 28"/>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Anthropic  |  Policy  |  TechCrunch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(2/2)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2026-09-05  |  Page 6</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46304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データセンター企業Crusoe、評価額300億ドルで30億ドル超を調達</a:t>
            </a:r>
          </a:p>
        </p:txBody>
      </p:sp>
      <p:sp>
        <p:nvSpPr>
          <p:cNvPr id="13" name="TextBox 12"/>
          <p:cNvSpPr txBox="1"/>
          <p:nvPr/>
        </p:nvSpPr>
        <p:spPr>
          <a:xfrm>
            <a:off x="731520" y="1463040"/>
            <a:ext cx="6675120" cy="640080"/>
          </a:xfrm>
          <a:prstGeom prst="rect">
            <a:avLst/>
          </a:prstGeom>
          <a:noFill/>
        </p:spPr>
        <p:txBody>
          <a:bodyPr wrap="square">
            <a:spAutoFit/>
          </a:bodyPr>
          <a:lstStyle/>
          <a:p>
            <a:pPr algn="l">
              <a:defRPr sz="1100" b="0">
                <a:solidFill>
                  <a:srgbClr val="1A1A2E"/>
                </a:solidFill>
                <a:latin typeface="Meiryo"/>
              </a:defRPr>
            </a:pPr>
            <a:r>
              <a:t>AIデータセンター開発企業Crusoeは、Atreides ManagementとValor Equity Partnersが共同主導し、Mubadala Capitalも参加するラウンドで評価額300億ドル、30億ドル超の資金調達を完了し...</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spAutoFit/>
          </a:bodyPr>
          <a:lstStyle/>
          <a:p>
            <a:pPr algn="l">
              <a:defRPr sz="900" b="0">
                <a:solidFill>
                  <a:srgbClr val="1A1A2E"/>
                </a:solidFill>
                <a:latin typeface="Meiryo"/>
              </a:defRPr>
            </a:pPr>
            <a:r>
              <a:t>電力・冷却設備・半導体サプライチェーン企業への波及需要が拡大する。データセンター用地を持つ地域経済や電力会社にとって新たな投資機会となる一方、電力網逼迫地域では既存産業との競合リスクも生じる。</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Other  |  Business  |  Bloomberg</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46304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米商務省、中国企業の遠隔GPUアクセス封じる新規制を9月にも提示へ</a:t>
            </a:r>
          </a:p>
        </p:txBody>
      </p:sp>
      <p:sp>
        <p:nvSpPr>
          <p:cNvPr id="25" name="TextBox 24"/>
          <p:cNvSpPr txBox="1"/>
          <p:nvPr/>
        </p:nvSpPr>
        <p:spPr>
          <a:xfrm>
            <a:off x="731520" y="3246120"/>
            <a:ext cx="6675120" cy="640080"/>
          </a:xfrm>
          <a:prstGeom prst="rect">
            <a:avLst/>
          </a:prstGeom>
          <a:noFill/>
        </p:spPr>
        <p:txBody>
          <a:bodyPr wrap="square">
            <a:spAutoFit/>
          </a:bodyPr>
          <a:lstStyle/>
          <a:p>
            <a:pPr algn="l">
              <a:defRPr sz="1100" b="0">
                <a:solidFill>
                  <a:srgbClr val="1A1A2E"/>
                </a:solidFill>
                <a:latin typeface="Meiryo"/>
              </a:defRPr>
            </a:pPr>
            <a:r>
              <a:t>米商務省産業安全保障局（BIS）は、中国企業が第三国のデータセンター経由でNvidia製先端GPUの計算力に遠隔アクセスする「抜け穴」を封じる新規制を準備しており、早ければ9月中に業界団体へ共有される見通しと報じられた。実例として上海のIN...</a:t>
            </a:r>
          </a:p>
        </p:txBody>
      </p:sp>
      <p:sp>
        <p:nvSpPr>
          <p:cNvPr id="26" name="Rounded Rectangle 25"/>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8" name="TextBox 27"/>
          <p:cNvSpPr txBox="1"/>
          <p:nvPr/>
        </p:nvSpPr>
        <p:spPr>
          <a:xfrm>
            <a:off x="7406640" y="3355848"/>
            <a:ext cx="3931920" cy="731520"/>
          </a:xfrm>
          <a:prstGeom prst="rect">
            <a:avLst/>
          </a:prstGeom>
          <a:noFill/>
        </p:spPr>
        <p:txBody>
          <a:bodyPr wrap="square">
            <a:spAutoFit/>
          </a:bodyPr>
          <a:lstStyle/>
          <a:p>
            <a:pPr algn="l">
              <a:defRPr sz="900" b="0">
                <a:solidFill>
                  <a:srgbClr val="1A1A2E"/>
                </a:solidFill>
                <a:latin typeface="Meiryo"/>
              </a:defRPr>
            </a:pPr>
            <a:r>
              <a:t>東南アジア・日本のクラウド事業者は、中国企業向けサービス提供において新たなコンプライアンス負担を負うことになる。Nvidiaにとっては対中販売が一段と制限される一方、規制回避目的の代替チップ需要が国産...</a:t>
            </a:r>
          </a:p>
        </p:txBody>
      </p:sp>
      <p:sp>
        <p:nvSpPr>
          <p:cNvPr id="29" name="TextBox 28"/>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Other  |  Policy  |  Tom's Hardware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Global Market Impact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2026-09-05  |  Page 7</a:t>
            </a:r>
          </a:p>
        </p:txBody>
      </p:sp>
      <p:sp>
        <p:nvSpPr>
          <p:cNvPr id="6" name="TextBox 5"/>
          <p:cNvSpPr txBox="1"/>
          <p:nvPr/>
        </p:nvSpPr>
        <p:spPr>
          <a:xfrm>
            <a:off x="548640" y="960120"/>
            <a:ext cx="5303520" cy="4572000"/>
          </a:xfrm>
          <a:prstGeom prst="rect">
            <a:avLst/>
          </a:prstGeom>
          <a:noFill/>
        </p:spPr>
        <p:txBody>
          <a:bodyPr wrap="square">
            <a:spAutoFit/>
          </a:bodyPr>
          <a:lstStyle/>
          <a:p>
            <a:pPr algn="l">
              <a:defRPr sz="1200" b="0">
                <a:solidFill>
                  <a:srgbClr val="1A1A2E"/>
                </a:solidFill>
                <a:latin typeface="Meiryo"/>
              </a:defRPr>
            </a:pPr>
            <a:r>
              <a:t>米国では、OpenAIのGPT-6 Astra投入とMetaの18億ドル和解を経たエージェント攻勢が示す通り、フロンティア企業が「性能競争」から「実装・収益化競争」へ軸足を移しつつある。同時にCrusoeの300億ドル評価額調達に象徴されるインフラ資本集中と、商務省による対中遠隔GPUアクセス規制の準備が並行し、AI産業の国家戦略化が一段と鮮明になった。欧州は具体的な大型ニュースこそ少ないものの、AI Act第50条の透明性義務が8月に発効済みであり、規制執行の実効性が今後の焦点となる。中国・アジアでは、TencentがBlackwell GPUへ遠隔アクセスする事例や、Enflame Technologyの上海IPOにおける6,000倍超の需要超過が示す通り、輸出規制の抜け穴を突く動きと国産半導体育成の両輪でAI自給体制の構築を急いでいる。日本を含むアジアのクラウド事業者は、中国企業への</a:t>
            </a:r>
          </a:p>
        </p:txBody>
      </p:sp>
      <p:sp>
        <p:nvSpPr>
          <p:cNvPr id="7" name="TextBox 6"/>
          <p:cNvSpPr txBox="1"/>
          <p:nvPr/>
        </p:nvSpPr>
        <p:spPr>
          <a:xfrm>
            <a:off x="6156655" y="960120"/>
            <a:ext cx="5486400" cy="320040"/>
          </a:xfrm>
          <a:prstGeom prst="rect">
            <a:avLst/>
          </a:prstGeom>
          <a:noFill/>
        </p:spPr>
        <p:txBody>
          <a:bodyPr wrap="square">
            <a:spAutoFit/>
          </a:bodyPr>
          <a:lstStyle/>
          <a:p>
            <a:pPr algn="l">
              <a:defRPr sz="1400" b="1">
                <a:solidFill>
                  <a:srgbClr val="005BAB"/>
                </a:solidFill>
                <a:latin typeface="Meiryo"/>
              </a:defRPr>
            </a:pPr>
            <a:r>
              <a:t>KEY IMPACT POINTS</a:t>
            </a:r>
          </a:p>
        </p:txBody>
      </p:sp>
      <p:sp>
        <p:nvSpPr>
          <p:cNvPr id="8" name="Rectangle 7"/>
          <p:cNvSpPr/>
          <p:nvPr/>
        </p:nvSpPr>
        <p:spPr>
          <a:xfrm>
            <a:off x="6156655" y="1261872"/>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56655" y="14173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56655" y="14173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66383" y="16002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6383" y="1600200"/>
            <a:ext cx="365760" cy="365760"/>
          </a:xfrm>
          <a:prstGeom prst="rect">
            <a:avLst/>
          </a:prstGeom>
          <a:noFill/>
        </p:spPr>
        <p:txBody>
          <a:bodyPr wrap="square" anchor="ctr">
            <a:spAutoFit/>
          </a:bodyPr>
          <a:lstStyle/>
          <a:p>
            <a:pPr algn="ctr">
              <a:defRPr sz="1300" b="1">
                <a:solidFill>
                  <a:srgbClr val="FFFFFF"/>
                </a:solidFill>
                <a:latin typeface="Meiryo"/>
              </a:defRPr>
            </a:pPr>
            <a:r>
              <a:t>1</a:t>
            </a:r>
          </a:p>
        </p:txBody>
      </p:sp>
      <p:sp>
        <p:nvSpPr>
          <p:cNvPr id="13" name="TextBox 12"/>
          <p:cNvSpPr txBox="1"/>
          <p:nvPr/>
        </p:nvSpPr>
        <p:spPr>
          <a:xfrm>
            <a:off x="6705295" y="1490472"/>
            <a:ext cx="4800600" cy="685800"/>
          </a:xfrm>
          <a:prstGeom prst="rect">
            <a:avLst/>
          </a:prstGeom>
          <a:noFill/>
        </p:spPr>
        <p:txBody>
          <a:bodyPr wrap="square">
            <a:spAutoFit/>
          </a:bodyPr>
          <a:lstStyle/>
          <a:p>
            <a:pPr algn="l">
              <a:defRPr sz="1000" b="0">
                <a:solidFill>
                  <a:srgbClr val="1A1A2E"/>
                </a:solidFill>
                <a:latin typeface="Meiryo"/>
              </a:defRPr>
            </a:pPr>
            <a:r>
              <a:t>OpenAIとMetaの「性能競争から実装競争へ」の軸足移行が、AI業界全体の投資評価基準を変える可能性</a:t>
            </a:r>
          </a:p>
        </p:txBody>
      </p:sp>
      <p:sp>
        <p:nvSpPr>
          <p:cNvPr id="14" name="Rectangle 13"/>
          <p:cNvSpPr/>
          <p:nvPr/>
        </p:nvSpPr>
        <p:spPr>
          <a:xfrm>
            <a:off x="6156655" y="23317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6655" y="233172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66383" y="251460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6383" y="2514600"/>
            <a:ext cx="365760" cy="365760"/>
          </a:xfrm>
          <a:prstGeom prst="rect">
            <a:avLst/>
          </a:prstGeom>
          <a:noFill/>
        </p:spPr>
        <p:txBody>
          <a:bodyPr wrap="square" anchor="ctr">
            <a:spAutoFit/>
          </a:bodyPr>
          <a:lstStyle/>
          <a:p>
            <a:pPr algn="ctr">
              <a:defRPr sz="1300" b="1">
                <a:solidFill>
                  <a:srgbClr val="FFFFFF"/>
                </a:solidFill>
                <a:latin typeface="Meiryo"/>
              </a:defRPr>
            </a:pPr>
            <a:r>
              <a:t>2</a:t>
            </a:r>
          </a:p>
        </p:txBody>
      </p:sp>
      <p:sp>
        <p:nvSpPr>
          <p:cNvPr id="18" name="TextBox 17"/>
          <p:cNvSpPr txBox="1"/>
          <p:nvPr/>
        </p:nvSpPr>
        <p:spPr>
          <a:xfrm>
            <a:off x="6705295" y="2404872"/>
            <a:ext cx="4800600" cy="685800"/>
          </a:xfrm>
          <a:prstGeom prst="rect">
            <a:avLst/>
          </a:prstGeom>
          <a:noFill/>
        </p:spPr>
        <p:txBody>
          <a:bodyPr wrap="square">
            <a:spAutoFit/>
          </a:bodyPr>
          <a:lstStyle/>
          <a:p>
            <a:pPr algn="l">
              <a:defRPr sz="1000" b="0">
                <a:solidFill>
                  <a:srgbClr val="1A1A2E"/>
                </a:solidFill>
                <a:latin typeface="Meiryo"/>
              </a:defRPr>
            </a:pPr>
            <a:r>
              <a:t>Crusoeなどインフラ専業企業への資本集中が、AIバブル論争を再燃させるリスク</a:t>
            </a:r>
          </a:p>
        </p:txBody>
      </p:sp>
      <p:sp>
        <p:nvSpPr>
          <p:cNvPr id="19" name="Rectangle 18"/>
          <p:cNvSpPr/>
          <p:nvPr/>
        </p:nvSpPr>
        <p:spPr>
          <a:xfrm>
            <a:off x="6156655" y="32461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56655" y="324612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66383" y="342900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6383" y="3429000"/>
            <a:ext cx="365760" cy="365760"/>
          </a:xfrm>
          <a:prstGeom prst="rect">
            <a:avLst/>
          </a:prstGeom>
          <a:noFill/>
        </p:spPr>
        <p:txBody>
          <a:bodyPr wrap="square" anchor="ctr">
            <a:spAutoFit/>
          </a:bodyPr>
          <a:lstStyle/>
          <a:p>
            <a:pPr algn="ctr">
              <a:defRPr sz="1300" b="1">
                <a:solidFill>
                  <a:srgbClr val="FFFFFF"/>
                </a:solidFill>
                <a:latin typeface="Meiryo"/>
              </a:defRPr>
            </a:pPr>
            <a:r>
              <a:t>3</a:t>
            </a:r>
          </a:p>
        </p:txBody>
      </p:sp>
      <p:sp>
        <p:nvSpPr>
          <p:cNvPr id="23" name="TextBox 22"/>
          <p:cNvSpPr txBox="1"/>
          <p:nvPr/>
        </p:nvSpPr>
        <p:spPr>
          <a:xfrm>
            <a:off x="6705295" y="3319272"/>
            <a:ext cx="4800600" cy="685800"/>
          </a:xfrm>
          <a:prstGeom prst="rect">
            <a:avLst/>
          </a:prstGeom>
          <a:noFill/>
        </p:spPr>
        <p:txBody>
          <a:bodyPr wrap="square">
            <a:spAutoFit/>
          </a:bodyPr>
          <a:lstStyle/>
          <a:p>
            <a:pPr algn="l">
              <a:defRPr sz="1000" b="0">
                <a:solidFill>
                  <a:srgbClr val="1A1A2E"/>
                </a:solidFill>
                <a:latin typeface="Meiryo"/>
              </a:defRPr>
            </a:pPr>
            <a:r>
              <a:t>米国の遠隔GPUアクセス規制強化が、東南アジア・日本のクラウド事業者に新たなコンプライアンス負担を課す</a:t>
            </a:r>
          </a:p>
        </p:txBody>
      </p:sp>
      <p:sp>
        <p:nvSpPr>
          <p:cNvPr id="24" name="Rectangle 23"/>
          <p:cNvSpPr/>
          <p:nvPr/>
        </p:nvSpPr>
        <p:spPr>
          <a:xfrm>
            <a:off x="6156655" y="41605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56655" y="4160520"/>
            <a:ext cx="54864" cy="82296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66383" y="4343400"/>
            <a:ext cx="365760" cy="365760"/>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6383" y="4343400"/>
            <a:ext cx="365760" cy="365760"/>
          </a:xfrm>
          <a:prstGeom prst="rect">
            <a:avLst/>
          </a:prstGeom>
          <a:noFill/>
        </p:spPr>
        <p:txBody>
          <a:bodyPr wrap="square" anchor="ctr">
            <a:spAutoFit/>
          </a:bodyPr>
          <a:lstStyle/>
          <a:p>
            <a:pPr algn="ctr">
              <a:defRPr sz="1300" b="1">
                <a:solidFill>
                  <a:srgbClr val="FFFFFF"/>
                </a:solidFill>
                <a:latin typeface="Meiryo"/>
              </a:defRPr>
            </a:pPr>
            <a:r>
              <a:t>4</a:t>
            </a:r>
          </a:p>
        </p:txBody>
      </p:sp>
      <p:sp>
        <p:nvSpPr>
          <p:cNvPr id="28" name="TextBox 27"/>
          <p:cNvSpPr txBox="1"/>
          <p:nvPr/>
        </p:nvSpPr>
        <p:spPr>
          <a:xfrm>
            <a:off x="6705295" y="4233672"/>
            <a:ext cx="4800600" cy="685800"/>
          </a:xfrm>
          <a:prstGeom prst="rect">
            <a:avLst/>
          </a:prstGeom>
          <a:noFill/>
        </p:spPr>
        <p:txBody>
          <a:bodyPr wrap="square">
            <a:spAutoFit/>
          </a:bodyPr>
          <a:lstStyle/>
          <a:p>
            <a:pPr algn="l">
              <a:defRPr sz="1000" b="0">
                <a:solidFill>
                  <a:srgbClr val="1A1A2E"/>
                </a:solidFill>
                <a:latin typeface="Meiryo"/>
              </a:defRPr>
            </a:pPr>
            <a:r>
              <a:t>中国の国産AI半導体（Enflame等）への投資過熱が、米中デカップリングを投資市場レベルでも加速</a:t>
            </a:r>
          </a:p>
        </p:txBody>
      </p:sp>
      <p:sp>
        <p:nvSpPr>
          <p:cNvPr id="29" name="Rectangle 28"/>
          <p:cNvSpPr/>
          <p:nvPr/>
        </p:nvSpPr>
        <p:spPr>
          <a:xfrm>
            <a:off x="6156655" y="50749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56655" y="50749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266383" y="52578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6383" y="5257800"/>
            <a:ext cx="365760" cy="365760"/>
          </a:xfrm>
          <a:prstGeom prst="rect">
            <a:avLst/>
          </a:prstGeom>
          <a:noFill/>
        </p:spPr>
        <p:txBody>
          <a:bodyPr wrap="square" anchor="ctr">
            <a:spAutoFit/>
          </a:bodyPr>
          <a:lstStyle/>
          <a:p>
            <a:pPr algn="ctr">
              <a:defRPr sz="1300" b="1">
                <a:solidFill>
                  <a:srgbClr val="FFFFFF"/>
                </a:solidFill>
                <a:latin typeface="Meiryo"/>
              </a:defRPr>
            </a:pPr>
            <a:r>
              <a:t>5</a:t>
            </a:r>
          </a:p>
        </p:txBody>
      </p:sp>
      <p:sp>
        <p:nvSpPr>
          <p:cNvPr id="33" name="TextBox 32"/>
          <p:cNvSpPr txBox="1"/>
          <p:nvPr/>
        </p:nvSpPr>
        <p:spPr>
          <a:xfrm>
            <a:off x="6705295" y="5148072"/>
            <a:ext cx="4800600" cy="685800"/>
          </a:xfrm>
          <a:prstGeom prst="rect">
            <a:avLst/>
          </a:prstGeom>
          <a:noFill/>
        </p:spPr>
        <p:txBody>
          <a:bodyPr wrap="square">
            <a:spAutoFit/>
          </a:bodyPr>
          <a:lstStyle/>
          <a:p>
            <a:pPr algn="l">
              <a:defRPr sz="1000" b="0">
                <a:solidFill>
                  <a:srgbClr val="1A1A2E"/>
                </a:solidFill>
                <a:latin typeface="Meiryo"/>
              </a:defRPr>
            </a:pPr>
            <a:r>
              <a:t>音楽出版大手によるAnthropic提訴が、生成AI企業のデータ調達戦略全体に法的リスクとして波及</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日本市場インパクト &amp; アクション</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2026-09-05  |  Page 8</a:t>
            </a:r>
          </a:p>
        </p:txBody>
      </p:sp>
      <p:sp>
        <p:nvSpPr>
          <p:cNvPr id="6" name="TextBox 5"/>
          <p:cNvSpPr txBox="1"/>
          <p:nvPr/>
        </p:nvSpPr>
        <p:spPr>
          <a:xfrm>
            <a:off x="548640" y="960120"/>
            <a:ext cx="5303520" cy="320040"/>
          </a:xfrm>
          <a:prstGeom prst="rect">
            <a:avLst/>
          </a:prstGeom>
          <a:noFill/>
        </p:spPr>
        <p:txBody>
          <a:bodyPr wrap="square">
            <a:spAutoFit/>
          </a:bodyPr>
          <a:lstStyle/>
          <a:p>
            <a:pPr algn="l">
              <a:defRPr sz="1500" b="1">
                <a:solidFill>
                  <a:srgbClr val="005BAB"/>
                </a:solidFill>
                <a:latin typeface="Meiryo"/>
              </a:defRPr>
            </a:pPr>
            <a:r>
              <a:t>日本市場への影響</a:t>
            </a:r>
          </a:p>
        </p:txBody>
      </p:sp>
      <p:sp>
        <p:nvSpPr>
          <p:cNvPr id="7" name="Rectangle 6"/>
          <p:cNvSpPr/>
          <p:nvPr/>
        </p:nvSpPr>
        <p:spPr>
          <a:xfrm>
            <a:off x="548640" y="1261872"/>
            <a:ext cx="13716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1732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6184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61848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12" name="TextBox 11"/>
          <p:cNvSpPr txBox="1"/>
          <p:nvPr/>
        </p:nvSpPr>
        <p:spPr>
          <a:xfrm>
            <a:off x="1143000" y="1490472"/>
            <a:ext cx="4572000" cy="731520"/>
          </a:xfrm>
          <a:prstGeom prst="rect">
            <a:avLst/>
          </a:prstGeom>
          <a:noFill/>
        </p:spPr>
        <p:txBody>
          <a:bodyPr wrap="square">
            <a:spAutoFit/>
          </a:bodyPr>
          <a:lstStyle/>
          <a:p>
            <a:pPr algn="l">
              <a:defRPr sz="1100" b="0">
                <a:solidFill>
                  <a:srgbClr val="1A1A2E"/>
                </a:solidFill>
                <a:latin typeface="Meiryo"/>
              </a:defRPr>
            </a:pPr>
            <a:r>
              <a:t>国内クラウド事業者は中国企業向け計算力提供に関する顧客確認体制の強化が急務</a:t>
            </a:r>
          </a:p>
        </p:txBody>
      </p:sp>
      <p:sp>
        <p:nvSpPr>
          <p:cNvPr id="13" name="Rectangle 12"/>
          <p:cNvSpPr/>
          <p:nvPr/>
        </p:nvSpPr>
        <p:spPr>
          <a:xfrm>
            <a:off x="548640" y="237744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77440"/>
            <a:ext cx="54864" cy="86868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57860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57860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17" name="TextBox 16"/>
          <p:cNvSpPr txBox="1"/>
          <p:nvPr/>
        </p:nvSpPr>
        <p:spPr>
          <a:xfrm>
            <a:off x="1143000" y="2450592"/>
            <a:ext cx="4572000" cy="731520"/>
          </a:xfrm>
          <a:prstGeom prst="rect">
            <a:avLst/>
          </a:prstGeom>
          <a:noFill/>
        </p:spPr>
        <p:txBody>
          <a:bodyPr wrap="square">
            <a:spAutoFit/>
          </a:bodyPr>
          <a:lstStyle/>
          <a:p>
            <a:pPr algn="l">
              <a:defRPr sz="1100" b="0">
                <a:solidFill>
                  <a:srgbClr val="1A1A2E"/>
                </a:solidFill>
                <a:latin typeface="Meiryo"/>
              </a:defRPr>
            </a:pPr>
            <a:r>
              <a:t>自律型AIエージェント（Hatch、Grok Bot等）の日本市場投入を見据えたAPI連携・データ戦略の準備</a:t>
            </a:r>
          </a:p>
        </p:txBody>
      </p:sp>
      <p:sp>
        <p:nvSpPr>
          <p:cNvPr id="18" name="Rectangle 17"/>
          <p:cNvSpPr/>
          <p:nvPr/>
        </p:nvSpPr>
        <p:spPr>
          <a:xfrm>
            <a:off x="548640" y="333756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33756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35387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53872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22" name="TextBox 21"/>
          <p:cNvSpPr txBox="1"/>
          <p:nvPr/>
        </p:nvSpPr>
        <p:spPr>
          <a:xfrm>
            <a:off x="1143000" y="3410712"/>
            <a:ext cx="4572000" cy="731520"/>
          </a:xfrm>
          <a:prstGeom prst="rect">
            <a:avLst/>
          </a:prstGeom>
          <a:noFill/>
        </p:spPr>
        <p:txBody>
          <a:bodyPr wrap="square">
            <a:spAutoFit/>
          </a:bodyPr>
          <a:lstStyle/>
          <a:p>
            <a:pPr algn="l">
              <a:defRPr sz="1100" b="0">
                <a:solidFill>
                  <a:srgbClr val="1A1A2E"/>
                </a:solidFill>
                <a:latin typeface="Meiryo"/>
              </a:defRPr>
            </a:pPr>
            <a:r>
              <a:t>電力制約を踏まえた国内データセンターの立地分散が中長期的な検討課題に</a:t>
            </a:r>
          </a:p>
        </p:txBody>
      </p:sp>
      <p:sp>
        <p:nvSpPr>
          <p:cNvPr id="23" name="Rounded Rectangle 22"/>
          <p:cNvSpPr/>
          <p:nvPr/>
        </p:nvSpPr>
        <p:spPr>
          <a:xfrm>
            <a:off x="6156655" y="960120"/>
            <a:ext cx="5486400" cy="548640"/>
          </a:xfrm>
          <a:prstGeom prst="round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39535" y="1051560"/>
            <a:ext cx="5120640" cy="365760"/>
          </a:xfrm>
          <a:prstGeom prst="rect">
            <a:avLst/>
          </a:prstGeom>
          <a:noFill/>
        </p:spPr>
        <p:txBody>
          <a:bodyPr wrap="square">
            <a:spAutoFit/>
          </a:bodyPr>
          <a:lstStyle/>
          <a:p>
            <a:pPr algn="l">
              <a:defRPr sz="1600" b="1">
                <a:solidFill>
                  <a:srgbClr val="FFFFFF"/>
                </a:solidFill>
                <a:latin typeface="Meiryo"/>
              </a:defRPr>
            </a:pPr>
            <a:r>
              <a:t>■  ACTION ITEMS</a:t>
            </a:r>
          </a:p>
        </p:txBody>
      </p:sp>
      <p:sp>
        <p:nvSpPr>
          <p:cNvPr id="25" name="Rounded Rectangle 24"/>
          <p:cNvSpPr/>
          <p:nvPr/>
        </p:nvSpPr>
        <p:spPr>
          <a:xfrm>
            <a:off x="6156655" y="1645920"/>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93815" y="1874520"/>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93815" y="1874520"/>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28" name="TextBox 27"/>
          <p:cNvSpPr txBox="1"/>
          <p:nvPr/>
        </p:nvSpPr>
        <p:spPr>
          <a:xfrm>
            <a:off x="6705295" y="1737360"/>
            <a:ext cx="4800600" cy="731520"/>
          </a:xfrm>
          <a:prstGeom prst="rect">
            <a:avLst/>
          </a:prstGeom>
          <a:noFill/>
        </p:spPr>
        <p:txBody>
          <a:bodyPr wrap="square">
            <a:spAutoFit/>
          </a:bodyPr>
          <a:lstStyle/>
          <a:p>
            <a:pPr algn="l">
              <a:defRPr sz="1100" b="0">
                <a:solidFill>
                  <a:srgbClr val="1A1A2E"/>
                </a:solidFill>
                <a:latin typeface="Meiryo"/>
              </a:defRPr>
            </a:pPr>
            <a:r>
              <a:t>国内クラウド・データセンター事業者（IT部門責任者）は、2026年9月中に中国企業向けサービス提供の顧客確認プロセスを点検すること</a:t>
            </a:r>
          </a:p>
        </p:txBody>
      </p:sp>
      <p:sp>
        <p:nvSpPr>
          <p:cNvPr id="29" name="Rounded Rectangle 28"/>
          <p:cNvSpPr/>
          <p:nvPr/>
        </p:nvSpPr>
        <p:spPr>
          <a:xfrm>
            <a:off x="6156655" y="2670048"/>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93815" y="2898648"/>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93815" y="2898648"/>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32" name="TextBox 31"/>
          <p:cNvSpPr txBox="1"/>
          <p:nvPr/>
        </p:nvSpPr>
        <p:spPr>
          <a:xfrm>
            <a:off x="6705295" y="2761488"/>
            <a:ext cx="4800600" cy="731520"/>
          </a:xfrm>
          <a:prstGeom prst="rect">
            <a:avLst/>
          </a:prstGeom>
          <a:noFill/>
        </p:spPr>
        <p:txBody>
          <a:bodyPr wrap="square">
            <a:spAutoFit/>
          </a:bodyPr>
          <a:lstStyle/>
          <a:p>
            <a:pPr algn="l">
              <a:defRPr sz="1100" b="0">
                <a:solidFill>
                  <a:srgbClr val="1A1A2E"/>
                </a:solidFill>
                <a:latin typeface="Meiryo"/>
              </a:defRPr>
            </a:pPr>
            <a:r>
              <a:t>コンテンツ・音楽出版業界の法務担当者は、Sony Music Publishing対Anthropic訴訟の進展を四半期ごとに追跡し、自社のAIライセンス交渉方針に反映すること</a:t>
            </a:r>
          </a:p>
        </p:txBody>
      </p:sp>
      <p:sp>
        <p:nvSpPr>
          <p:cNvPr id="33" name="Rounded Rectangle 32"/>
          <p:cNvSpPr/>
          <p:nvPr/>
        </p:nvSpPr>
        <p:spPr>
          <a:xfrm>
            <a:off x="6156655" y="3694176"/>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293815" y="3922776"/>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93815" y="3922776"/>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36" name="TextBox 35"/>
          <p:cNvSpPr txBox="1"/>
          <p:nvPr/>
        </p:nvSpPr>
        <p:spPr>
          <a:xfrm>
            <a:off x="6705295" y="3785616"/>
            <a:ext cx="4800600" cy="731520"/>
          </a:xfrm>
          <a:prstGeom prst="rect">
            <a:avLst/>
          </a:prstGeom>
          <a:noFill/>
        </p:spPr>
        <p:txBody>
          <a:bodyPr wrap="square">
            <a:spAutoFit/>
          </a:bodyPr>
          <a:lstStyle/>
          <a:p>
            <a:pPr algn="l">
              <a:defRPr sz="1100" b="0">
                <a:solidFill>
                  <a:srgbClr val="1A1A2E"/>
                </a:solidFill>
                <a:latin typeface="Meiryo"/>
              </a:defRPr>
            </a:pPr>
            <a:r>
              <a:t>EC・SaaS事業者のプロダクト責任者は、2026年第4四半期までにMeta HatchやGrok Bot等の自律エージェント経由の顧客接点確保策を検討すること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AI業界標準規格 / プロトコル一覧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2026-09-05  |  Page 9</a:t>
            </a:r>
          </a:p>
        </p:txBody>
      </p:sp>
      <p:graphicFrame>
        <p:nvGraphicFramePr>
          <p:cNvPr id="6" name="Table 5"/>
          <p:cNvGraphicFramePr>
            <a:graphicFrameLocks noGrp="1"/>
          </p:cNvGraphicFramePr>
          <p:nvPr/>
        </p:nvGraphicFramePr>
        <p:xfrm>
          <a:off x="548640" y="960120"/>
          <a:ext cx="11094415" cy="4754880"/>
        </p:xfrm>
        <a:graphic>
          <a:graphicData uri="http://schemas.openxmlformats.org/drawingml/2006/table">
            <a:tbl>
              <a:tblPr firstRow="1" bandRow="1">
                <a:tableStyleId>{5C22544A-7EE6-4342-B048-85BDC9FD1C3A}</a:tableStyleId>
              </a:tblPr>
              <a:tblGrid>
                <a:gridCol w="1463040"/>
                <a:gridCol w="1645920"/>
                <a:gridCol w="1371600"/>
                <a:gridCol w="914400"/>
                <a:gridCol w="5699455"/>
              </a:tblGrid>
              <a:tr h="594360">
                <a:tc>
                  <a:txBody>
                    <a:bodyPr/>
                    <a:lstStyle/>
                    <a:p>
                      <a:pPr algn="ctr">
                        <a:defRPr sz="1100" b="1">
                          <a:solidFill>
                            <a:srgbClr val="FFFFFF"/>
                          </a:solidFill>
                          <a:latin typeface="Meiryo"/>
                        </a:defRPr>
                      </a:pPr>
                      <a:r>
                        <a:t>規格名</a:t>
                      </a:r>
                    </a:p>
                  </a:txBody>
                  <a:tcPr>
                    <a:solidFill>
                      <a:srgbClr val="005BAB"/>
                    </a:solidFill>
                  </a:tcPr>
                </a:tc>
                <a:tc>
                  <a:txBody>
                    <a:bodyPr/>
                    <a:lstStyle/>
                    <a:p>
                      <a:pPr algn="ctr">
                        <a:defRPr sz="1100" b="1">
                          <a:solidFill>
                            <a:srgbClr val="FFFFFF"/>
                          </a:solidFill>
                          <a:latin typeface="Meiryo"/>
                        </a:defRPr>
                      </a:pPr>
                      <a:r>
                        <a:t>発表元</a:t>
                      </a:r>
                    </a:p>
                  </a:txBody>
                  <a:tcPr>
                    <a:solidFill>
                      <a:srgbClr val="005BAB"/>
                    </a:solidFill>
                  </a:tcPr>
                </a:tc>
                <a:tc>
                  <a:txBody>
                    <a:bodyPr/>
                    <a:lstStyle/>
                    <a:p>
                      <a:pPr algn="ctr">
                        <a:defRPr sz="1100" b="1">
                          <a:solidFill>
                            <a:srgbClr val="FFFFFF"/>
                          </a:solidFill>
                          <a:latin typeface="Meiryo"/>
                        </a:defRPr>
                      </a:pPr>
                      <a:r>
                        <a:t>レイヤー</a:t>
                      </a:r>
                    </a:p>
                  </a:txBody>
                  <a:tcPr>
                    <a:solidFill>
                      <a:srgbClr val="005BAB"/>
                    </a:solidFill>
                  </a:tcPr>
                </a:tc>
                <a:tc>
                  <a:txBody>
                    <a:bodyPr/>
                    <a:lstStyle/>
                    <a:p>
                      <a:pPr algn="ctr">
                        <a:defRPr sz="1100" b="1">
                          <a:solidFill>
                            <a:srgbClr val="FFFFFF"/>
                          </a:solidFill>
                          <a:latin typeface="Meiryo"/>
                        </a:defRPr>
                      </a:pPr>
                      <a:r>
                        <a:t>発表日</a:t>
                      </a:r>
                    </a:p>
                  </a:txBody>
                  <a:tcPr>
                    <a:solidFill>
                      <a:srgbClr val="005BAB"/>
                    </a:solidFill>
                  </a:tcPr>
                </a:tc>
                <a:tc>
                  <a:txBody>
                    <a:bodyPr/>
                    <a:lstStyle/>
                    <a:p>
                      <a:pPr algn="ctr">
                        <a:defRPr sz="1100" b="1">
                          <a:solidFill>
                            <a:srgbClr val="FFFFFF"/>
                          </a:solidFill>
                          <a:latin typeface="Meiryo"/>
                        </a:defRPr>
                      </a:pPr>
                      <a:r>
                        <a:t>概要</a:t>
                      </a:r>
                    </a:p>
                  </a:txBody>
                  <a:tcPr>
                    <a:solidFill>
                      <a:srgbClr val="005BAB"/>
                    </a:solidFill>
                  </a:tcPr>
                </a:tc>
              </a:tr>
              <a:tr h="594360">
                <a:tc>
                  <a:txBody>
                    <a:bodyPr/>
                    <a:lstStyle/>
                    <a:p>
                      <a:pPr>
                        <a:defRPr sz="1000" b="1">
                          <a:solidFill>
                            <a:srgbClr val="005BAB"/>
                          </a:solidFill>
                          <a:latin typeface="Meiryo"/>
                        </a:defRPr>
                      </a:pPr>
                      <a:r>
                        <a:t>UCP</a:t>
                      </a:r>
                    </a:p>
                  </a:txBody>
                  <a:tcPr>
                    <a:solidFill>
                      <a:srgbClr val="FFFFFF"/>
                    </a:solidFill>
                  </a:tcPr>
                </a:tc>
                <a:tc>
                  <a:txBody>
                    <a:bodyPr/>
                    <a:lstStyle/>
                    <a:p>
                      <a:pPr>
                        <a:defRPr sz="1000">
                          <a:solidFill>
                            <a:srgbClr val="1A1A2E"/>
                          </a:solidFill>
                          <a:latin typeface="Meiryo"/>
                        </a:defRPr>
                      </a:pPr>
                      <a:r>
                        <a:t>Google</a:t>
                      </a:r>
                    </a:p>
                  </a:txBody>
                  <a:tcPr>
                    <a:solidFill>
                      <a:srgbClr val="FFFFFF"/>
                    </a:solidFill>
                  </a:tcPr>
                </a:tc>
                <a:tc>
                  <a:txBody>
                    <a:bodyPr/>
                    <a:lstStyle/>
                    <a:p>
                      <a:pPr algn="ctr">
                        <a:defRPr sz="1000" b="1">
                          <a:solidFill>
                            <a:srgbClr val="5BA4D9"/>
                          </a:solidFill>
                          <a:latin typeface="Meiryo"/>
                        </a:defRPr>
                      </a:pPr>
                      <a:r>
                        <a:t>Commerce</a:t>
                      </a:r>
                    </a:p>
                  </a:txBody>
                  <a:tcPr>
                    <a:solidFill>
                      <a:srgbClr val="FFFFFF"/>
                    </a:solidFill>
                  </a:tcPr>
                </a:tc>
                <a:tc>
                  <a:txBody>
                    <a:bodyPr/>
                    <a:lstStyle/>
                    <a:p>
                      <a:pPr algn="ctr">
                        <a:defRPr sz="1000">
                          <a:solidFill>
                            <a:srgbClr val="6C757D"/>
                          </a:solidFill>
                          <a:latin typeface="Meiryo"/>
                        </a:defRPr>
                      </a:pPr>
                      <a:r>
                        <a:t>2026-01</a:t>
                      </a:r>
                    </a:p>
                  </a:txBody>
                  <a:tcPr>
                    <a:solidFill>
                      <a:srgbClr val="FFFFFF"/>
                    </a:solidFill>
                  </a:tcPr>
                </a:tc>
                <a:tc>
                  <a:txBody>
                    <a:bodyPr/>
                    <a:lstStyle/>
                    <a:p>
                      <a:pPr>
                        <a:defRPr sz="1000">
                          <a:solidFill>
                            <a:srgbClr val="1A1A2E"/>
                          </a:solidFill>
                          <a:latin typeface="Meiryo"/>
                        </a:defRPr>
                      </a:pPr>
                      <a:r>
                        <a:t>AIエージェント経由の商取引を標準化。A2A・MCP・AP2を統合オーケストレーションする上位プロトコル。Shopify・Walmart等が支持。</a:t>
                      </a:r>
                    </a:p>
                  </a:txBody>
                  <a:tcPr>
                    <a:solidFill>
                      <a:srgbClr val="FFFFFF"/>
                    </a:solidFill>
                  </a:tcPr>
                </a:tc>
              </a:tr>
              <a:tr h="594360">
                <a:tc>
                  <a:txBody>
                    <a:bodyPr/>
                    <a:lstStyle/>
                    <a:p>
                      <a:pPr>
                        <a:defRPr sz="1000" b="1">
                          <a:solidFill>
                            <a:srgbClr val="005BAB"/>
                          </a:solidFill>
                          <a:latin typeface="Meiryo"/>
                        </a:defRPr>
                      </a:pPr>
                      <a:r>
                        <a:t>Agent Skills</a:t>
                      </a:r>
                    </a:p>
                  </a:txBody>
                  <a:tcPr>
                    <a:solidFill>
                      <a:srgbClr val="E8F1F8"/>
                    </a:solidFill>
                  </a:tcPr>
                </a:tc>
                <a:tc>
                  <a:txBody>
                    <a:bodyPr/>
                    <a:lstStyle/>
                    <a:p>
                      <a:pPr>
                        <a:defRPr sz="1000">
                          <a:solidFill>
                            <a:srgbClr val="1A1A2E"/>
                          </a:solidFill>
                          <a:latin typeface="Meiryo"/>
                        </a:defRPr>
                      </a:pPr>
                      <a:r>
                        <a:t>Anthropic</a:t>
                      </a:r>
                    </a:p>
                  </a:txBody>
                  <a:tcPr>
                    <a:solidFill>
                      <a:srgbClr val="E8F1F8"/>
                    </a:solidFill>
                  </a:tcPr>
                </a:tc>
                <a:tc>
                  <a:txBody>
                    <a:bodyPr/>
                    <a:lstStyle/>
                    <a:p>
                      <a:pPr algn="ctr">
                        <a:defRPr sz="1000" b="1">
                          <a:solidFill>
                            <a:srgbClr val="5BA4D9"/>
                          </a:solidFill>
                          <a:latin typeface="Meiryo"/>
                        </a:defRPr>
                      </a:pPr>
                      <a:r>
                        <a:t>Agent Capability</a:t>
                      </a:r>
                    </a:p>
                  </a:txBody>
                  <a:tcPr>
                    <a:solidFill>
                      <a:srgbClr val="E8F1F8"/>
                    </a:solidFill>
                  </a:tcPr>
                </a:tc>
                <a:tc>
                  <a:txBody>
                    <a:bodyPr/>
                    <a:lstStyle/>
                    <a:p>
                      <a:pPr algn="ctr">
                        <a:defRPr sz="1000">
                          <a:solidFill>
                            <a:srgbClr val="6C757D"/>
                          </a:solidFill>
                          <a:latin typeface="Meiryo"/>
                        </a:defRPr>
                      </a:pPr>
                      <a:r>
                        <a:t>2025-12</a:t>
                      </a:r>
                    </a:p>
                  </a:txBody>
                  <a:tcPr>
                    <a:solidFill>
                      <a:srgbClr val="E8F1F8"/>
                    </a:solidFill>
                  </a:tcPr>
                </a:tc>
                <a:tc>
                  <a:txBody>
                    <a:bodyPr/>
                    <a:lstStyle/>
                    <a:p>
                      <a:pPr>
                        <a:defRPr sz="1000">
                          <a:solidFill>
                            <a:srgbClr val="1A1A2E"/>
                          </a:solidFill>
                          <a:latin typeface="Meiryo"/>
                        </a:defRPr>
                      </a:pPr>
                      <a:r>
                        <a:t>AIエージェントに再現可能なワークフローを教えるオープン標準。SKILL.mdベースのプログレッシブ・ディスクロージャー方式。Microsoft・OpenAI等が採用。</a:t>
                      </a:r>
                    </a:p>
                  </a:txBody>
                  <a:tcPr>
                    <a:solidFill>
                      <a:srgbClr val="E8F1F8"/>
                    </a:solidFill>
                  </a:tcPr>
                </a:tc>
              </a:tr>
              <a:tr h="594360">
                <a:tc>
                  <a:txBody>
                    <a:bodyPr/>
                    <a:lstStyle/>
                    <a:p>
                      <a:pPr>
                        <a:defRPr sz="1000" b="1">
                          <a:solidFill>
                            <a:srgbClr val="005BAB"/>
                          </a:solidFill>
                          <a:latin typeface="Meiryo"/>
                        </a:defRPr>
                      </a:pPr>
                      <a:r>
                        <a:t>ANP</a:t>
                      </a:r>
                    </a:p>
                  </a:txBody>
                  <a:tcPr>
                    <a:solidFill>
                      <a:srgbClr val="FFFFFF"/>
                    </a:solidFill>
                  </a:tcPr>
                </a:tc>
                <a:tc>
                  <a:txBody>
                    <a:bodyPr/>
                    <a:lstStyle/>
                    <a:p>
                      <a:pPr>
                        <a:defRPr sz="1000">
                          <a:solidFill>
                            <a:srgbClr val="1A1A2E"/>
                          </a:solidFill>
                          <a:latin typeface="Meiryo"/>
                        </a:defRPr>
                      </a:pPr>
                      <a:r>
                        <a:t>ANP Community (中国移動/Huawei等)</a:t>
                      </a:r>
                    </a:p>
                  </a:txBody>
                  <a:tcPr>
                    <a:solidFill>
                      <a:srgbClr val="FFFFFF"/>
                    </a:solidFill>
                  </a:tcPr>
                </a:tc>
                <a:tc>
                  <a:txBody>
                    <a:bodyPr/>
                    <a:lstStyle/>
                    <a:p>
                      <a:pPr algn="ctr">
                        <a:defRPr sz="1000" b="1">
                          <a:solidFill>
                            <a:srgbClr val="5BA4D9"/>
                          </a:solidFill>
                          <a:latin typeface="Meiryo"/>
                        </a:defRPr>
                      </a:pPr>
                      <a:r>
                        <a:t>Network Discovery</a:t>
                      </a:r>
                    </a:p>
                  </a:txBody>
                  <a:tcPr>
                    <a:solidFill>
                      <a:srgbClr val="FFFFFF"/>
                    </a:solidFill>
                  </a:tcPr>
                </a:tc>
                <a:tc>
                  <a:txBody>
                    <a:bodyPr/>
                    <a:lstStyle/>
                    <a:p>
                      <a:pPr algn="ctr">
                        <a:defRPr sz="1000">
                          <a:solidFill>
                            <a:srgbClr val="6C757D"/>
                          </a:solidFill>
                          <a:latin typeface="Meiryo"/>
                        </a:defRPr>
                      </a:pPr>
                      <a:r>
                        <a:t>2025-10</a:t>
                      </a:r>
                    </a:p>
                  </a:txBody>
                  <a:tcPr>
                    <a:solidFill>
                      <a:srgbClr val="FFFFFF"/>
                    </a:solidFill>
                  </a:tcPr>
                </a:tc>
                <a:tc>
                  <a:txBody>
                    <a:bodyPr/>
                    <a:lstStyle/>
                    <a:p>
                      <a:pPr>
                        <a:defRPr sz="1000">
                          <a:solidFill>
                            <a:srgbClr val="1A1A2E"/>
                          </a:solidFill>
                          <a:latin typeface="Meiryo"/>
                        </a:defRPr>
                      </a:pPr>
                      <a:r>
                        <a:t>数十億のエージェントのためのネットワークプロトコル。W3C DIDによるID認証、JSON-LDによる能力公開の3層アーキテクチャ。</a:t>
                      </a:r>
                    </a:p>
                  </a:txBody>
                  <a:tcPr>
                    <a:solidFill>
                      <a:srgbClr val="FFFFFF"/>
                    </a:solidFill>
                  </a:tcPr>
                </a:tc>
              </a:tr>
              <a:tr h="594360">
                <a:tc>
                  <a:txBody>
                    <a:bodyPr/>
                    <a:lstStyle/>
                    <a:p>
                      <a:pPr>
                        <a:defRPr sz="1000" b="1">
                          <a:solidFill>
                            <a:srgbClr val="005BAB"/>
                          </a:solidFill>
                          <a:latin typeface="Meiryo"/>
                        </a:defRPr>
                      </a:pPr>
                      <a:r>
                        <a:t>ACP</a:t>
                      </a:r>
                    </a:p>
                  </a:txBody>
                  <a:tcPr>
                    <a:solidFill>
                      <a:srgbClr val="E8F1F8"/>
                    </a:solidFill>
                  </a:tcPr>
                </a:tc>
                <a:tc>
                  <a:txBody>
                    <a:bodyPr/>
                    <a:lstStyle/>
                    <a:p>
                      <a:pPr>
                        <a:defRPr sz="1000">
                          <a:solidFill>
                            <a:srgbClr val="1A1A2E"/>
                          </a:solidFill>
                          <a:latin typeface="Meiryo"/>
                        </a:defRPr>
                      </a:pPr>
                      <a:r>
                        <a:t>OpenAI + Stripe</a:t>
                      </a:r>
                    </a:p>
                  </a:txBody>
                  <a:tcPr>
                    <a:solidFill>
                      <a:srgbClr val="E8F1F8"/>
                    </a:solidFill>
                  </a:tcPr>
                </a:tc>
                <a:tc>
                  <a:txBody>
                    <a:bodyPr/>
                    <a:lstStyle/>
                    <a:p>
                      <a:pPr algn="ctr">
                        <a:defRPr sz="1000" b="1">
                          <a:solidFill>
                            <a:srgbClr val="5BA4D9"/>
                          </a:solidFill>
                          <a:latin typeface="Meiryo"/>
                        </a:defRPr>
                      </a:pPr>
                      <a:r>
                        <a:t>Commerce</a:t>
                      </a:r>
                    </a:p>
                  </a:txBody>
                  <a:tcPr>
                    <a:solidFill>
                      <a:srgbClr val="E8F1F8"/>
                    </a:solidFill>
                  </a:tcPr>
                </a:tc>
                <a:tc>
                  <a:txBody>
                    <a:bodyPr/>
                    <a:lstStyle/>
                    <a:p>
                      <a:pPr algn="ctr">
                        <a:defRPr sz="1000">
                          <a:solidFill>
                            <a:srgbClr val="6C757D"/>
                          </a:solidFill>
                          <a:latin typeface="Meiryo"/>
                        </a:defRPr>
                      </a:pPr>
                      <a:r>
                        <a:t>2025-09</a:t>
                      </a:r>
                    </a:p>
                  </a:txBody>
                  <a:tcPr>
                    <a:solidFill>
                      <a:srgbClr val="E8F1F8"/>
                    </a:solidFill>
                  </a:tcPr>
                </a:tc>
                <a:tc>
                  <a:txBody>
                    <a:bodyPr/>
                    <a:lstStyle/>
                    <a:p>
                      <a:pPr>
                        <a:defRPr sz="1000">
                          <a:solidFill>
                            <a:srgbClr val="1A1A2E"/>
                          </a:solidFill>
                          <a:latin typeface="Meiryo"/>
                        </a:defRPr>
                      </a:pPr>
                      <a:r>
                        <a:t>AIエージェント経由の商取引フローを実現するオープン標準。物理/デジタル商品、サブスクリプション対応。ChatGPTで実装済み。</a:t>
                      </a:r>
                    </a:p>
                  </a:txBody>
                  <a:tcPr>
                    <a:solidFill>
                      <a:srgbClr val="E8F1F8"/>
                    </a:solidFill>
                  </a:tcPr>
                </a:tc>
              </a:tr>
              <a:tr h="594360">
                <a:tc>
                  <a:txBody>
                    <a:bodyPr/>
                    <a:lstStyle/>
                    <a:p>
                      <a:pPr>
                        <a:defRPr sz="1000" b="1">
                          <a:solidFill>
                            <a:srgbClr val="005BAB"/>
                          </a:solidFill>
                          <a:latin typeface="Meiryo"/>
                        </a:defRPr>
                      </a:pPr>
                      <a:r>
                        <a:t>AGENTS.md</a:t>
                      </a:r>
                    </a:p>
                  </a:txBody>
                  <a:tcPr>
                    <a:solidFill>
                      <a:srgbClr val="FFFFFF"/>
                    </a:solidFill>
                  </a:tcPr>
                </a:tc>
                <a:tc>
                  <a:txBody>
                    <a:bodyPr/>
                    <a:lstStyle/>
                    <a:p>
                      <a:pPr>
                        <a:defRPr sz="1000">
                          <a:solidFill>
                            <a:srgbClr val="1A1A2E"/>
                          </a:solidFill>
                          <a:latin typeface="Meiryo"/>
                        </a:defRPr>
                      </a:pPr>
                      <a:r>
                        <a:t>OpenAI</a:t>
                      </a:r>
                    </a:p>
                  </a:txBody>
                  <a:tcPr>
                    <a:solidFill>
                      <a:srgbClr val="FFFFFF"/>
                    </a:solidFill>
                  </a:tcPr>
                </a:tc>
                <a:tc>
                  <a:txBody>
                    <a:bodyPr/>
                    <a:lstStyle/>
                    <a:p>
                      <a:pPr algn="ctr">
                        <a:defRPr sz="1000" b="1">
                          <a:solidFill>
                            <a:srgbClr val="5BA4D9"/>
                          </a:solidFill>
                          <a:latin typeface="Meiryo"/>
                        </a:defRPr>
                      </a:pPr>
                      <a:r>
                        <a:t>Project Instruction</a:t>
                      </a:r>
                    </a:p>
                  </a:txBody>
                  <a:tcPr>
                    <a:solidFill>
                      <a:srgbClr val="FFFFFF"/>
                    </a:solidFill>
                  </a:tcPr>
                </a:tc>
                <a:tc>
                  <a:txBody>
                    <a:bodyPr/>
                    <a:lstStyle/>
                    <a:p>
                      <a:pPr algn="ctr">
                        <a:defRPr sz="1000">
                          <a:solidFill>
                            <a:srgbClr val="6C757D"/>
                          </a:solidFill>
                          <a:latin typeface="Meiryo"/>
                        </a:defRPr>
                      </a:pPr>
                      <a:r>
                        <a:t>2025-08</a:t>
                      </a:r>
                    </a:p>
                  </a:txBody>
                  <a:tcPr>
                    <a:solidFill>
                      <a:srgbClr val="FFFFFF"/>
                    </a:solidFill>
                  </a:tcPr>
                </a:tc>
                <a:tc>
                  <a:txBody>
                    <a:bodyPr/>
                    <a:lstStyle/>
                    <a:p>
                      <a:pPr>
                        <a:defRPr sz="1000">
                          <a:solidFill>
                            <a:srgbClr val="1A1A2E"/>
                          </a:solidFill>
                          <a:latin typeface="Meiryo"/>
                        </a:defRPr>
                      </a:pPr>
                      <a:r>
                        <a:t>AIコーディングエージェントにプロジェクト固有のガイダンスを提供するMarkdownベース規約。Copilot・Cursor・Gemini CLI等が対応。</a:t>
                      </a:r>
                    </a:p>
                  </a:txBody>
                  <a:tcPr>
                    <a:solidFill>
                      <a:srgbClr val="FFFFFF"/>
                    </a:solidFill>
                  </a:tcPr>
                </a:tc>
              </a:tr>
              <a:tr h="594360">
                <a:tc>
                  <a:txBody>
                    <a:bodyPr/>
                    <a:lstStyle/>
                    <a:p>
                      <a:pPr>
                        <a:defRPr sz="1000" b="1">
                          <a:solidFill>
                            <a:srgbClr val="005BAB"/>
                          </a:solidFill>
                          <a:latin typeface="Meiryo"/>
                        </a:defRPr>
                      </a:pPr>
                      <a:r>
                        <a:t>A2A</a:t>
                      </a:r>
                    </a:p>
                  </a:txBody>
                  <a:tcPr>
                    <a:solidFill>
                      <a:srgbClr val="E8F1F8"/>
                    </a:solidFill>
                  </a:tcPr>
                </a:tc>
                <a:tc>
                  <a:txBody>
                    <a:bodyPr/>
                    <a:lstStyle/>
                    <a:p>
                      <a:pPr>
                        <a:defRPr sz="1000">
                          <a:solidFill>
                            <a:srgbClr val="1A1A2E"/>
                          </a:solidFill>
                          <a:latin typeface="Meiryo"/>
                        </a:defRPr>
                      </a:pPr>
                      <a:r>
                        <a:t>Google Cloud</a:t>
                      </a:r>
                    </a:p>
                  </a:txBody>
                  <a:tcPr>
                    <a:solidFill>
                      <a:srgbClr val="E8F1F8"/>
                    </a:solidFill>
                  </a:tcPr>
                </a:tc>
                <a:tc>
                  <a:txBody>
                    <a:bodyPr/>
                    <a:lstStyle/>
                    <a:p>
                      <a:pPr algn="ctr">
                        <a:defRPr sz="1000" b="1">
                          <a:solidFill>
                            <a:srgbClr val="5BA4D9"/>
                          </a:solidFill>
                          <a:latin typeface="Meiryo"/>
                        </a:defRPr>
                      </a:pPr>
                      <a:r>
                        <a:t>Agent-Agent</a:t>
                      </a:r>
                    </a:p>
                  </a:txBody>
                  <a:tcPr>
                    <a:solidFill>
                      <a:srgbClr val="E8F1F8"/>
                    </a:solidFill>
                  </a:tcPr>
                </a:tc>
                <a:tc>
                  <a:txBody>
                    <a:bodyPr/>
                    <a:lstStyle/>
                    <a:p>
                      <a:pPr algn="ctr">
                        <a:defRPr sz="1000">
                          <a:solidFill>
                            <a:srgbClr val="6C757D"/>
                          </a:solidFill>
                          <a:latin typeface="Meiryo"/>
                        </a:defRPr>
                      </a:pPr>
                      <a:r>
                        <a:t>2025-04</a:t>
                      </a:r>
                    </a:p>
                  </a:txBody>
                  <a:tcPr>
                    <a:solidFill>
                      <a:srgbClr val="E8F1F8"/>
                    </a:solidFill>
                  </a:tcPr>
                </a:tc>
                <a:tc>
                  <a:txBody>
                    <a:bodyPr/>
                    <a:lstStyle/>
                    <a:p>
                      <a:pPr>
                        <a:defRPr sz="1000">
                          <a:solidFill>
                            <a:srgbClr val="1A1A2E"/>
                          </a:solidFill>
                          <a:latin typeface="Meiryo"/>
                        </a:defRPr>
                      </a:pPr>
                      <a:r>
                        <a:t>異なるプラットフォーム・ベンダー間でAIエージェント同士が通信・協働するオープンプロトコル。MCPの補完的位置づけ。</a:t>
                      </a:r>
                    </a:p>
                  </a:txBody>
                  <a:tcPr>
                    <a:solidFill>
                      <a:srgbClr val="E8F1F8"/>
                    </a:solidFill>
                  </a:tcPr>
                </a:tc>
              </a:tr>
              <a:tr h="594360">
                <a:tc>
                  <a:txBody>
                    <a:bodyPr/>
                    <a:lstStyle/>
                    <a:p>
                      <a:pPr>
                        <a:defRPr sz="1000" b="1">
                          <a:solidFill>
                            <a:srgbClr val="005BAB"/>
                          </a:solidFill>
                          <a:latin typeface="Meiryo"/>
                        </a:defRPr>
                      </a:pPr>
                      <a:r>
                        <a:t>MCP</a:t>
                      </a:r>
                    </a:p>
                  </a:txBody>
                  <a:tcPr>
                    <a:solidFill>
                      <a:srgbClr val="FFFFFF"/>
                    </a:solidFill>
                  </a:tcPr>
                </a:tc>
                <a:tc>
                  <a:txBody>
                    <a:bodyPr/>
                    <a:lstStyle/>
                    <a:p>
                      <a:pPr>
                        <a:defRPr sz="1000">
                          <a:solidFill>
                            <a:srgbClr val="1A1A2E"/>
                          </a:solidFill>
                          <a:latin typeface="Meiryo"/>
                        </a:defRPr>
                      </a:pPr>
                      <a:r>
                        <a:t>Anthropic</a:t>
                      </a:r>
                    </a:p>
                  </a:txBody>
                  <a:tcPr>
                    <a:solidFill>
                      <a:srgbClr val="FFFFFF"/>
                    </a:solidFill>
                  </a:tcPr>
                </a:tc>
                <a:tc>
                  <a:txBody>
                    <a:bodyPr/>
                    <a:lstStyle/>
                    <a:p>
                      <a:pPr algn="ctr">
                        <a:defRPr sz="1000" b="1">
                          <a:solidFill>
                            <a:srgbClr val="5BA4D9"/>
                          </a:solidFill>
                          <a:latin typeface="Meiryo"/>
                        </a:defRPr>
                      </a:pPr>
                      <a:r>
                        <a:t>Agent-Tool</a:t>
                      </a:r>
                    </a:p>
                  </a:txBody>
                  <a:tcPr>
                    <a:solidFill>
                      <a:srgbClr val="FFFFFF"/>
                    </a:solidFill>
                  </a:tcPr>
                </a:tc>
                <a:tc>
                  <a:txBody>
                    <a:bodyPr/>
                    <a:lstStyle/>
                    <a:p>
                      <a:pPr algn="ctr">
                        <a:defRPr sz="1000">
                          <a:solidFill>
                            <a:srgbClr val="6C757D"/>
                          </a:solidFill>
                          <a:latin typeface="Meiryo"/>
                        </a:defRPr>
                      </a:pPr>
                      <a:r>
                        <a:t>2024-11</a:t>
                      </a:r>
                    </a:p>
                  </a:txBody>
                  <a:tcPr>
                    <a:solidFill>
                      <a:srgbClr val="FFFFFF"/>
                    </a:solidFill>
                  </a:tcPr>
                </a:tc>
                <a:tc>
                  <a:txBody>
                    <a:bodyPr/>
                    <a:lstStyle/>
                    <a:p>
                      <a:pPr>
                        <a:defRPr sz="1000">
                          <a:solidFill>
                            <a:srgbClr val="1A1A2E"/>
                          </a:solidFill>
                          <a:latin typeface="Meiryo"/>
                        </a:defRPr>
                      </a:pPr>
                      <a:r>
                        <a:t>AIモデルを外部データソース・ツールに接続するオープン標準。10,000以上のMCPサーバーが公開済み。OpenAI・Google・Microsoft等が採用。</a:t>
                      </a:r>
                    </a:p>
                  </a:txBody>
                  <a:tcPr>
                    <a:solidFill>
                      <a:srgbClr val="FFFFFF"/>
                    </a:solidFill>
                  </a:tcPr>
                </a:tc>
              </a:tr>
            </a:tbl>
          </a:graphicData>
        </a:graphic>
      </p:graphicFrame>
      <p:sp>
        <p:nvSpPr>
          <p:cNvPr id="7" name="TextBox 6"/>
          <p:cNvSpPr txBox="1"/>
          <p:nvPr/>
        </p:nvSpPr>
        <p:spPr>
          <a:xfrm>
            <a:off x="548640" y="5897880"/>
            <a:ext cx="11094415" cy="274320"/>
          </a:xfrm>
          <a:prstGeom prst="rect">
            <a:avLst/>
          </a:prstGeom>
          <a:noFill/>
        </p:spPr>
        <p:txBody>
          <a:bodyPr wrap="square">
            <a:spAutoFit/>
          </a:bodyPr>
          <a:lstStyle/>
          <a:p>
            <a:pPr algn="l">
              <a:defRPr sz="900" b="0">
                <a:solidFill>
                  <a:srgbClr val="6C757D"/>
                </a:solidFill>
                <a:latin typeface="Meiryo"/>
              </a:defRPr>
            </a:pPr>
            <a:r>
              <a:t>※ キャッチアップ時に自動更新  |  各公式サイトで最新情報をご確認ください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Data Dashboard</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2026-09-05  |  Page 10</a:t>
            </a:r>
          </a:p>
        </p:txBody>
      </p:sp>
      <p:sp>
        <p:nvSpPr>
          <p:cNvPr id="6" name="Rectangle 5"/>
          <p:cNvSpPr/>
          <p:nvPr/>
        </p:nvSpPr>
        <p:spPr>
          <a:xfrm>
            <a:off x="59436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mpany_importance.png"/>
          <p:cNvPicPr>
            <a:picLocks noChangeAspect="1"/>
          </p:cNvPicPr>
          <p:nvPr/>
        </p:nvPicPr>
        <p:blipFill>
          <a:blip r:embed="rId2"/>
          <a:stretch>
            <a:fillRect/>
          </a:stretch>
        </p:blipFill>
        <p:spPr>
          <a:xfrm>
            <a:off x="640080" y="1051560"/>
            <a:ext cx="5303520" cy="2468880"/>
          </a:xfrm>
          <a:prstGeom prst="rect">
            <a:avLst/>
          </a:prstGeom>
        </p:spPr>
      </p:pic>
      <p:sp>
        <p:nvSpPr>
          <p:cNvPr id="8" name="Rectangle 7"/>
          <p:cNvSpPr/>
          <p:nvPr/>
        </p:nvSpPr>
        <p:spPr>
          <a:xfrm>
            <a:off x="635508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eatmap.png"/>
          <p:cNvPicPr>
            <a:picLocks noChangeAspect="1"/>
          </p:cNvPicPr>
          <p:nvPr/>
        </p:nvPicPr>
        <p:blipFill>
          <a:blip r:embed="rId3"/>
          <a:stretch>
            <a:fillRect/>
          </a:stretch>
        </p:blipFill>
        <p:spPr>
          <a:xfrm>
            <a:off x="6400800" y="1051560"/>
            <a:ext cx="5303520" cy="2468880"/>
          </a:xfrm>
          <a:prstGeom prst="rect">
            <a:avLst/>
          </a:prstGeom>
        </p:spPr>
      </p:pic>
      <p:sp>
        <p:nvSpPr>
          <p:cNvPr id="10" name="Rectangle 9"/>
          <p:cNvSpPr/>
          <p:nvPr/>
        </p:nvSpPr>
        <p:spPr>
          <a:xfrm>
            <a:off x="59436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portance_donut.png"/>
          <p:cNvPicPr>
            <a:picLocks noChangeAspect="1"/>
          </p:cNvPicPr>
          <p:nvPr/>
        </p:nvPicPr>
        <p:blipFill>
          <a:blip r:embed="rId4"/>
          <a:stretch>
            <a:fillRect/>
          </a:stretch>
        </p:blipFill>
        <p:spPr>
          <a:xfrm>
            <a:off x="640080" y="3703320"/>
            <a:ext cx="5303520" cy="2468880"/>
          </a:xfrm>
          <a:prstGeom prst="rect">
            <a:avLst/>
          </a:prstGeom>
        </p:spPr>
      </p:pic>
      <p:sp>
        <p:nvSpPr>
          <p:cNvPr id="12" name="Rectangle 11"/>
          <p:cNvSpPr/>
          <p:nvPr/>
        </p:nvSpPr>
        <p:spPr>
          <a:xfrm>
            <a:off x="635508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news_landscape.png"/>
          <p:cNvPicPr>
            <a:picLocks noChangeAspect="1"/>
          </p:cNvPicPr>
          <p:nvPr/>
        </p:nvPicPr>
        <p:blipFill>
          <a:blip r:embed="rId5"/>
          <a:stretch>
            <a:fillRect/>
          </a:stretch>
        </p:blipFill>
        <p:spPr>
          <a:xfrm>
            <a:off x="6400800" y="3703320"/>
            <a:ext cx="5303520" cy="24688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Sources (引用元一覧)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2026-09-05  |  Page 11</a:t>
            </a:r>
          </a:p>
        </p:txBody>
      </p:sp>
      <p:sp>
        <p:nvSpPr>
          <p:cNvPr id="6" name="TextBox 5"/>
          <p:cNvSpPr txBox="1"/>
          <p:nvPr/>
        </p:nvSpPr>
        <p:spPr>
          <a:xfrm>
            <a:off x="548640" y="960120"/>
            <a:ext cx="530352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Unite.AI: https://www.unite.ai/xai-launches-grok-bot-always-on-ai-teammates-with-their-own-cloud-computers/</a:t>
            </a:r>
          </a:p>
          <a:p>
            <a:pPr>
              <a:spcBef>
                <a:spcPts val="300"/>
              </a:spcBef>
              <a:defRPr sz="1100" b="0">
                <a:solidFill>
                  <a:srgbClr val="6C757D"/>
                </a:solidFill>
                <a:latin typeface="Meiryo"/>
              </a:defRPr>
            </a:pPr>
            <a:r>
              <a:t>► TechCrunch: https://techcrunch.com/2026/08/29/sony-music-warner-sue-anthropic-alleging-a-brazen-campaign-of-intellectual-property-theft/</a:t>
            </a:r>
          </a:p>
          <a:p>
            <a:pPr>
              <a:spcBef>
                <a:spcPts val="300"/>
              </a:spcBef>
              <a:defRPr sz="1100" b="0">
                <a:solidFill>
                  <a:srgbClr val="6C757D"/>
                </a:solidFill>
                <a:latin typeface="Meiryo"/>
              </a:defRPr>
            </a:pPr>
            <a:r>
              <a:t>► 9to5Google: https://9to5google.com/2026/08/28/gemini-notebook-usage-limits/</a:t>
            </a:r>
          </a:p>
          <a:p>
            <a:pPr>
              <a:spcBef>
                <a:spcPts val="300"/>
              </a:spcBef>
              <a:defRPr sz="1100" b="0">
                <a:solidFill>
                  <a:srgbClr val="6C757D"/>
                </a:solidFill>
                <a:latin typeface="Meiryo"/>
              </a:defRPr>
            </a:pPr>
            <a:r>
              <a:t>► Bloomberg: https://www.bloomberg.com/news/articles/2026-09-03/crusoe-raises-over-3-billion-in-funding-at-30-billion-valuation</a:t>
            </a:r>
          </a:p>
          <a:p>
            <a:pPr>
              <a:spcBef>
                <a:spcPts val="300"/>
              </a:spcBef>
              <a:defRPr sz="1100" b="0">
                <a:solidFill>
                  <a:srgbClr val="6C757D"/>
                </a:solidFill>
                <a:latin typeface="Meiryo"/>
              </a:defRPr>
            </a:pPr>
            <a:r>
              <a:t>► Tom's Hardware: https://www.tomshardware.com/tech-industry/policy/new-us-export-controls-reportedly-target-chinese-access-to-remote-ai-servers-trump-admins-cut-down-ai-diffusion-rule-could-be-shared-with-industry-as-soon-as-september</a:t>
            </a:r>
          </a:p>
        </p:txBody>
      </p:sp>
      <p:sp>
        <p:nvSpPr>
          <p:cNvPr id="7" name="TextBox 6"/>
          <p:cNvSpPr txBox="1"/>
          <p:nvPr/>
        </p:nvSpPr>
        <p:spPr>
          <a:xfrm>
            <a:off x="6156655" y="960120"/>
            <a:ext cx="548640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Yahoo News: https://ca.news.yahoo.com/openai-sam-altman-says-ai-100951563.html</a:t>
            </a:r>
          </a:p>
          <a:p>
            <a:pPr>
              <a:spcBef>
                <a:spcPts val="300"/>
              </a:spcBef>
              <a:defRPr sz="1100" b="0">
                <a:solidFill>
                  <a:srgbClr val="6C757D"/>
                </a:solidFill>
                <a:latin typeface="Meiryo"/>
              </a:defRPr>
            </a:pPr>
            <a:r>
              <a:t>► GrabaRobot: https://www.grabarobot.com/blog/humanoid-robot-workforce-deployment-2026/</a:t>
            </a:r>
          </a:p>
          <a:p>
            <a:pPr>
              <a:spcBef>
                <a:spcPts val="300"/>
              </a:spcBef>
              <a:defRPr sz="1100" b="0">
                <a:solidFill>
                  <a:srgbClr val="6C757D"/>
                </a:solidFill>
                <a:latin typeface="Meiryo"/>
              </a:defRPr>
            </a:pPr>
            <a:r>
              <a:t>► CNBC: https://www.cnbc.com/2026/09/02/meta-18-billion-settlement-ai-products.html</a:t>
            </a:r>
          </a:p>
          <a:p>
            <a:pPr>
              <a:spcBef>
                <a:spcPts val="300"/>
              </a:spcBef>
              <a:defRPr sz="1100" b="0">
                <a:solidFill>
                  <a:srgbClr val="6C757D"/>
                </a:solidFill>
                <a:latin typeface="Meiryo"/>
              </a:defRPr>
            </a:pPr>
            <a:r>
              <a:t>► 9to5Mac: https://9to5mac.com/2026/09/03/openai-releasing-major-upgrade-to-chatgpt-and-codex-with-gpt-6-astra-details-here/</a:t>
            </a:r>
          </a:p>
        </p:txBody>
      </p:sp>
      <p:sp>
        <p:nvSpPr>
          <p:cNvPr id="8" name="TextBox 7"/>
          <p:cNvSpPr txBox="1"/>
          <p:nvPr/>
        </p:nvSpPr>
        <p:spPr>
          <a:xfrm>
            <a:off x="914400" y="6126480"/>
            <a:ext cx="10362895" cy="274320"/>
          </a:xfrm>
          <a:prstGeom prst="rect">
            <a:avLst/>
          </a:prstGeom>
          <a:noFill/>
        </p:spPr>
        <p:txBody>
          <a:bodyPr wrap="square">
            <a:spAutoFit/>
          </a:bodyPr>
          <a:lstStyle/>
          <a:p>
            <a:pPr algn="ctr">
              <a:defRPr sz="900" b="0">
                <a:solidFill>
                  <a:srgbClr val="6C757D"/>
                </a:solidFill>
                <a:latin typeface="Meiryo"/>
              </a:defRPr>
            </a:pPr>
            <a:r>
              <a:t>AI News Daily Deck - Generated by Claude Code | 本レポートは生成AIにより自動作成されており、一部ハルシネーションを含む可能性があります。元記事URLから一次情報をご確認ください。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