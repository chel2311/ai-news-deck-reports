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005BAB"/>
                </a:solidFill>
                <a:latin typeface="Meiryo"/>
              </a:defRPr>
            </a:pPr>
            <a:r>
              <a:t>AI News Daily Deck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200400"/>
            <a:ext cx="2743200" cy="45720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47472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>
                <a:solidFill>
                  <a:srgbClr val="6C757D"/>
                </a:solidFill>
                <a:latin typeface="Meiryo"/>
              </a:defRPr>
            </a:pPr>
            <a:r>
              <a:t>2026-02-11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754880"/>
            <a:ext cx="2743200" cy="100584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4754880"/>
            <a:ext cx="2743200" cy="36576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864608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05BAB"/>
                </a:solidFill>
                <a:latin typeface="Meiryo"/>
              </a:rPr>
              <a:t>12</a:t>
            </a:r>
            <a:r>
              <a:rPr sz="1400">
                <a:solidFill>
                  <a:srgbClr val="6C757D"/>
                </a:solidFill>
                <a:latin typeface="Meiryo"/>
              </a:rPr>
              <a:t> 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39496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Meiryo"/>
              </a:defRPr>
            </a:pPr>
            <a:r>
              <a:t>Total News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0" y="4754880"/>
            <a:ext cx="2743200" cy="100584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023360" y="4754880"/>
            <a:ext cx="2743200" cy="36576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06240" y="4864608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05BAB"/>
                </a:solidFill>
                <a:latin typeface="Meiryo"/>
              </a:rPr>
              <a:t>6</a:t>
            </a:r>
            <a:r>
              <a:rPr sz="1400">
                <a:solidFill>
                  <a:srgbClr val="6C757D"/>
                </a:solidFill>
                <a:latin typeface="Meiryo"/>
              </a:rPr>
              <a:t> 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539496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Meiryo"/>
              </a:defRPr>
            </a:pPr>
            <a:r>
              <a:t>High Impact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0" y="4754880"/>
            <a:ext cx="2743200" cy="100584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32320" y="4754880"/>
            <a:ext cx="2743200" cy="36576"/>
          </a:xfrm>
          <a:prstGeom prst="rect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0" y="4864608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05BAB"/>
                </a:solidFill>
                <a:latin typeface="Meiryo"/>
              </a:rPr>
              <a:t>6</a:t>
            </a:r>
            <a:r>
              <a:rPr sz="1400">
                <a:solidFill>
                  <a:srgbClr val="6C757D"/>
                </a:solidFill>
                <a:latin typeface="Meiryo"/>
              </a:rPr>
              <a:t> 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539496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Meiryo"/>
              </a:defRPr>
            </a:pPr>
            <a:r>
              <a:t>Companies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Executive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2026-02-11  |  Page 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960120"/>
            <a:ext cx="2468880" cy="1051560"/>
          </a:xfrm>
          <a:prstGeom prst="round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960120"/>
            <a:ext cx="2468880" cy="36576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0515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Meiryo"/>
              </a:defRPr>
            </a:pPr>
            <a:r>
              <a:t>Total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307592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05BAB"/>
                </a:solidFill>
                <a:latin typeface="Meiryo"/>
              </a:rPr>
              <a:t>12</a:t>
            </a:r>
            <a:r>
              <a:rPr sz="1400">
                <a:solidFill>
                  <a:srgbClr val="6C757D"/>
                </a:solidFill>
                <a:latin typeface="Meiryo"/>
              </a:rPr>
              <a:t> 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960120"/>
            <a:ext cx="2468880" cy="1051560"/>
          </a:xfrm>
          <a:prstGeom prst="round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83280" y="960120"/>
            <a:ext cx="2468880" cy="36576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0440" y="10515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Meiryo"/>
              </a:defRPr>
            </a:pPr>
            <a:r>
              <a:t>Top Company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1307592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05BAB"/>
                </a:solidFill>
                <a:latin typeface="Meiryo"/>
              </a:rPr>
              <a:t>Other</a:t>
            </a:r>
            <a:r>
              <a:rPr sz="1400">
                <a:solidFill>
                  <a:srgbClr val="6C757D"/>
                </a:solidFill>
                <a:latin typeface="Meiryo"/>
              </a:rPr>
              <a:t> 5件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960120"/>
            <a:ext cx="2468880" cy="1051560"/>
          </a:xfrm>
          <a:prstGeom prst="round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960120"/>
            <a:ext cx="2468880" cy="36576"/>
          </a:xfrm>
          <a:prstGeom prst="rect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0515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Meiryo"/>
              </a:defRPr>
            </a:pPr>
            <a:r>
              <a:t>High Impact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1307592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05BAB"/>
                </a:solidFill>
                <a:latin typeface="Meiryo"/>
              </a:rPr>
              <a:t>6</a:t>
            </a:r>
            <a:r>
              <a:rPr sz="1400">
                <a:solidFill>
                  <a:srgbClr val="6C757D"/>
                </a:solidFill>
                <a:latin typeface="Meiryo"/>
              </a:rPr>
              <a:t> 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69680" y="960120"/>
            <a:ext cx="2468880" cy="1051560"/>
          </a:xfrm>
          <a:prstGeom prst="round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869680" y="960120"/>
            <a:ext cx="2468880" cy="36576"/>
          </a:xfrm>
          <a:prstGeom prst="rect">
            <a:avLst/>
          </a:prstGeom>
          <a:solidFill>
            <a:srgbClr val="003D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06840" y="10515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Meiryo"/>
              </a:defRPr>
            </a:pPr>
            <a:r>
              <a:t>Companies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06840" y="1307592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05BAB"/>
                </a:solidFill>
                <a:latin typeface="Meiryo"/>
              </a:rPr>
              <a:t>6</a:t>
            </a:r>
            <a:r>
              <a:rPr sz="1400">
                <a:solidFill>
                  <a:srgbClr val="6C757D"/>
                </a:solidFill>
                <a:latin typeface="Meiryo"/>
              </a:rPr>
              <a:t> 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23317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5BAB"/>
                </a:solidFill>
                <a:latin typeface="Meiryo"/>
              </a:defRPr>
            </a:pPr>
            <a:r>
              <a:t>KEY TAKEAWAYS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2624328"/>
            <a:ext cx="1828800" cy="18288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2743200"/>
            <a:ext cx="11094415" cy="68580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2743200"/>
            <a:ext cx="54864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85800" y="2852928"/>
            <a:ext cx="384048" cy="384048"/>
          </a:xfrm>
          <a:prstGeom prst="ellipse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285292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8720" y="2816352"/>
            <a:ext cx="102714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Meiryo"/>
              </a:defRPr>
            </a:pPr>
            <a:r>
              <a:t>OpenAIの広告導入でAnthropicとの差別化戦略が鮮明に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3520440"/>
            <a:ext cx="11094415" cy="68580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3520440"/>
            <a:ext cx="54864" cy="685800"/>
          </a:xfrm>
          <a:prstGeom prst="rect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85800" y="3630168"/>
            <a:ext cx="384048" cy="384048"/>
          </a:xfrm>
          <a:prstGeom prst="ellipse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363016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88720" y="3593592"/>
            <a:ext cx="102714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Meiryo"/>
              </a:defRPr>
            </a:pPr>
            <a:r>
              <a:t>AI動画生成Runwayが評価額53億ドルで3.15億ドル調達、Gen 4.5リリース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4297680"/>
            <a:ext cx="11094415" cy="68580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48640" y="4297680"/>
            <a:ext cx="54864" cy="685800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85800" y="4407408"/>
            <a:ext cx="384048" cy="384048"/>
          </a:xfrm>
          <a:prstGeom prst="ellipse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" y="440740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88720" y="4370832"/>
            <a:ext cx="102714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Meiryo"/>
              </a:defRPr>
            </a:pPr>
            <a:r>
              <a:t>2026年1月のAIスタートアップ資金調達は300億ドル超、2025年は1500億ドルで全VC資金の40%占める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TODAY'S HIGHLIGHT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2026-02-11  |  Page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5303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  <a:latin typeface="Meiryo"/>
              </a:defRPr>
            </a:pPr>
            <a:r>
              <a:t>OpenAI、ChatGPTに広告導入開始 - Anthropicと差別化戦略で対立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C757D"/>
                </a:solidFill>
                <a:latin typeface="Meiryo"/>
              </a:defRPr>
            </a:pPr>
            <a:r>
              <a:t>OpenAI  |  Business  |  ★★★★★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2743200" cy="109728"/>
          </a:xfrm>
          <a:prstGeom prst="round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2057400"/>
            <a:ext cx="2743200" cy="109728"/>
          </a:xfrm>
          <a:prstGeom prst="round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331720"/>
            <a:ext cx="5303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2E"/>
                </a:solidFill>
                <a:latin typeface="Meiryo"/>
              </a:defRPr>
            </a:pPr>
            <a:r>
              <a:t>OpenAIは2月10日、ChatGPTの無料版と「Go」プランで広告のテスト配信を開始。Anthropicは「Claudeは広告なし」と宣言し、OpenAIを揶揄する広告を展開。Sam Altman CEOは「不誠実」と反論。両社の収益化戦略の違いが鮮明になった。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77640"/>
            <a:ext cx="5303520" cy="82296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977640"/>
            <a:ext cx="54864" cy="82296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8368" y="4160520"/>
            <a:ext cx="365760" cy="365760"/>
          </a:xfrm>
          <a:prstGeom prst="ellipse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416052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eiryo"/>
              </a:defRPr>
            </a:pPr>
            <a: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023360"/>
            <a:ext cx="4617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5BAB"/>
                </a:solidFill>
                <a:latin typeface="Meiryo"/>
              </a:defRPr>
            </a:pPr>
            <a:r>
              <a:t>Impact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4206240"/>
            <a:ext cx="4617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企業ユーザーはプライバシー懸念から広告なしAnthropicへ移行する可能性。OpenAIの収益源多様化は進むが信頼性低下リスク。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937760"/>
            <a:ext cx="5303520" cy="82296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4937760"/>
            <a:ext cx="54864" cy="822960"/>
          </a:xfrm>
          <a:prstGeom prst="rect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58368" y="5120640"/>
            <a:ext cx="365760" cy="365760"/>
          </a:xfrm>
          <a:prstGeom prst="ellipse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512064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eiryo"/>
              </a:defRPr>
            </a:pPr>
            <a:r>
              <a:t>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4983480"/>
            <a:ext cx="4617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5BA4D9"/>
                </a:solidFill>
                <a:latin typeface="Meiryo"/>
              </a:defRPr>
            </a:pPr>
            <a:r>
              <a:t>Outlook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166360"/>
            <a:ext cx="4617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2026年中に広告収益が全体の10-15%に達する見込み。Anthropicは企業向けAPI市場でシェア拡大を狙う。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897880"/>
            <a:ext cx="5303520" cy="82296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897880"/>
            <a:ext cx="54864" cy="822960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58368" y="6080760"/>
            <a:ext cx="365760" cy="365760"/>
          </a:xfrm>
          <a:prstGeom prst="ellipse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608076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eiryo"/>
              </a:defRPr>
            </a:pPr>
            <a:r>
              <a:t>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" y="5943600"/>
            <a:ext cx="4617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961C"/>
                </a:solidFill>
                <a:latin typeface="Meiryo"/>
              </a:defRPr>
            </a:pPr>
            <a:r>
              <a:t>Risks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" y="6126480"/>
            <a:ext cx="4617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広告表示による回答品質低下、ユーザー離れ、競合優位性喪失の懸念。</a:t>
            </a:r>
          </a:p>
        </p:txBody>
      </p:sp>
      <p:pic>
        <p:nvPicPr>
          <p:cNvPr id="29" name="Picture 28" descr="highlight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6655" y="960120"/>
            <a:ext cx="54864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Top News (1/2)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2026-02-11  |  Page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960120"/>
            <a:ext cx="11094415" cy="164592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960120"/>
            <a:ext cx="54864" cy="1645920"/>
          </a:xfrm>
          <a:prstGeom prst="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85800" y="1097280"/>
            <a:ext cx="457200" cy="457200"/>
          </a:xfrm>
          <a:prstGeom prst="ellipse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09728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34440" y="1252728"/>
            <a:ext cx="1828800" cy="1097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234440" y="1252728"/>
            <a:ext cx="1828800" cy="109728"/>
          </a:xfrm>
          <a:prstGeom prst="round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103327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Meiryo"/>
              </a:defRPr>
            </a:pPr>
            <a:r>
              <a:t>Runway、53億ドル評価で3.15億ドル調達 - Gen 4.5で長尺動画生成が可能に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463040"/>
            <a:ext cx="6675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AI動画生成のRunwayが2月10日、シリーズEラウンドで3.15億ドルを調達し、評価額が前回の28億ドルから53億ドルへ約2倍に上昇。最新モデルGen 4.5はHD動画生成、ネイティブ音声、マルチショット生成、キャラクター一貫性を実現。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1371600"/>
            <a:ext cx="4114800" cy="100584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0" y="1389888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5BAB"/>
                </a:solidFill>
                <a:latin typeface="Meiryo"/>
              </a:defRPr>
            </a:pPr>
            <a:r>
              <a:t>IMPACT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1572768"/>
            <a:ext cx="393192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従来の映像制作コストを80%削減可能。クリエイター向けサブスク市場で月額50-200ドルの需要拡大。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23317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eiryo"/>
              </a:defRPr>
            </a:pPr>
            <a:r>
              <a:t>Other  |  Video  |  TechCrunch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743200"/>
            <a:ext cx="11094415" cy="164592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2743200"/>
            <a:ext cx="54864" cy="1645920"/>
          </a:xfrm>
          <a:prstGeom prst="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5800" y="2880360"/>
            <a:ext cx="457200" cy="45720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288036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34440" y="3035808"/>
            <a:ext cx="1828800" cy="1097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234440" y="3035808"/>
            <a:ext cx="1463040" cy="109728"/>
          </a:xfrm>
          <a:prstGeom prst="round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34440" y="28163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Meiryo"/>
              </a:defRPr>
            </a:pPr>
            <a:r>
              <a:t>Anthropic Claude 5、2026年2-3月リリース予定 - 推論能力とシステム連携を強化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3246120"/>
            <a:ext cx="6675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Anthropicは2026年2月または3月に次世代モデルClaude 5をリリース予定。持続的推論（Sustained Reasoning）とクロスシステム統合機能を強化し、より複雑なタスクを長時間処理可能に。OpenAI・Microsoftも採用したMCP（Model Con...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0" y="3154680"/>
            <a:ext cx="4114800" cy="100584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06640" y="3172968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5BAB"/>
                </a:solidFill>
                <a:latin typeface="Meiryo"/>
              </a:defRPr>
            </a:pPr>
            <a:r>
              <a:t>IMPACT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06640" y="3355848"/>
            <a:ext cx="393192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企業向けAIエージェント市場で優位性確立。開発者ツール統合が加速し、APIエコシステム拡大。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11480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eiryo"/>
              </a:defRPr>
            </a:pPr>
            <a:r>
              <a:t>Anthropic  |  LLM  |  Medium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526280"/>
            <a:ext cx="11094415" cy="164592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4526280"/>
            <a:ext cx="54864" cy="1645920"/>
          </a:xfrm>
          <a:prstGeom prst="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85800" y="4663440"/>
            <a:ext cx="457200" cy="457200"/>
          </a:xfrm>
          <a:prstGeom prst="ellipse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466344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4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234440" y="4818888"/>
            <a:ext cx="1828800" cy="1097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234440" y="4818888"/>
            <a:ext cx="1463040" cy="109728"/>
          </a:xfrm>
          <a:prstGeom prst="round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34440" y="459943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Meiryo"/>
              </a:defRPr>
            </a:pPr>
            <a:r>
              <a:t>2026年1月、AIスタートアップに300億ドル流入 - インフラ・ロボティクスが牽引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5029200"/>
            <a:ext cx="6675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2026年1月のグローバルスタートアップ資金調達は300億ドル超を記録し、AIインフラ、コンピュート、ロボティクス、データプラットフォームが主導。2025年通年ではAIスタートアップが1500億ドル調達し、全VC資金の40%以上を占めた。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315200" y="4937760"/>
            <a:ext cx="4114800" cy="100584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06640" y="4956048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5BAB"/>
                </a:solidFill>
                <a:latin typeface="Meiryo"/>
              </a:defRPr>
            </a:pPr>
            <a:r>
              <a:t>IMPACT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06640" y="5138928"/>
            <a:ext cx="393192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VC資金の40%がAIに集中し、従来型SaaS・コンシューマーアプリへの投資は縮小。エンタープライズAI市場が2026年に1000億ドル突破予測。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" y="589788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eiryo"/>
              </a:defRPr>
            </a:pPr>
            <a:r>
              <a:t>Other  |  Business  |  Intellizence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Top News (2/2)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2026-02-11  |  Page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960120"/>
            <a:ext cx="11094415" cy="164592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960120"/>
            <a:ext cx="54864" cy="16459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85800" y="1097280"/>
            <a:ext cx="457200" cy="457200"/>
          </a:xfrm>
          <a:prstGeom prst="ellipse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09728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34440" y="1252728"/>
            <a:ext cx="1828800" cy="1097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234440" y="1252728"/>
            <a:ext cx="1463040" cy="109728"/>
          </a:xfrm>
          <a:prstGeom prst="round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103327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Meiryo"/>
              </a:defRPr>
            </a:pPr>
            <a:r>
              <a:t>OpenAI、Nvidiaとの関係悪化 - 1000億ドル投資計画から撤退報道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463040"/>
            <a:ext cx="6675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Wall Street Journalが報じたところによると、NvidiaはOpenAIへの1000億ドル投資計画から撤退。OpenAIは代替チップ調達を検討中。Sam AltmanはNvidiaとの関係悪化の噂を否定しようと試みているが、供給多様化の動きは明確。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1371600"/>
            <a:ext cx="4114800" cy="100584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0" y="1389888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5BAB"/>
                </a:solidFill>
                <a:latin typeface="Meiryo"/>
              </a:defRPr>
            </a:pPr>
            <a:r>
              <a:t>IMPACT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1572768"/>
            <a:ext cx="393192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Nvidia依存度低下は業界全体の競争促進。ただし短期的には学習効率低下やモデル開発遅延リスク。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23317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eiryo"/>
              </a:defRPr>
            </a:pPr>
            <a:r>
              <a:t>OpenAI  |  Business  |  Axios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743200"/>
            <a:ext cx="11094415" cy="164592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2743200"/>
            <a:ext cx="54864" cy="1645920"/>
          </a:xfrm>
          <a:prstGeom prst="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5800" y="2880360"/>
            <a:ext cx="457200" cy="45720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288036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34440" y="3035808"/>
            <a:ext cx="1828800" cy="1097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234440" y="3035808"/>
            <a:ext cx="1463040" cy="109728"/>
          </a:xfrm>
          <a:prstGeom prst="round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34440" y="28163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Meiryo"/>
              </a:defRPr>
            </a:pPr>
            <a:r>
              <a:t>Anthropic、MCPで「AIのUSB-C」標準化に成功 - OpenAI・Microsoftも採用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3246120"/>
            <a:ext cx="6675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AnthropicのModel Context Protocol（MCP）がAIエージェント接続の標準規格として急速に普及。OpenAIとMicrosoftが公式採用を表明し、データベース・検索エンジン・APIとの統合が簡素化。「AIのUSB-C」として業界標準化が確定的に。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0" y="3154680"/>
            <a:ext cx="4114800" cy="100584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06640" y="3172968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5BAB"/>
                </a:solidFill>
                <a:latin typeface="Meiryo"/>
              </a:defRPr>
            </a:pPr>
            <a:r>
              <a:t>IMPACT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06640" y="3355848"/>
            <a:ext cx="393192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開発者は1つのプロトコルで複数AIモデルに対応可能。エージェント開発コストが60%削減、統合期間が数週間→数日へ短縮。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11480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eiryo"/>
              </a:defRPr>
            </a:pPr>
            <a:r>
              <a:t>Anthropic  |  LLM  |  TechCrunch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Global Market Impact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2026-02-11  |  Page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Meiryo"/>
              </a:defRPr>
            </a:pPr>
            <a:r>
              <a:t>2026年2月、AI業界は収益化と規制の両面で転換点を迎えた。米国ではOpenAIの広告導入、Anthropicの広告なし戦略、Metaのクローズドモデル転換と、各社の収益化戦略が明確化。欧州ではEU AI Actが実質的に施行され、世界標準としての影響力拡大。中国は独自の生成AI規制を強化し、国内市場の囲い込みを加速。グローバルVC資金の40%がAI分野に集中し、2026年1月だけで300億ドル超が流入。一方、規制不確実性が投資判断を複雑化させ、米国の連邦・州対立、EU域外企業への厳格要件が企業戦略に影響。AI動画生成（Runway 53億ドル評価）、世界モデル（Google Genie）、エージェント標準化（Anthropic MCP）が次世代技術の主戦場に。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56655" y="9601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5BAB"/>
                </a:solidFill>
                <a:latin typeface="Meiryo"/>
              </a:defRPr>
            </a:pPr>
            <a:r>
              <a:t>KEY IMPACT POINTS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6156655" y="1261872"/>
            <a:ext cx="1828800" cy="18288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56655" y="1417320"/>
            <a:ext cx="5486400" cy="82296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56655" y="1417320"/>
            <a:ext cx="54864" cy="82296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266383" y="1600200"/>
            <a:ext cx="365760" cy="365760"/>
          </a:xfrm>
          <a:prstGeom prst="ellipse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66383" y="16002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eiryo"/>
              </a:defRPr>
            </a:pPr>
            <a: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05295" y="1490472"/>
            <a:ext cx="4800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A1A2E"/>
                </a:solidFill>
                <a:latin typeface="Meiryo"/>
              </a:defRPr>
            </a:pPr>
            <a:r>
              <a:t>米国: OpenAI広告導入で信頼性と収益性のトレードオフ議論。連邦・州規制対立が企業負担増加。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56655" y="2331720"/>
            <a:ext cx="5486400" cy="82296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56655" y="2331720"/>
            <a:ext cx="54864" cy="822960"/>
          </a:xfrm>
          <a:prstGeom prst="rect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266383" y="2514600"/>
            <a:ext cx="365760" cy="365760"/>
          </a:xfrm>
          <a:prstGeom prst="ellipse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66383" y="25146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eiryo"/>
              </a:defRPr>
            </a:pPr>
            <a: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05295" y="2404872"/>
            <a:ext cx="4800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A1A2E"/>
                </a:solidFill>
                <a:latin typeface="Meiryo"/>
              </a:defRPr>
            </a:pPr>
            <a:r>
              <a:t>欧州: EU AI Act施行でコンプライアンス優位。米国企業の欧州展開に高いハードル。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56655" y="3246120"/>
            <a:ext cx="5486400" cy="82296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56655" y="3246120"/>
            <a:ext cx="54864" cy="822960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266383" y="3429000"/>
            <a:ext cx="365760" cy="365760"/>
          </a:xfrm>
          <a:prstGeom prst="ellipse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6383" y="34290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eiryo"/>
              </a:defRPr>
            </a:pPr>
            <a: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05295" y="3319272"/>
            <a:ext cx="4800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A1A2E"/>
                </a:solidFill>
                <a:latin typeface="Meiryo"/>
              </a:defRPr>
            </a:pPr>
            <a:r>
              <a:t>中国: 独自規制で国内AI企業保護。ByteDance、Baidu、Alibabaが内需市場で優位確立。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日本市場インパクト &amp; アクション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2026-02-11  |  Page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5BAB"/>
                </a:solidFill>
                <a:latin typeface="Meiryo"/>
              </a:defRPr>
            </a:pPr>
            <a:r>
              <a:t>日本市場への影響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261872"/>
            <a:ext cx="1371600" cy="18288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5303520" cy="86868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417320"/>
            <a:ext cx="54864" cy="86868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8368" y="1618488"/>
            <a:ext cx="384048" cy="384048"/>
          </a:xfrm>
          <a:prstGeom prst="ellipse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61848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1490472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企業のAI導入が実証実験→本格運用へ。製造業（品質管理）、金融（与信審査）、医療（画像診断）で活用加速。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77440"/>
            <a:ext cx="5303520" cy="86868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377440"/>
            <a:ext cx="54864" cy="868680"/>
          </a:xfrm>
          <a:prstGeom prst="rect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58368" y="2578608"/>
            <a:ext cx="384048" cy="384048"/>
          </a:xfrm>
          <a:prstGeom prst="ellipse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57860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2450592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日本版基盤モデル開発は遅延。海外AIの活用・統合戦略が主流に。NTT・富士通・NECの共同開発は2027年商用化目標。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6655" y="960120"/>
            <a:ext cx="5486400" cy="548640"/>
          </a:xfrm>
          <a:prstGeom prst="round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39535" y="10515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Meiryo"/>
              </a:defRPr>
            </a:pPr>
            <a:r>
              <a:t>■  ACTION ITEMS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6655" y="1645920"/>
            <a:ext cx="5486400" cy="91440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93815" y="1874520"/>
            <a:ext cx="320040" cy="320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96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93815" y="1874520"/>
            <a:ext cx="3200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961C"/>
                </a:solidFill>
                <a:latin typeface="Meiryo"/>
              </a:defRPr>
            </a:pPr>
            <a: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05295" y="1737360"/>
            <a:ext cx="4800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経産省「AI活用ガイドライン2.0」に準拠した社内規定整備。特に製造業・金融・医療業界は早急対応必要。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6655" y="2670048"/>
            <a:ext cx="5486400" cy="91440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293815" y="2898648"/>
            <a:ext cx="320040" cy="320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96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93815" y="2898648"/>
            <a:ext cx="3200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961C"/>
                </a:solidFill>
                <a:latin typeface="Meiryo"/>
              </a:defRPr>
            </a:pPr>
            <a: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05295" y="2761488"/>
            <a:ext cx="4800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クリエイティブ産業（アニメ・ゲーム・広告）はRunway、Adobe Firefly等の導入で制作効率3-5倍向上を目指す。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6655" y="3694176"/>
            <a:ext cx="5486400" cy="91440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93815" y="3922776"/>
            <a:ext cx="320040" cy="320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96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93815" y="3922776"/>
            <a:ext cx="3200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961C"/>
                </a:solidFill>
                <a:latin typeface="Meiryo"/>
              </a:defRPr>
            </a:pPr>
            <a: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05295" y="3785616"/>
            <a:ext cx="4800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個人情報保護委員会のAI学習データ透明性要求に対応。データガバナンス体制構築とコンプライアンスチーム設置。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56655" y="4718304"/>
            <a:ext cx="5486400" cy="91440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293815" y="4946904"/>
            <a:ext cx="320040" cy="320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96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93815" y="4946904"/>
            <a:ext cx="3200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961C"/>
                </a:solidFill>
                <a:latin typeface="Meiryo"/>
              </a:defRPr>
            </a:pPr>
            <a:r>
              <a:t>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05295" y="4809744"/>
            <a:ext cx="4800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海外AIモデル（Claude、GPT、Gemini）のAPI統合を優先。自社開発よりも既存AIの業務適応が現実的選択。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AI業界標準規格 / プロトコル一覧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2026-02-11  |  Page 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960120"/>
          <a:ext cx="11094415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645920"/>
                <a:gridCol w="1371600"/>
                <a:gridCol w="914400"/>
                <a:gridCol w="5699455"/>
              </a:tblGrid>
              <a:tr h="59436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規格名</a:t>
                      </a:r>
                    </a:p>
                  </a:txBody>
                  <a:tcPr>
                    <a:solidFill>
                      <a:srgbClr val="005BA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発表元</a:t>
                      </a:r>
                    </a:p>
                  </a:txBody>
                  <a:tcPr>
                    <a:solidFill>
                      <a:srgbClr val="005BA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レイヤー</a:t>
                      </a:r>
                    </a:p>
                  </a:txBody>
                  <a:tcPr>
                    <a:solidFill>
                      <a:srgbClr val="005BA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発表日</a:t>
                      </a:r>
                    </a:p>
                  </a:txBody>
                  <a:tcPr>
                    <a:solidFill>
                      <a:srgbClr val="005BA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概要</a:t>
                      </a:r>
                    </a:p>
                  </a:txBody>
                  <a:tcPr>
                    <a:solidFill>
                      <a:srgbClr val="005BA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5BAB"/>
                          </a:solidFill>
                          <a:latin typeface="Meiryo"/>
                        </a:defRPr>
                      </a:pPr>
                      <a:r>
                        <a:t>MCP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Anthropic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BA4D9"/>
                          </a:solidFill>
                          <a:latin typeface="Meiryo"/>
                        </a:defRPr>
                      </a:pPr>
                      <a:r>
                        <a:t>Agent-Tool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2024-11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AIモデルを外部データソース・ツールに接続するオープン標準。10,000以上のMCPサーバーが公開済み。OpenAI・Google・Microsoft等が採用。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5BAB"/>
                          </a:solidFill>
                          <a:latin typeface="Meiryo"/>
                        </a:defRPr>
                      </a:pPr>
                      <a:r>
                        <a:t>A2A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Google Cloud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BA4D9"/>
                          </a:solidFill>
                          <a:latin typeface="Meiryo"/>
                        </a:defRPr>
                      </a:pPr>
                      <a:r>
                        <a:t>Agent-Agent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2025-04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異なるプラットフォーム・ベンダー間でAIエージェント同士が通信・協働するオープンプロトコル。MCPの補完的位置づけ。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5BAB"/>
                          </a:solidFill>
                          <a:latin typeface="Meiryo"/>
                        </a:defRPr>
                      </a:pPr>
                      <a:r>
                        <a:t>Agent Skills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Anthropic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BA4D9"/>
                          </a:solidFill>
                          <a:latin typeface="Meiryo"/>
                        </a:defRPr>
                      </a:pPr>
                      <a:r>
                        <a:t>Agent Capability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2025-12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AIエージェントに再現可能なワークフローを教えるオープン標準。SKILL.mdベースのプログレッシブ・ディスクロージャー方式。Microsoft・OpenAI等が採用。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5BAB"/>
                          </a:solidFill>
                          <a:latin typeface="Meiryo"/>
                        </a:defRPr>
                      </a:pPr>
                      <a:r>
                        <a:t>UCP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Google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BA4D9"/>
                          </a:solidFill>
                          <a:latin typeface="Meiryo"/>
                        </a:defRPr>
                      </a:pPr>
                      <a:r>
                        <a:t>Commerce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2026-01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AIエージェント経由の商取引を標準化。A2A・MCP・AP2を統合オーケストレーションする上位プロトコル。Shopify・Walmart等が支持。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5BAB"/>
                          </a:solidFill>
                          <a:latin typeface="Meiryo"/>
                        </a:defRPr>
                      </a:pPr>
                      <a:r>
                        <a:t>ACP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OpenAI + Stripe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BA4D9"/>
                          </a:solidFill>
                          <a:latin typeface="Meiryo"/>
                        </a:defRPr>
                      </a:pPr>
                      <a:r>
                        <a:t>Commerce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2025-09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AIエージェント経由の商取引フローを実現するオープン標準。物理/デジタル商品、サブスクリプション対応。ChatGPTで実装済み。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5BAB"/>
                          </a:solidFill>
                          <a:latin typeface="Meiryo"/>
                        </a:defRPr>
                      </a:pPr>
                      <a:r>
                        <a:t>AGENTS.md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OpenAI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BA4D9"/>
                          </a:solidFill>
                          <a:latin typeface="Meiryo"/>
                        </a:defRPr>
                      </a:pPr>
                      <a:r>
                        <a:t>Project Instruction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2025-08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AIコーディングエージェントにプロジェクト固有のガイダンスを提供するMarkdownベース規約。Copilot・Cursor・Gemini CLI等が対応。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5BAB"/>
                          </a:solidFill>
                          <a:latin typeface="Meiryo"/>
                        </a:defRPr>
                      </a:pPr>
                      <a:r>
                        <a:t>ANP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ANP Community (中国移動/Huawei等)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BA4D9"/>
                          </a:solidFill>
                          <a:latin typeface="Meiryo"/>
                        </a:defRPr>
                      </a:pPr>
                      <a:r>
                        <a:t>Network Discovery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2025-10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数十億のエージェントのためのネットワークプロトコル。W3C DIDによるID認証、JSON-LDによる能力公開の3層アーキテクチャ。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897880"/>
            <a:ext cx="110944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  <a:latin typeface="Meiryo"/>
              </a:defRPr>
            </a:pPr>
            <a:r>
              <a:t>※ キャッチアップ時に自動更新  |  各公式サイトで最新情報をご確認ください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Data Dashboard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2026-02-11  |  Page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005840"/>
            <a:ext cx="539496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ompany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51560"/>
            <a:ext cx="5303520" cy="24688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355080" y="1005840"/>
            <a:ext cx="539496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heat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051560"/>
            <a:ext cx="5303520" cy="246888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94360" y="3657600"/>
            <a:ext cx="539496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portance_donu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703320"/>
            <a:ext cx="5303520" cy="246888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355080" y="3657600"/>
            <a:ext cx="539496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news_landscap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3703320"/>
            <a:ext cx="5303520" cy="24688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Sources (引用元一覧)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2026-02-11  |  Page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NBC News: https://www.nbcnews.com/tech/internet/openai-starts-testing-ads-chatgpt-rcna258242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Medium: https://medium.com/@urano10/the-future-of-ai-models-in-2026-whats-actually-coming-410141f3c979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DigiTimes: https://www.digitimes.com/news/a20251215PD230/meta-ai-llm-llama-development.html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TechCrunch: https://techcrunch.com/2026/01/02/in-2026-ai-will-move-from-hype-to-pragmatism/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TechCrunch: https://techcrunch.com/2026/02/10/ai-video-startup-runway-raises-315m-at-5-3b-valuation-eyes-more-capable-world-models/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Tech Xplore: https://techxplore.com/news/2026-02-ai-limits-generative-video.html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56655" y="96012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Axios: https://www.axios.com/2026/02/10/ai-ceo-feuds-openai-anthropic-google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Intellizence: https://intellizence.com/insights/startup-funding/startup-funding-trends-january-2026-ai-infrastructure-and-robotics/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National Law Review: https://natlawreview.com/article/2026-outlook-artificial-intelligence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Digital Watch Observatory: https://dig.watch/updates/adobe-firefly-unlocks-powerful-unlimited-ai-generation-in-2026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MIT Technology Review: https://www.technologyreview.com/2026/01/05/1130662/whats-next-for-ai-in-2026/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InfoQ: https://www.infoq.com/news/2026/01/microsoft-llm-contextual-privacy/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126480"/>
            <a:ext cx="103628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C757D"/>
                </a:solidFill>
                <a:latin typeface="Meiryo"/>
              </a:defRPr>
            </a:pPr>
            <a:r>
              <a:t>AI News Daily Deck - Generated by Claude Code | 情報の正確性は各ソースをご確認ください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