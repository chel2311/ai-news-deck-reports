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1097280"/>
          </a:xfrm>
          <a:prstGeom prst="rect">
            <a:avLst/>
          </a:prstGeom>
          <a:noFill/>
        </p:spPr>
        <p:txBody>
          <a:bodyPr wrap="square">
            <a:spAutoFit/>
          </a:bodyPr>
          <a:lstStyle/>
          <a:p>
            <a:pPr algn="l">
              <a:defRPr sz="5200" b="1">
                <a:solidFill>
                  <a:srgbClr val="005BAB"/>
                </a:solidFill>
                <a:latin typeface="Meiryo"/>
              </a:defRPr>
            </a:pPr>
            <a:r>
              <a:t>AI News Daily Deck</a:t>
            </a:r>
          </a:p>
        </p:txBody>
      </p:sp>
      <p:sp>
        <p:nvSpPr>
          <p:cNvPr id="4" name="Rectangle 3"/>
          <p:cNvSpPr/>
          <p:nvPr/>
        </p:nvSpPr>
        <p:spPr>
          <a:xfrm>
            <a:off x="914400" y="3200400"/>
            <a:ext cx="2743200" cy="4572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4572000" cy="640080"/>
          </a:xfrm>
          <a:prstGeom prst="rect">
            <a:avLst/>
          </a:prstGeom>
          <a:noFill/>
        </p:spPr>
        <p:txBody>
          <a:bodyPr wrap="square">
            <a:spAutoFit/>
          </a:bodyPr>
          <a:lstStyle/>
          <a:p>
            <a:pPr algn="l">
              <a:defRPr sz="2600" b="0">
                <a:solidFill>
                  <a:srgbClr val="6C757D"/>
                </a:solidFill>
                <a:latin typeface="Meiryo"/>
              </a:defRPr>
            </a:pPr>
            <a:r>
              <a:t>2026-02-12</a:t>
            </a:r>
          </a:p>
        </p:txBody>
      </p:sp>
      <p:sp>
        <p:nvSpPr>
          <p:cNvPr id="6" name="Rectangle 5"/>
          <p:cNvSpPr/>
          <p:nvPr/>
        </p:nvSpPr>
        <p:spPr>
          <a:xfrm>
            <a:off x="91440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4754880"/>
            <a:ext cx="274320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864608"/>
            <a:ext cx="2377440" cy="502920"/>
          </a:xfrm>
          <a:prstGeom prst="rect">
            <a:avLst/>
          </a:prstGeom>
          <a:noFill/>
        </p:spPr>
        <p:txBody>
          <a:bodyPr wrap="none">
            <a:spAutoFit/>
          </a:bodyPr>
          <a:lstStyle/>
          <a:p>
            <a:r>
              <a:rPr sz="3000" b="1">
                <a:solidFill>
                  <a:srgbClr val="005BAB"/>
                </a:solidFill>
                <a:latin typeface="Meiryo"/>
              </a:rPr>
              <a:t>12</a:t>
            </a:r>
            <a:r>
              <a:rPr sz="1400">
                <a:solidFill>
                  <a:srgbClr val="6C757D"/>
                </a:solidFill>
                <a:latin typeface="Meiryo"/>
              </a:rPr>
              <a:t> 件</a:t>
            </a:r>
          </a:p>
        </p:txBody>
      </p:sp>
      <p:sp>
        <p:nvSpPr>
          <p:cNvPr id="9" name="TextBox 8"/>
          <p:cNvSpPr txBox="1"/>
          <p:nvPr/>
        </p:nvSpPr>
        <p:spPr>
          <a:xfrm>
            <a:off x="1097280" y="5394960"/>
            <a:ext cx="2377440" cy="274320"/>
          </a:xfrm>
          <a:prstGeom prst="rect">
            <a:avLst/>
          </a:prstGeom>
          <a:noFill/>
        </p:spPr>
        <p:txBody>
          <a:bodyPr wrap="square">
            <a:spAutoFit/>
          </a:bodyPr>
          <a:lstStyle/>
          <a:p>
            <a:pPr algn="l">
              <a:defRPr sz="1100" b="0">
                <a:solidFill>
                  <a:srgbClr val="6C757D"/>
                </a:solidFill>
                <a:latin typeface="Meiryo"/>
              </a:defRPr>
            </a:pPr>
            <a:r>
              <a:t>Total News</a:t>
            </a:r>
          </a:p>
        </p:txBody>
      </p:sp>
      <p:sp>
        <p:nvSpPr>
          <p:cNvPr id="10" name="Rectangle 9"/>
          <p:cNvSpPr/>
          <p:nvPr/>
        </p:nvSpPr>
        <p:spPr>
          <a:xfrm>
            <a:off x="402336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0" y="4754880"/>
            <a:ext cx="274320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4864608"/>
            <a:ext cx="2377440" cy="502920"/>
          </a:xfrm>
          <a:prstGeom prst="rect">
            <a:avLst/>
          </a:prstGeom>
          <a:noFill/>
        </p:spPr>
        <p:txBody>
          <a:bodyPr wrap="none">
            <a:spAutoFit/>
          </a:bodyPr>
          <a:lstStyle/>
          <a:p>
            <a:r>
              <a:rPr sz="3000" b="1">
                <a:solidFill>
                  <a:srgbClr val="005BAB"/>
                </a:solidFill>
                <a:latin typeface="Meiryo"/>
              </a:rPr>
              <a:t>10</a:t>
            </a:r>
            <a:r>
              <a:rPr sz="1400">
                <a:solidFill>
                  <a:srgbClr val="6C757D"/>
                </a:solidFill>
                <a:latin typeface="Meiryo"/>
              </a:rPr>
              <a:t> 件</a:t>
            </a:r>
          </a:p>
        </p:txBody>
      </p:sp>
      <p:sp>
        <p:nvSpPr>
          <p:cNvPr id="13" name="TextBox 12"/>
          <p:cNvSpPr txBox="1"/>
          <p:nvPr/>
        </p:nvSpPr>
        <p:spPr>
          <a:xfrm>
            <a:off x="4206240" y="5394960"/>
            <a:ext cx="237744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4" name="Rectangle 13"/>
          <p:cNvSpPr/>
          <p:nvPr/>
        </p:nvSpPr>
        <p:spPr>
          <a:xfrm>
            <a:off x="713232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0" y="4754880"/>
            <a:ext cx="274320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4864608"/>
            <a:ext cx="2377440" cy="502920"/>
          </a:xfrm>
          <a:prstGeom prst="rect">
            <a:avLst/>
          </a:prstGeom>
          <a:noFill/>
        </p:spPr>
        <p:txBody>
          <a:bodyPr wrap="none">
            <a:spAutoFit/>
          </a:bodyPr>
          <a:lstStyle/>
          <a:p>
            <a:r>
              <a:rPr sz="3000" b="1">
                <a:solidFill>
                  <a:srgbClr val="005BAB"/>
                </a:solidFill>
                <a:latin typeface="Meiryo"/>
              </a:rPr>
              <a:t>3</a:t>
            </a:r>
            <a:r>
              <a:rPr sz="1400">
                <a:solidFill>
                  <a:srgbClr val="6C757D"/>
                </a:solidFill>
                <a:latin typeface="Meiryo"/>
              </a:rPr>
              <a:t> 社</a:t>
            </a:r>
          </a:p>
        </p:txBody>
      </p:sp>
      <p:sp>
        <p:nvSpPr>
          <p:cNvPr id="17" name="TextBox 16"/>
          <p:cNvSpPr txBox="1"/>
          <p:nvPr/>
        </p:nvSpPr>
        <p:spPr>
          <a:xfrm>
            <a:off x="7315200" y="5394960"/>
            <a:ext cx="237744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18" name="Rectangle 17"/>
          <p:cNvSpPr/>
          <p:nvPr/>
        </p:nvSpPr>
        <p:spPr>
          <a:xfrm>
            <a:off x="0" y="6803136"/>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Executive Summary</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2026-02-12  |  Page 1</a:t>
            </a:r>
          </a:p>
        </p:txBody>
      </p:sp>
      <p:sp>
        <p:nvSpPr>
          <p:cNvPr id="6" name="Rounded Rectangle 5"/>
          <p:cNvSpPr/>
          <p:nvPr/>
        </p:nvSpPr>
        <p:spPr>
          <a:xfrm>
            <a:off x="6400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960120"/>
            <a:ext cx="246888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051560"/>
            <a:ext cx="2194560" cy="274320"/>
          </a:xfrm>
          <a:prstGeom prst="rect">
            <a:avLst/>
          </a:prstGeom>
          <a:noFill/>
        </p:spPr>
        <p:txBody>
          <a:bodyPr wrap="square">
            <a:spAutoFit/>
          </a:bodyPr>
          <a:lstStyle/>
          <a:p>
            <a:pPr algn="l">
              <a:defRPr sz="1100" b="0">
                <a:solidFill>
                  <a:srgbClr val="6C757D"/>
                </a:solidFill>
                <a:latin typeface="Meiryo"/>
              </a:defRPr>
            </a:pPr>
            <a:r>
              <a:t>Total</a:t>
            </a:r>
          </a:p>
        </p:txBody>
      </p:sp>
      <p:sp>
        <p:nvSpPr>
          <p:cNvPr id="9" name="TextBox 8"/>
          <p:cNvSpPr txBox="1"/>
          <p:nvPr/>
        </p:nvSpPr>
        <p:spPr>
          <a:xfrm>
            <a:off x="777240" y="1307592"/>
            <a:ext cx="2194560" cy="548640"/>
          </a:xfrm>
          <a:prstGeom prst="rect">
            <a:avLst/>
          </a:prstGeom>
          <a:noFill/>
        </p:spPr>
        <p:txBody>
          <a:bodyPr wrap="square">
            <a:spAutoFit/>
          </a:bodyPr>
          <a:lstStyle/>
          <a:p>
            <a:r>
              <a:rPr sz="2800" b="1">
                <a:solidFill>
                  <a:srgbClr val="005BAB"/>
                </a:solidFill>
                <a:latin typeface="Meiryo"/>
              </a:rPr>
              <a:t>12</a:t>
            </a:r>
            <a:r>
              <a:rPr sz="1400">
                <a:solidFill>
                  <a:srgbClr val="6C757D"/>
                </a:solidFill>
                <a:latin typeface="Meiryo"/>
              </a:rPr>
              <a:t> 件</a:t>
            </a:r>
          </a:p>
        </p:txBody>
      </p:sp>
      <p:sp>
        <p:nvSpPr>
          <p:cNvPr id="10" name="Rounded Rectangle 9"/>
          <p:cNvSpPr/>
          <p:nvPr/>
        </p:nvSpPr>
        <p:spPr>
          <a:xfrm>
            <a:off x="33832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83280" y="960120"/>
            <a:ext cx="246888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1051560"/>
            <a:ext cx="2194560" cy="274320"/>
          </a:xfrm>
          <a:prstGeom prst="rect">
            <a:avLst/>
          </a:prstGeom>
          <a:noFill/>
        </p:spPr>
        <p:txBody>
          <a:bodyPr wrap="square">
            <a:spAutoFit/>
          </a:bodyPr>
          <a:lstStyle/>
          <a:p>
            <a:pPr algn="l">
              <a:defRPr sz="1100" b="0">
                <a:solidFill>
                  <a:srgbClr val="6C757D"/>
                </a:solidFill>
                <a:latin typeface="Meiryo"/>
              </a:defRPr>
            </a:pPr>
            <a:r>
              <a:t>Top Company</a:t>
            </a:r>
          </a:p>
        </p:txBody>
      </p:sp>
      <p:sp>
        <p:nvSpPr>
          <p:cNvPr id="13" name="TextBox 12"/>
          <p:cNvSpPr txBox="1"/>
          <p:nvPr/>
        </p:nvSpPr>
        <p:spPr>
          <a:xfrm>
            <a:off x="3520440" y="1307592"/>
            <a:ext cx="2194560" cy="548640"/>
          </a:xfrm>
          <a:prstGeom prst="rect">
            <a:avLst/>
          </a:prstGeom>
          <a:noFill/>
        </p:spPr>
        <p:txBody>
          <a:bodyPr wrap="square">
            <a:spAutoFit/>
          </a:bodyPr>
          <a:lstStyle/>
          <a:p>
            <a:r>
              <a:rPr sz="2800" b="1">
                <a:solidFill>
                  <a:srgbClr val="005BAB"/>
                </a:solidFill>
                <a:latin typeface="Meiryo"/>
              </a:rPr>
              <a:t>Other</a:t>
            </a:r>
            <a:r>
              <a:rPr sz="1400">
                <a:solidFill>
                  <a:srgbClr val="6C757D"/>
                </a:solidFill>
                <a:latin typeface="Meiryo"/>
              </a:rPr>
              <a:t> 6件</a:t>
            </a:r>
          </a:p>
        </p:txBody>
      </p:sp>
      <p:sp>
        <p:nvSpPr>
          <p:cNvPr id="14" name="Rounded Rectangle 13"/>
          <p:cNvSpPr/>
          <p:nvPr/>
        </p:nvSpPr>
        <p:spPr>
          <a:xfrm>
            <a:off x="61264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960120"/>
            <a:ext cx="246888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1051560"/>
            <a:ext cx="219456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7" name="TextBox 16"/>
          <p:cNvSpPr txBox="1"/>
          <p:nvPr/>
        </p:nvSpPr>
        <p:spPr>
          <a:xfrm>
            <a:off x="6263640" y="1307592"/>
            <a:ext cx="2194560" cy="548640"/>
          </a:xfrm>
          <a:prstGeom prst="rect">
            <a:avLst/>
          </a:prstGeom>
          <a:noFill/>
        </p:spPr>
        <p:txBody>
          <a:bodyPr wrap="square">
            <a:spAutoFit/>
          </a:bodyPr>
          <a:lstStyle/>
          <a:p>
            <a:r>
              <a:rPr sz="2800" b="1">
                <a:solidFill>
                  <a:srgbClr val="005BAB"/>
                </a:solidFill>
                <a:latin typeface="Meiryo"/>
              </a:rPr>
              <a:t>10</a:t>
            </a:r>
            <a:r>
              <a:rPr sz="1400">
                <a:solidFill>
                  <a:srgbClr val="6C757D"/>
                </a:solidFill>
                <a:latin typeface="Meiryo"/>
              </a:rPr>
              <a:t> 件</a:t>
            </a:r>
          </a:p>
        </p:txBody>
      </p:sp>
      <p:sp>
        <p:nvSpPr>
          <p:cNvPr id="18" name="Rounded Rectangle 17"/>
          <p:cNvSpPr/>
          <p:nvPr/>
        </p:nvSpPr>
        <p:spPr>
          <a:xfrm>
            <a:off x="88696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69680" y="960120"/>
            <a:ext cx="2468880" cy="36576"/>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06840" y="1051560"/>
            <a:ext cx="219456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21" name="TextBox 20"/>
          <p:cNvSpPr txBox="1"/>
          <p:nvPr/>
        </p:nvSpPr>
        <p:spPr>
          <a:xfrm>
            <a:off x="9006840" y="1307592"/>
            <a:ext cx="2194560" cy="548640"/>
          </a:xfrm>
          <a:prstGeom prst="rect">
            <a:avLst/>
          </a:prstGeom>
          <a:noFill/>
        </p:spPr>
        <p:txBody>
          <a:bodyPr wrap="square">
            <a:spAutoFit/>
          </a:bodyPr>
          <a:lstStyle/>
          <a:p>
            <a:r>
              <a:rPr sz="2800" b="1">
                <a:solidFill>
                  <a:srgbClr val="005BAB"/>
                </a:solidFill>
                <a:latin typeface="Meiryo"/>
              </a:rPr>
              <a:t>3</a:t>
            </a:r>
            <a:r>
              <a:rPr sz="1400">
                <a:solidFill>
                  <a:srgbClr val="6C757D"/>
                </a:solidFill>
                <a:latin typeface="Meiryo"/>
              </a:rPr>
              <a:t> 社</a:t>
            </a:r>
          </a:p>
        </p:txBody>
      </p:sp>
      <p:sp>
        <p:nvSpPr>
          <p:cNvPr id="22" name="TextBox 21"/>
          <p:cNvSpPr txBox="1"/>
          <p:nvPr/>
        </p:nvSpPr>
        <p:spPr>
          <a:xfrm>
            <a:off x="548640" y="2331720"/>
            <a:ext cx="2743200" cy="320040"/>
          </a:xfrm>
          <a:prstGeom prst="rect">
            <a:avLst/>
          </a:prstGeom>
          <a:noFill/>
        </p:spPr>
        <p:txBody>
          <a:bodyPr wrap="square">
            <a:spAutoFit/>
          </a:bodyPr>
          <a:lstStyle/>
          <a:p>
            <a:pPr algn="l">
              <a:defRPr sz="1400" b="1">
                <a:solidFill>
                  <a:srgbClr val="005BAB"/>
                </a:solidFill>
                <a:latin typeface="Meiryo"/>
              </a:defRPr>
            </a:pPr>
            <a:r>
              <a:t>KEY TAKEAWAYS</a:t>
            </a:r>
          </a:p>
        </p:txBody>
      </p:sp>
      <p:sp>
        <p:nvSpPr>
          <p:cNvPr id="23" name="Rectangle 22"/>
          <p:cNvSpPr/>
          <p:nvPr/>
        </p:nvSpPr>
        <p:spPr>
          <a:xfrm>
            <a:off x="548640" y="2624328"/>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274320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274320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5800" y="28529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285292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28" name="TextBox 27"/>
          <p:cNvSpPr txBox="1"/>
          <p:nvPr/>
        </p:nvSpPr>
        <p:spPr>
          <a:xfrm>
            <a:off x="1188720" y="2816352"/>
            <a:ext cx="10271455" cy="548640"/>
          </a:xfrm>
          <a:prstGeom prst="rect">
            <a:avLst/>
          </a:prstGeom>
          <a:noFill/>
        </p:spPr>
        <p:txBody>
          <a:bodyPr wrap="square">
            <a:spAutoFit/>
          </a:bodyPr>
          <a:lstStyle/>
          <a:p>
            <a:pPr algn="l">
              <a:defRPr sz="1200" b="0">
                <a:solidFill>
                  <a:srgbClr val="1A1A2E"/>
                </a:solidFill>
                <a:latin typeface="Meiryo"/>
              </a:defRPr>
            </a:pPr>
            <a:r>
              <a:t>OpenAIとAnthropicが史上最大級の200億ドル超の資金調達を進行中、Sequoia CapitalとAltimeter Capitalが両社に同時投資する異例の展開</a:t>
            </a:r>
          </a:p>
        </p:txBody>
      </p:sp>
      <p:sp>
        <p:nvSpPr>
          <p:cNvPr id="29" name="Rectangle 28"/>
          <p:cNvSpPr/>
          <p:nvPr/>
        </p:nvSpPr>
        <p:spPr>
          <a:xfrm>
            <a:off x="548640" y="352044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3520440"/>
            <a:ext cx="54864" cy="68580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85800" y="363016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363016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33" name="TextBox 32"/>
          <p:cNvSpPr txBox="1"/>
          <p:nvPr/>
        </p:nvSpPr>
        <p:spPr>
          <a:xfrm>
            <a:off x="1188720" y="3593592"/>
            <a:ext cx="10271455" cy="548640"/>
          </a:xfrm>
          <a:prstGeom prst="rect">
            <a:avLst/>
          </a:prstGeom>
          <a:noFill/>
        </p:spPr>
        <p:txBody>
          <a:bodyPr wrap="square">
            <a:spAutoFit/>
          </a:bodyPr>
          <a:lstStyle/>
          <a:p>
            <a:pPr algn="l">
              <a:defRPr sz="1200" b="0">
                <a:solidFill>
                  <a:srgbClr val="1A1A2E"/>
                </a:solidFill>
                <a:latin typeface="Meiryo"/>
              </a:defRPr>
            </a:pPr>
            <a:r>
              <a:t>Big Tech 5社（Google、Microsoft、Meta、Amazon、Apple）の2026年AI設備投資が6500億ドルに到達、前年比81%増の歴史的規模</a:t>
            </a:r>
          </a:p>
        </p:txBody>
      </p:sp>
      <p:sp>
        <p:nvSpPr>
          <p:cNvPr id="34" name="Rectangle 33"/>
          <p:cNvSpPr/>
          <p:nvPr/>
        </p:nvSpPr>
        <p:spPr>
          <a:xfrm>
            <a:off x="548640" y="429768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297680"/>
            <a:ext cx="54864" cy="68580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5800" y="4407408"/>
            <a:ext cx="384048" cy="384048"/>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440740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38" name="TextBox 37"/>
          <p:cNvSpPr txBox="1"/>
          <p:nvPr/>
        </p:nvSpPr>
        <p:spPr>
          <a:xfrm>
            <a:off x="1188720" y="4370832"/>
            <a:ext cx="10271455" cy="548640"/>
          </a:xfrm>
          <a:prstGeom prst="rect">
            <a:avLst/>
          </a:prstGeom>
          <a:noFill/>
        </p:spPr>
        <p:txBody>
          <a:bodyPr wrap="square">
            <a:spAutoFit/>
          </a:bodyPr>
          <a:lstStyle/>
          <a:p>
            <a:pPr algn="l">
              <a:defRPr sz="1200" b="0">
                <a:solidFill>
                  <a:srgbClr val="1A1A2E"/>
                </a:solidFill>
                <a:latin typeface="Meiryo"/>
              </a:defRPr>
            </a:pPr>
            <a:r>
              <a:t>xAIが200億ドルのシリーズE調達完了後、月面AI衛星工場構想を発表。宇宙ベースデータセンターで計算資源制約を突破する戦略</a:t>
            </a:r>
          </a:p>
        </p:txBody>
      </p:sp>
      <p:sp>
        <p:nvSpPr>
          <p:cNvPr id="39" name="Rectangle 38"/>
          <p:cNvSpPr/>
          <p:nvPr/>
        </p:nvSpPr>
        <p:spPr>
          <a:xfrm>
            <a:off x="548640" y="507492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 y="5074920"/>
            <a:ext cx="54864" cy="68580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85800" y="5184648"/>
            <a:ext cx="384048" cy="384048"/>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184648"/>
            <a:ext cx="384048" cy="384048"/>
          </a:xfrm>
          <a:prstGeom prst="rect">
            <a:avLst/>
          </a:prstGeom>
          <a:noFill/>
        </p:spPr>
        <p:txBody>
          <a:bodyPr wrap="square" anchor="ctr">
            <a:spAutoFit/>
          </a:bodyPr>
          <a:lstStyle/>
          <a:p>
            <a:pPr algn="ctr">
              <a:defRPr sz="1400" b="1">
                <a:solidFill>
                  <a:srgbClr val="FFFFFF"/>
                </a:solidFill>
                <a:latin typeface="Meiryo"/>
              </a:defRPr>
            </a:pPr>
            <a:r>
              <a:t>4</a:t>
            </a:r>
          </a:p>
        </p:txBody>
      </p:sp>
      <p:sp>
        <p:nvSpPr>
          <p:cNvPr id="43" name="TextBox 42"/>
          <p:cNvSpPr txBox="1"/>
          <p:nvPr/>
        </p:nvSpPr>
        <p:spPr>
          <a:xfrm>
            <a:off x="1188720" y="5148072"/>
            <a:ext cx="10271455" cy="548640"/>
          </a:xfrm>
          <a:prstGeom prst="rect">
            <a:avLst/>
          </a:prstGeom>
          <a:noFill/>
        </p:spPr>
        <p:txBody>
          <a:bodyPr wrap="square">
            <a:spAutoFit/>
          </a:bodyPr>
          <a:lstStyle/>
          <a:p>
            <a:pPr algn="l">
              <a:defRPr sz="1200" b="0">
                <a:solidFill>
                  <a:srgbClr val="1A1A2E"/>
                </a:solidFill>
                <a:latin typeface="Meiryo"/>
              </a:defRPr>
            </a:pPr>
            <a:r>
              <a:t>ロボティクス分野でSkild AIが14億ドル調達（評価額140億ドル）、2025年のロボティクス投資総額は140億ドルで前年比70%増加</a:t>
            </a:r>
          </a:p>
        </p:txBody>
      </p:sp>
      <p:sp>
        <p:nvSpPr>
          <p:cNvPr id="44" name="Rectangle 43"/>
          <p:cNvSpPr/>
          <p:nvPr/>
        </p:nvSpPr>
        <p:spPr>
          <a:xfrm>
            <a:off x="548640" y="585216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 y="585216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85800" y="59618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5961888"/>
            <a:ext cx="384048" cy="384048"/>
          </a:xfrm>
          <a:prstGeom prst="rect">
            <a:avLst/>
          </a:prstGeom>
          <a:noFill/>
        </p:spPr>
        <p:txBody>
          <a:bodyPr wrap="square" anchor="ctr">
            <a:spAutoFit/>
          </a:bodyPr>
          <a:lstStyle/>
          <a:p>
            <a:pPr algn="ctr">
              <a:defRPr sz="1400" b="1">
                <a:solidFill>
                  <a:srgbClr val="FFFFFF"/>
                </a:solidFill>
                <a:latin typeface="Meiryo"/>
              </a:defRPr>
            </a:pPr>
            <a:r>
              <a:t>5</a:t>
            </a:r>
          </a:p>
        </p:txBody>
      </p:sp>
      <p:sp>
        <p:nvSpPr>
          <p:cNvPr id="48" name="TextBox 47"/>
          <p:cNvSpPr txBox="1"/>
          <p:nvPr/>
        </p:nvSpPr>
        <p:spPr>
          <a:xfrm>
            <a:off x="1188720" y="5925312"/>
            <a:ext cx="10271455" cy="548640"/>
          </a:xfrm>
          <a:prstGeom prst="rect">
            <a:avLst/>
          </a:prstGeom>
          <a:noFill/>
        </p:spPr>
        <p:txBody>
          <a:bodyPr wrap="square">
            <a:spAutoFit/>
          </a:bodyPr>
          <a:lstStyle/>
          <a:p>
            <a:pPr algn="l">
              <a:defRPr sz="1200" b="0">
                <a:solidFill>
                  <a:srgbClr val="1A1A2E"/>
                </a:solidFill>
                <a:latin typeface="Meiryo"/>
              </a:defRPr>
            </a:pPr>
            <a:r>
              <a:t>GPU需要急拡大で供給不足が深刻化、データセンター電力消費問題と合わせて「AIの2026年問題」として業界の成長制約要因に浮上</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TODAY'S HIGHLIGHT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2026-02-12  |  Page 2</a:t>
            </a:r>
          </a:p>
        </p:txBody>
      </p:sp>
      <p:sp>
        <p:nvSpPr>
          <p:cNvPr id="6" name="TextBox 5"/>
          <p:cNvSpPr txBox="1"/>
          <p:nvPr/>
        </p:nvSpPr>
        <p:spPr>
          <a:xfrm>
            <a:off x="548640" y="960120"/>
            <a:ext cx="5303520" cy="731520"/>
          </a:xfrm>
          <a:prstGeom prst="rect">
            <a:avLst/>
          </a:prstGeom>
          <a:noFill/>
        </p:spPr>
        <p:txBody>
          <a:bodyPr wrap="square">
            <a:spAutoFit/>
          </a:bodyPr>
          <a:lstStyle/>
          <a:p>
            <a:pPr algn="l">
              <a:defRPr sz="2200" b="1">
                <a:solidFill>
                  <a:srgbClr val="1A1A2E"/>
                </a:solidFill>
                <a:latin typeface="Meiryo"/>
              </a:defRPr>
            </a:pPr>
            <a:r>
              <a:t>OpenAIとAnthropicが史上最大級200億ドル超の資金調達競争、Sequoia・Altimeterが両社に同時投資する異例の展開</a:t>
            </a:r>
          </a:p>
        </p:txBody>
      </p:sp>
      <p:sp>
        <p:nvSpPr>
          <p:cNvPr id="7" name="TextBox 6"/>
          <p:cNvSpPr txBox="1"/>
          <p:nvPr/>
        </p:nvSpPr>
        <p:spPr>
          <a:xfrm>
            <a:off x="548640" y="1737360"/>
            <a:ext cx="5303520" cy="320040"/>
          </a:xfrm>
          <a:prstGeom prst="rect">
            <a:avLst/>
          </a:prstGeom>
          <a:noFill/>
        </p:spPr>
        <p:txBody>
          <a:bodyPr wrap="square">
            <a:spAutoFit/>
          </a:bodyPr>
          <a:lstStyle/>
          <a:p>
            <a:pPr algn="l">
              <a:defRPr sz="1200" b="0">
                <a:solidFill>
                  <a:srgbClr val="6C757D"/>
                </a:solidFill>
                <a:latin typeface="Meiryo"/>
              </a:defRPr>
            </a:pPr>
            <a:r>
              <a:t>OpenAI  |  Business  |  ★★★★★</a:t>
            </a:r>
          </a:p>
        </p:txBody>
      </p:sp>
      <p:sp>
        <p:nvSpPr>
          <p:cNvPr id="8" name="Rounded Rectangle 7"/>
          <p:cNvSpPr/>
          <p:nvPr/>
        </p:nvSpPr>
        <p:spPr>
          <a:xfrm>
            <a:off x="548640" y="2057400"/>
            <a:ext cx="2743200" cy="109728"/>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057400"/>
            <a:ext cx="2743200" cy="109728"/>
          </a:xfrm>
          <a:prstGeom prst="round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31720"/>
            <a:ext cx="5303520" cy="1463040"/>
          </a:xfrm>
          <a:prstGeom prst="rect">
            <a:avLst/>
          </a:prstGeom>
          <a:noFill/>
        </p:spPr>
        <p:txBody>
          <a:bodyPr wrap="square">
            <a:spAutoFit/>
          </a:bodyPr>
          <a:lstStyle/>
          <a:p>
            <a:pPr algn="l">
              <a:defRPr sz="1300" b="0">
                <a:solidFill>
                  <a:srgbClr val="1A1A2E"/>
                </a:solidFill>
                <a:latin typeface="Meiryo"/>
              </a:defRPr>
            </a:pPr>
            <a:r>
              <a:t>OpenAIとAnthropicが同時期に史上最大規模の資金調達ラウンドを進行中。Anthropicは200億ドル超を調達予定で、Sequoia CapitalとAltimeter Capitalが投資。従来VC業界では競合企業への同時投資はタブー視されてきたが、AI分野の巨額資本需要により慣例が崩れている。両社の資本調達競争は技術開発競争だけでなく、AI安全規制をめぐる政治対立にも発展。Anthropicは2000万ドルのスーパーPACを設立し、中間選挙でOpenAIと対峙する構図となっている。</a:t>
            </a:r>
          </a:p>
        </p:txBody>
      </p:sp>
      <p:sp>
        <p:nvSpPr>
          <p:cNvPr id="11" name="Rectangle 10"/>
          <p:cNvSpPr/>
          <p:nvPr/>
        </p:nvSpPr>
        <p:spPr>
          <a:xfrm>
            <a:off x="548640" y="397764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97764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416052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160520"/>
            <a:ext cx="365760" cy="365760"/>
          </a:xfrm>
          <a:prstGeom prst="rect">
            <a:avLst/>
          </a:prstGeom>
          <a:noFill/>
        </p:spPr>
        <p:txBody>
          <a:bodyPr wrap="square" anchor="ctr">
            <a:spAutoFit/>
          </a:bodyPr>
          <a:lstStyle/>
          <a:p>
            <a:pPr algn="ctr">
              <a:defRPr sz="1300" b="1">
                <a:solidFill>
                  <a:srgbClr val="FFFFFF"/>
                </a:solidFill>
                <a:latin typeface="Meiryo"/>
              </a:defRPr>
            </a:pPr>
            <a:r>
              <a:t>I</a:t>
            </a:r>
          </a:p>
        </p:txBody>
      </p:sp>
      <p:sp>
        <p:nvSpPr>
          <p:cNvPr id="15" name="TextBox 14"/>
          <p:cNvSpPr txBox="1"/>
          <p:nvPr/>
        </p:nvSpPr>
        <p:spPr>
          <a:xfrm>
            <a:off x="1097280" y="4023360"/>
            <a:ext cx="4617720" cy="182880"/>
          </a:xfrm>
          <a:prstGeom prst="rect">
            <a:avLst/>
          </a:prstGeom>
          <a:noFill/>
        </p:spPr>
        <p:txBody>
          <a:bodyPr wrap="square">
            <a:spAutoFit/>
          </a:bodyPr>
          <a:lstStyle/>
          <a:p>
            <a:pPr algn="l">
              <a:defRPr sz="1000" b="1">
                <a:solidFill>
                  <a:srgbClr val="005BAB"/>
                </a:solidFill>
                <a:latin typeface="Meiryo"/>
              </a:defRPr>
            </a:pPr>
            <a:r>
              <a:t>Impact</a:t>
            </a:r>
          </a:p>
        </p:txBody>
      </p:sp>
      <p:sp>
        <p:nvSpPr>
          <p:cNvPr id="16" name="TextBox 15"/>
          <p:cNvSpPr txBox="1"/>
          <p:nvPr/>
        </p:nvSpPr>
        <p:spPr>
          <a:xfrm>
            <a:off x="1097280" y="4206240"/>
            <a:ext cx="4617720" cy="548640"/>
          </a:xfrm>
          <a:prstGeom prst="rect">
            <a:avLst/>
          </a:prstGeom>
          <a:noFill/>
        </p:spPr>
        <p:txBody>
          <a:bodyPr wrap="square">
            <a:spAutoFit/>
          </a:bodyPr>
          <a:lstStyle/>
          <a:p>
            <a:pPr algn="l">
              <a:defRPr sz="900" b="0">
                <a:solidFill>
                  <a:srgbClr val="1A1A2E"/>
                </a:solidFill>
                <a:latin typeface="Meiryo"/>
              </a:defRPr>
            </a:pPr>
            <a:r>
              <a:t>AI業界の資本集中が加速し、新規参入障壁が上昇。VC業界の投資慣行が変化し、競合同時投資が常態化する可能性。政治的対立により規制環境の不確実性が増大し、企業戦略にも影響。Anthropicの法務ツールリリースによりデータサービス企業の株価が</a:t>
            </a:r>
          </a:p>
        </p:txBody>
      </p:sp>
      <p:sp>
        <p:nvSpPr>
          <p:cNvPr id="17" name="Rectangle 16"/>
          <p:cNvSpPr/>
          <p:nvPr/>
        </p:nvSpPr>
        <p:spPr>
          <a:xfrm>
            <a:off x="548640" y="493776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93776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512064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120640"/>
            <a:ext cx="365760" cy="365760"/>
          </a:xfrm>
          <a:prstGeom prst="rect">
            <a:avLst/>
          </a:prstGeom>
          <a:noFill/>
        </p:spPr>
        <p:txBody>
          <a:bodyPr wrap="square" anchor="ctr">
            <a:spAutoFit/>
          </a:bodyPr>
          <a:lstStyle/>
          <a:p>
            <a:pPr algn="ctr">
              <a:defRPr sz="1300" b="1">
                <a:solidFill>
                  <a:srgbClr val="FFFFFF"/>
                </a:solidFill>
                <a:latin typeface="Meiryo"/>
              </a:defRPr>
            </a:pPr>
            <a:r>
              <a:t>O</a:t>
            </a:r>
          </a:p>
        </p:txBody>
      </p:sp>
      <p:sp>
        <p:nvSpPr>
          <p:cNvPr id="21" name="TextBox 20"/>
          <p:cNvSpPr txBox="1"/>
          <p:nvPr/>
        </p:nvSpPr>
        <p:spPr>
          <a:xfrm>
            <a:off x="1097280" y="4983480"/>
            <a:ext cx="4617720" cy="182880"/>
          </a:xfrm>
          <a:prstGeom prst="rect">
            <a:avLst/>
          </a:prstGeom>
          <a:noFill/>
        </p:spPr>
        <p:txBody>
          <a:bodyPr wrap="square">
            <a:spAutoFit/>
          </a:bodyPr>
          <a:lstStyle/>
          <a:p>
            <a:pPr algn="l">
              <a:defRPr sz="1000" b="1">
                <a:solidFill>
                  <a:srgbClr val="5BA4D9"/>
                </a:solidFill>
                <a:latin typeface="Meiryo"/>
              </a:defRPr>
            </a:pPr>
            <a:r>
              <a:t>Outlook</a:t>
            </a:r>
          </a:p>
        </p:txBody>
      </p:sp>
      <p:sp>
        <p:nvSpPr>
          <p:cNvPr id="22" name="TextBox 21"/>
          <p:cNvSpPr txBox="1"/>
          <p:nvPr/>
        </p:nvSpPr>
        <p:spPr>
          <a:xfrm>
            <a:off x="1097280" y="5166360"/>
            <a:ext cx="4617720" cy="548640"/>
          </a:xfrm>
          <a:prstGeom prst="rect">
            <a:avLst/>
          </a:prstGeom>
          <a:noFill/>
        </p:spPr>
        <p:txBody>
          <a:bodyPr wrap="square">
            <a:spAutoFit/>
          </a:bodyPr>
          <a:lstStyle/>
          <a:p>
            <a:pPr algn="l">
              <a:defRPr sz="900" b="0">
                <a:solidFill>
                  <a:srgbClr val="1A1A2E"/>
                </a:solidFill>
                <a:latin typeface="Meiryo"/>
              </a:defRPr>
            </a:pPr>
            <a:r>
              <a:t>2026年後半にかけて両社の資金調達が完了し、次世代モデル開発とインフラ投資が加速。中間選挙の結果次第でAI規制の方向性が決定し、業界構造に長期的影響。OpenAIのIPO可能性は12月末時点で46%の「実施なし」予測となっており、短期的な</a:t>
            </a:r>
          </a:p>
        </p:txBody>
      </p:sp>
      <p:sp>
        <p:nvSpPr>
          <p:cNvPr id="23" name="Rectangle 22"/>
          <p:cNvSpPr/>
          <p:nvPr/>
        </p:nvSpPr>
        <p:spPr>
          <a:xfrm>
            <a:off x="548640" y="589788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89788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608076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080760"/>
            <a:ext cx="365760" cy="365760"/>
          </a:xfrm>
          <a:prstGeom prst="rect">
            <a:avLst/>
          </a:prstGeom>
          <a:noFill/>
        </p:spPr>
        <p:txBody>
          <a:bodyPr wrap="square" anchor="ctr">
            <a:spAutoFit/>
          </a:bodyPr>
          <a:lstStyle/>
          <a:p>
            <a:pPr algn="ctr">
              <a:defRPr sz="1300" b="1">
                <a:solidFill>
                  <a:srgbClr val="FFFFFF"/>
                </a:solidFill>
                <a:latin typeface="Meiryo"/>
              </a:defRPr>
            </a:pPr>
            <a:r>
              <a:t>R</a:t>
            </a:r>
          </a:p>
        </p:txBody>
      </p:sp>
      <p:sp>
        <p:nvSpPr>
          <p:cNvPr id="27" name="TextBox 26"/>
          <p:cNvSpPr txBox="1"/>
          <p:nvPr/>
        </p:nvSpPr>
        <p:spPr>
          <a:xfrm>
            <a:off x="1097280" y="5943600"/>
            <a:ext cx="4617720" cy="182880"/>
          </a:xfrm>
          <a:prstGeom prst="rect">
            <a:avLst/>
          </a:prstGeom>
          <a:noFill/>
        </p:spPr>
        <p:txBody>
          <a:bodyPr wrap="square">
            <a:spAutoFit/>
          </a:bodyPr>
          <a:lstStyle/>
          <a:p>
            <a:pPr algn="l">
              <a:defRPr sz="1000" b="1">
                <a:solidFill>
                  <a:srgbClr val="FF961C"/>
                </a:solidFill>
                <a:latin typeface="Meiryo"/>
              </a:defRPr>
            </a:pPr>
            <a:r>
              <a:t>Risks</a:t>
            </a:r>
          </a:p>
        </p:txBody>
      </p:sp>
      <p:sp>
        <p:nvSpPr>
          <p:cNvPr id="28" name="TextBox 27"/>
          <p:cNvSpPr txBox="1"/>
          <p:nvPr/>
        </p:nvSpPr>
        <p:spPr>
          <a:xfrm>
            <a:off x="1097280" y="6126480"/>
            <a:ext cx="4617720" cy="548640"/>
          </a:xfrm>
          <a:prstGeom prst="rect">
            <a:avLst/>
          </a:prstGeom>
          <a:noFill/>
        </p:spPr>
        <p:txBody>
          <a:bodyPr wrap="square">
            <a:spAutoFit/>
          </a:bodyPr>
          <a:lstStyle/>
          <a:p>
            <a:pPr algn="l">
              <a:defRPr sz="900" b="0">
                <a:solidFill>
                  <a:srgbClr val="1A1A2E"/>
                </a:solidFill>
                <a:latin typeface="Meiryo"/>
              </a:defRPr>
            </a:pPr>
            <a:r>
              <a:t>巨額投資に見合う収益化が遅れた場合、投資家の資金供給が停滞するリスク。規制強化により開発速度が制約される可能性。政治対立の激化により社会的受容性が低下し、企業イメージが悪化する懸念。OpenAIの安全性幹部解雇問題など、内部ガバナンス課題が</a:t>
            </a:r>
          </a:p>
        </p:txBody>
      </p:sp>
      <p:pic>
        <p:nvPicPr>
          <p:cNvPr id="29" name="Picture 28" descr="highlight_diagram.png"/>
          <p:cNvPicPr>
            <a:picLocks noChangeAspect="1"/>
          </p:cNvPicPr>
          <p:nvPr/>
        </p:nvPicPr>
        <p:blipFill>
          <a:blip r:embed="rId2"/>
          <a:stretch>
            <a:fillRect/>
          </a:stretch>
        </p:blipFill>
        <p:spPr>
          <a:xfrm>
            <a:off x="6156655" y="960120"/>
            <a:ext cx="548640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企業動向比較マトリクス</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2026-02-12  |  Page 3</a:t>
            </a:r>
          </a:p>
        </p:txBody>
      </p:sp>
      <p:graphicFrame>
        <p:nvGraphicFramePr>
          <p:cNvPr id="6" name="Table 5"/>
          <p:cNvGraphicFramePr>
            <a:graphicFrameLocks noGrp="1"/>
          </p:cNvGraphicFramePr>
          <p:nvPr/>
        </p:nvGraphicFramePr>
        <p:xfrm>
          <a:off x="548640" y="960120"/>
          <a:ext cx="11094415" cy="5029200"/>
        </p:xfrm>
        <a:graphic>
          <a:graphicData uri="http://schemas.openxmlformats.org/drawingml/2006/table">
            <a:tbl>
              <a:tblPr firstRow="1" bandRow="1">
                <a:tableStyleId>{5C22544A-7EE6-4342-B048-85BDC9FD1C3A}</a:tableStyleId>
              </a:tblPr>
              <a:tblGrid>
                <a:gridCol w="1645920"/>
                <a:gridCol w="2011680"/>
                <a:gridCol w="3474720"/>
                <a:gridCol w="914400"/>
                <a:gridCol w="3047695"/>
              </a:tblGrid>
              <a:tr h="558800">
                <a:tc>
                  <a:txBody>
                    <a:bodyPr/>
                    <a:lstStyle/>
                    <a:p>
                      <a:pPr algn="ctr">
                        <a:defRPr sz="1200" b="1">
                          <a:solidFill>
                            <a:srgbClr val="FFFFFF"/>
                          </a:solidFill>
                          <a:latin typeface="Meiryo"/>
                        </a:defRPr>
                      </a:pPr>
                      <a:r>
                        <a:t>企業</a:t>
                      </a:r>
                    </a:p>
                  </a:txBody>
                  <a:tcPr>
                    <a:solidFill>
                      <a:srgbClr val="005BAB"/>
                    </a:solidFill>
                  </a:tcPr>
                </a:tc>
                <a:tc>
                  <a:txBody>
                    <a:bodyPr/>
                    <a:lstStyle/>
                    <a:p>
                      <a:pPr algn="ctr">
                        <a:defRPr sz="1200" b="1">
                          <a:solidFill>
                            <a:srgbClr val="FFFFFF"/>
                          </a:solidFill>
                          <a:latin typeface="Meiryo"/>
                        </a:defRPr>
                      </a:pPr>
                      <a:r>
                        <a:t>注力分野</a:t>
                      </a:r>
                    </a:p>
                  </a:txBody>
                  <a:tcPr>
                    <a:solidFill>
                      <a:srgbClr val="005BAB"/>
                    </a:solidFill>
                  </a:tcPr>
                </a:tc>
                <a:tc>
                  <a:txBody>
                    <a:bodyPr/>
                    <a:lstStyle/>
                    <a:p>
                      <a:pPr algn="ctr">
                        <a:defRPr sz="1200" b="1">
                          <a:solidFill>
                            <a:srgbClr val="FFFFFF"/>
                          </a:solidFill>
                          <a:latin typeface="Meiryo"/>
                        </a:defRPr>
                      </a:pPr>
                      <a:r>
                        <a:t>主要アクション</a:t>
                      </a:r>
                    </a:p>
                  </a:txBody>
                  <a:tcPr>
                    <a:solidFill>
                      <a:srgbClr val="005BAB"/>
                    </a:solidFill>
                  </a:tcPr>
                </a:tc>
                <a:tc>
                  <a:txBody>
                    <a:bodyPr/>
                    <a:lstStyle/>
                    <a:p>
                      <a:pPr algn="ctr">
                        <a:defRPr sz="1200" b="1">
                          <a:solidFill>
                            <a:srgbClr val="FFFFFF"/>
                          </a:solidFill>
                          <a:latin typeface="Meiryo"/>
                        </a:defRPr>
                      </a:pPr>
                      <a:r>
                        <a:t>動向</a:t>
                      </a:r>
                    </a:p>
                  </a:txBody>
                  <a:tcPr>
                    <a:solidFill>
                      <a:srgbClr val="005BAB"/>
                    </a:solidFill>
                  </a:tcPr>
                </a:tc>
                <a:tc>
                  <a:txBody>
                    <a:bodyPr/>
                    <a:lstStyle/>
                    <a:p>
                      <a:pPr algn="ctr">
                        <a:defRPr sz="1200" b="1">
                          <a:solidFill>
                            <a:srgbClr val="FFFFFF"/>
                          </a:solidFill>
                          <a:latin typeface="Meiryo"/>
                        </a:defRPr>
                      </a:pPr>
                      <a:r>
                        <a:t>強み</a:t>
                      </a:r>
                    </a:p>
                  </a:txBody>
                  <a:tcPr>
                    <a:solidFill>
                      <a:srgbClr val="005BAB"/>
                    </a:solidFill>
                  </a:tcPr>
                </a:tc>
              </a:tr>
              <a:tr h="558800">
                <a:tc>
                  <a:txBody>
                    <a:bodyPr/>
                    <a:lstStyle/>
                    <a:p>
                      <a:pPr>
                        <a:defRPr sz="1100" b="1">
                          <a:solidFill>
                            <a:srgbClr val="1A1A2E"/>
                          </a:solidFill>
                          <a:latin typeface="Meiryo"/>
                        </a:defRPr>
                      </a:pPr>
                      <a:r>
                        <a:t>OpenAI</a:t>
                      </a:r>
                    </a:p>
                  </a:txBody>
                  <a:tcPr>
                    <a:solidFill>
                      <a:srgbClr val="FFFFFF"/>
                    </a:solidFill>
                  </a:tcPr>
                </a:tc>
                <a:tc>
                  <a:txBody>
                    <a:bodyPr/>
                    <a:lstStyle/>
                    <a:p>
                      <a:pPr>
                        <a:defRPr sz="1100">
                          <a:solidFill>
                            <a:srgbClr val="1A1A2E"/>
                          </a:solidFill>
                          <a:latin typeface="Meiryo"/>
                        </a:defRPr>
                      </a:pPr>
                      <a:r>
                        <a:t>マルチモーダルLLM + エージェント商用化</a:t>
                      </a:r>
                    </a:p>
                  </a:txBody>
                  <a:tcPr>
                    <a:solidFill>
                      <a:srgbClr val="FFFFFF"/>
                    </a:solidFill>
                  </a:tcPr>
                </a:tc>
                <a:tc>
                  <a:txBody>
                    <a:bodyPr/>
                    <a:lstStyle/>
                    <a:p>
                      <a:pPr>
                        <a:defRPr sz="1100">
                          <a:solidFill>
                            <a:srgbClr val="1A1A2E"/>
                          </a:solidFill>
                          <a:latin typeface="Meiryo"/>
                        </a:defRPr>
                      </a:pPr>
                      <a:r>
                        <a:t>GPT-5.2リリース（40万トークン、AIME100%）、企業向けAIエージェントプラットフォーム提供開始、NVIDIA 10GWパートナーシップ締結</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企業顧客獲得、インフラ垂直統合、コンテキスト長と精度のバランス</a:t>
                      </a:r>
                    </a:p>
                  </a:txBody>
                  <a:tcPr>
                    <a:solidFill>
                      <a:srgbClr val="FFFFFF"/>
                    </a:solidFill>
                  </a:tcPr>
                </a:tc>
              </a:tr>
              <a:tr h="558800">
                <a:tc>
                  <a:txBody>
                    <a:bodyPr/>
                    <a:lstStyle/>
                    <a:p>
                      <a:pPr>
                        <a:defRPr sz="1100" b="1">
                          <a:solidFill>
                            <a:srgbClr val="1A1A2E"/>
                          </a:solidFill>
                          <a:latin typeface="Meiryo"/>
                        </a:defRPr>
                      </a:pPr>
                      <a:r>
                        <a:t>Anthropic</a:t>
                      </a:r>
                    </a:p>
                  </a:txBody>
                  <a:tcPr>
                    <a:solidFill>
                      <a:srgbClr val="E8F1F8"/>
                    </a:solidFill>
                  </a:tcPr>
                </a:tc>
                <a:tc>
                  <a:txBody>
                    <a:bodyPr/>
                    <a:lstStyle/>
                    <a:p>
                      <a:pPr>
                        <a:defRPr sz="1100">
                          <a:solidFill>
                            <a:srgbClr val="1A1A2E"/>
                          </a:solidFill>
                          <a:latin typeface="Meiryo"/>
                        </a:defRPr>
                      </a:pPr>
                      <a:r>
                        <a:t>AI安全性 + 規制アドボカシー</a:t>
                      </a:r>
                    </a:p>
                  </a:txBody>
                  <a:tcPr>
                    <a:solidFill>
                      <a:srgbClr val="E8F1F8"/>
                    </a:solidFill>
                  </a:tcPr>
                </a:tc>
                <a:tc>
                  <a:txBody>
                    <a:bodyPr/>
                    <a:lstStyle/>
                    <a:p>
                      <a:pPr>
                        <a:defRPr sz="1100">
                          <a:solidFill>
                            <a:srgbClr val="1A1A2E"/>
                          </a:solidFill>
                          <a:latin typeface="Meiryo"/>
                        </a:defRPr>
                      </a:pPr>
                      <a:r>
                        <a:t>200億ドル超資金調達、2000万ドルスーパーPAC設立、2月末ベストモデル予測68%、法務ツールでデータサービス株に衝撃</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短期モデル性能、AI安全規制での政治的影響力、法務・コンプライアンス市場開拓</a:t>
                      </a:r>
                    </a:p>
                  </a:txBody>
                  <a:tcPr>
                    <a:solidFill>
                      <a:srgbClr val="E8F1F8"/>
                    </a:solidFill>
                  </a:tcPr>
                </a:tc>
              </a:tr>
              <a:tr h="558800">
                <a:tc>
                  <a:txBody>
                    <a:bodyPr/>
                    <a:lstStyle/>
                    <a:p>
                      <a:pPr>
                        <a:defRPr sz="1100" b="1">
                          <a:solidFill>
                            <a:srgbClr val="1A1A2E"/>
                          </a:solidFill>
                          <a:latin typeface="Meiryo"/>
                        </a:defRPr>
                      </a:pPr>
                      <a:r>
                        <a:t>Google</a:t>
                      </a:r>
                    </a:p>
                  </a:txBody>
                  <a:tcPr>
                    <a:solidFill>
                      <a:srgbClr val="FFFFFF"/>
                    </a:solidFill>
                  </a:tcPr>
                </a:tc>
                <a:tc>
                  <a:txBody>
                    <a:bodyPr/>
                    <a:lstStyle/>
                    <a:p>
                      <a:pPr>
                        <a:defRPr sz="1100">
                          <a:solidFill>
                            <a:srgbClr val="1A1A2E"/>
                          </a:solidFill>
                          <a:latin typeface="Meiryo"/>
                        </a:defRPr>
                      </a:pPr>
                      <a:r>
                        <a:t>マルチモーダル + 超長コンテキスト推論</a:t>
                      </a:r>
                    </a:p>
                  </a:txBody>
                  <a:tcPr>
                    <a:solidFill>
                      <a:srgbClr val="FFFFFF"/>
                    </a:solidFill>
                  </a:tcPr>
                </a:tc>
                <a:tc>
                  <a:txBody>
                    <a:bodyPr/>
                    <a:lstStyle/>
                    <a:p>
                      <a:pPr>
                        <a:defRPr sz="1100">
                          <a:solidFill>
                            <a:srgbClr val="1A1A2E"/>
                          </a:solidFill>
                          <a:latin typeface="Meiryo"/>
                        </a:defRPr>
                      </a:pPr>
                      <a:r>
                        <a:t>Gemini 3 Pro（100万トークン、Deep Think機能）、1750～1850億ドル設備投資、3月・6月モデル予測でトップ</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長期技術ロードマップ、インフラ投資規模、推論性能2.5倍向上</a:t>
                      </a:r>
                    </a:p>
                  </a:txBody>
                  <a:tcPr>
                    <a:solidFill>
                      <a:srgbClr val="FFFFFF"/>
                    </a:solidFill>
                  </a:tcPr>
                </a:tc>
              </a:tr>
              <a:tr h="558800">
                <a:tc>
                  <a:txBody>
                    <a:bodyPr/>
                    <a:lstStyle/>
                    <a:p>
                      <a:pPr>
                        <a:defRPr sz="1100" b="1">
                          <a:solidFill>
                            <a:srgbClr val="1A1A2E"/>
                          </a:solidFill>
                          <a:latin typeface="Meiryo"/>
                        </a:defRPr>
                      </a:pPr>
                      <a:r>
                        <a:t>Microsoft</a:t>
                      </a:r>
                    </a:p>
                  </a:txBody>
                  <a:tcPr>
                    <a:solidFill>
                      <a:srgbClr val="E8F1F8"/>
                    </a:solidFill>
                  </a:tcPr>
                </a:tc>
                <a:tc>
                  <a:txBody>
                    <a:bodyPr/>
                    <a:lstStyle/>
                    <a:p>
                      <a:pPr>
                        <a:defRPr sz="1100">
                          <a:solidFill>
                            <a:srgbClr val="1A1A2E"/>
                          </a:solidFill>
                          <a:latin typeface="Meiryo"/>
                        </a:defRPr>
                      </a:pPr>
                      <a:r>
                        <a:t>AIパートナー化 + 社会実装</a:t>
                      </a:r>
                    </a:p>
                  </a:txBody>
                  <a:tcPr>
                    <a:solidFill>
                      <a:srgbClr val="E8F1F8"/>
                    </a:solidFill>
                  </a:tcPr>
                </a:tc>
                <a:tc>
                  <a:txBody>
                    <a:bodyPr/>
                    <a:lstStyle/>
                    <a:p>
                      <a:pPr>
                        <a:defRPr sz="1100">
                          <a:solidFill>
                            <a:srgbClr val="1A1A2E"/>
                          </a:solidFill>
                          <a:latin typeface="Meiryo"/>
                        </a:defRPr>
                      </a:pPr>
                      <a:r>
                        <a:t>Community-First Infrastructure枠組み発表、データセンター「AIイノベーションハブ」リブランディング（2億ドル）、2026年AI trends 7項目発表</a:t>
                      </a:r>
                    </a:p>
                  </a:txBody>
                  <a:tcPr>
                    <a:solidFill>
                      <a:srgbClr val="E8F1F8"/>
                    </a:solidFill>
                  </a:tcPr>
                </a:tc>
                <a:tc>
                  <a:txBody>
                    <a:bodyPr/>
                    <a:lstStyle/>
                    <a:p>
                      <a:pPr algn="ctr">
                        <a:defRPr sz="1400" b="1">
                          <a:solidFill>
                            <a:srgbClr val="6C757D"/>
                          </a:solidFill>
                          <a:latin typeface="Meiryo"/>
                        </a:defRPr>
                      </a:pPr>
                      <a:r>
                        <a:t>◆</a:t>
                      </a:r>
                    </a:p>
                  </a:txBody>
                  <a:tcPr>
                    <a:solidFill>
                      <a:srgbClr val="E8F1F8"/>
                    </a:solidFill>
                  </a:tcPr>
                </a:tc>
                <a:tc>
                  <a:txBody>
                    <a:bodyPr/>
                    <a:lstStyle/>
                    <a:p>
                      <a:pPr>
                        <a:defRPr sz="1100">
                          <a:solidFill>
                            <a:srgbClr val="1A1A2E"/>
                          </a:solidFill>
                          <a:latin typeface="Meiryo"/>
                        </a:defRPr>
                      </a:pPr>
                      <a:r>
                        <a:t>企業顧客基盤、社会受容性戦略、パートナーエコシステム</a:t>
                      </a:r>
                    </a:p>
                  </a:txBody>
                  <a:tcPr>
                    <a:solidFill>
                      <a:srgbClr val="E8F1F8"/>
                    </a:solidFill>
                  </a:tcPr>
                </a:tc>
              </a:tr>
              <a:tr h="558800">
                <a:tc>
                  <a:txBody>
                    <a:bodyPr/>
                    <a:lstStyle/>
                    <a:p>
                      <a:pPr>
                        <a:defRPr sz="1100" b="1">
                          <a:solidFill>
                            <a:srgbClr val="1A1A2E"/>
                          </a:solidFill>
                          <a:latin typeface="Meiryo"/>
                        </a:defRPr>
                      </a:pPr>
                      <a:r>
                        <a:t>Meta</a:t>
                      </a:r>
                    </a:p>
                  </a:txBody>
                  <a:tcPr>
                    <a:solidFill>
                      <a:srgbClr val="FFFFFF"/>
                    </a:solidFill>
                  </a:tcPr>
                </a:tc>
                <a:tc>
                  <a:txBody>
                    <a:bodyPr/>
                    <a:lstStyle/>
                    <a:p>
                      <a:pPr>
                        <a:defRPr sz="1100">
                          <a:solidFill>
                            <a:srgbClr val="1A1A2E"/>
                          </a:solidFill>
                          <a:latin typeface="Meiryo"/>
                        </a:defRPr>
                      </a:pPr>
                      <a:r>
                        <a:t>オープンモデル + インフラ投資</a:t>
                      </a:r>
                    </a:p>
                  </a:txBody>
                  <a:tcPr>
                    <a:solidFill>
                      <a:srgbClr val="FFFFFF"/>
                    </a:solidFill>
                  </a:tcPr>
                </a:tc>
                <a:tc>
                  <a:txBody>
                    <a:bodyPr/>
                    <a:lstStyle/>
                    <a:p>
                      <a:pPr>
                        <a:defRPr sz="1100">
                          <a:solidFill>
                            <a:srgbClr val="1A1A2E"/>
                          </a:solidFill>
                          <a:latin typeface="Meiryo"/>
                        </a:defRPr>
                      </a:pPr>
                      <a:r>
                        <a:t>2026年設備投資6500億ドル（Big Tech 5社合計）の一角、インフルエンサー広告40～60万ドル/件で市場開拓</a:t>
                      </a:r>
                    </a:p>
                  </a:txBody>
                  <a:tcPr>
                    <a:solidFill>
                      <a:srgbClr val="FFFFFF"/>
                    </a:solidFill>
                  </a:tcPr>
                </a:tc>
                <a:tc>
                  <a:txBody>
                    <a:bodyPr/>
                    <a:lstStyle/>
                    <a:p>
                      <a:pPr algn="ctr">
                        <a:defRPr sz="1400" b="1">
                          <a:solidFill>
                            <a:srgbClr val="6C757D"/>
                          </a:solidFill>
                          <a:latin typeface="Meiryo"/>
                        </a:defRPr>
                      </a:pPr>
                      <a:r>
                        <a:t>◆</a:t>
                      </a:r>
                    </a:p>
                  </a:txBody>
                  <a:tcPr>
                    <a:solidFill>
                      <a:srgbClr val="FFFFFF"/>
                    </a:solidFill>
                  </a:tcPr>
                </a:tc>
                <a:tc>
                  <a:txBody>
                    <a:bodyPr/>
                    <a:lstStyle/>
                    <a:p>
                      <a:pPr>
                        <a:defRPr sz="1100">
                          <a:solidFill>
                            <a:srgbClr val="1A1A2E"/>
                          </a:solidFill>
                          <a:latin typeface="Meiryo"/>
                        </a:defRPr>
                      </a:pPr>
                      <a:r>
                        <a:t>オープンソース戦略、広告プラットフォーム統合</a:t>
                      </a:r>
                    </a:p>
                  </a:txBody>
                  <a:tcPr>
                    <a:solidFill>
                      <a:srgbClr val="FFFFFF"/>
                    </a:solidFill>
                  </a:tcPr>
                </a:tc>
              </a:tr>
              <a:tr h="558800">
                <a:tc>
                  <a:txBody>
                    <a:bodyPr/>
                    <a:lstStyle/>
                    <a:p>
                      <a:pPr>
                        <a:defRPr sz="1100" b="1">
                          <a:solidFill>
                            <a:srgbClr val="1A1A2E"/>
                          </a:solidFill>
                          <a:latin typeface="Meiryo"/>
                        </a:defRPr>
                      </a:pPr>
                      <a:r>
                        <a:t>xAI</a:t>
                      </a:r>
                    </a:p>
                  </a:txBody>
                  <a:tcPr>
                    <a:solidFill>
                      <a:srgbClr val="E8F1F8"/>
                    </a:solidFill>
                  </a:tcPr>
                </a:tc>
                <a:tc>
                  <a:txBody>
                    <a:bodyPr/>
                    <a:lstStyle/>
                    <a:p>
                      <a:pPr>
                        <a:defRPr sz="1100">
                          <a:solidFill>
                            <a:srgbClr val="1A1A2E"/>
                          </a:solidFill>
                          <a:latin typeface="Meiryo"/>
                        </a:defRPr>
                      </a:pPr>
                      <a:r>
                        <a:t>推論特化 + 宇宙インフラ</a:t>
                      </a:r>
                    </a:p>
                  </a:txBody>
                  <a:tcPr>
                    <a:solidFill>
                      <a:srgbClr val="E8F1F8"/>
                    </a:solidFill>
                  </a:tcPr>
                </a:tc>
                <a:tc>
                  <a:txBody>
                    <a:bodyPr/>
                    <a:lstStyle/>
                    <a:p>
                      <a:pPr>
                        <a:defRPr sz="1100">
                          <a:solidFill>
                            <a:srgbClr val="1A1A2E"/>
                          </a:solidFill>
                          <a:latin typeface="Meiryo"/>
                        </a:defRPr>
                      </a:pPr>
                      <a:r>
                        <a:t>Grok 4.1がEloランキング1位、200億ドルシリーズE完了、月面AI衛星工場構想、SpaceX統合、4チーム体制再編</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推論性能トップ、宇宙資源活用の長期ビジョン、SpaceX統合シナジー</a:t>
                      </a:r>
                    </a:p>
                  </a:txBody>
                  <a:tcPr>
                    <a:solidFill>
                      <a:srgbClr val="E8F1F8"/>
                    </a:solidFill>
                  </a:tcPr>
                </a:tc>
              </a:tr>
              <a:tr h="558800">
                <a:tc>
                  <a:txBody>
                    <a:bodyPr/>
                    <a:lstStyle/>
                    <a:p>
                      <a:pPr>
                        <a:defRPr sz="1100" b="1">
                          <a:solidFill>
                            <a:srgbClr val="1A1A2E"/>
                          </a:solidFill>
                          <a:latin typeface="Meiryo"/>
                        </a:defRPr>
                      </a:pPr>
                      <a:r>
                        <a:t>NVIDIA</a:t>
                      </a:r>
                    </a:p>
                  </a:txBody>
                  <a:tcPr>
                    <a:solidFill>
                      <a:srgbClr val="FFFFFF"/>
                    </a:solidFill>
                  </a:tcPr>
                </a:tc>
                <a:tc>
                  <a:txBody>
                    <a:bodyPr/>
                    <a:lstStyle/>
                    <a:p>
                      <a:pPr>
                        <a:defRPr sz="1100">
                          <a:solidFill>
                            <a:srgbClr val="1A1A2E"/>
                          </a:solidFill>
                          <a:latin typeface="Meiryo"/>
                        </a:defRPr>
                      </a:pPr>
                      <a:r>
                        <a:t>AIインフラ + 垂直統合</a:t>
                      </a:r>
                    </a:p>
                  </a:txBody>
                  <a:tcPr>
                    <a:solidFill>
                      <a:srgbClr val="FFFFFF"/>
                    </a:solidFill>
                  </a:tcPr>
                </a:tc>
                <a:tc>
                  <a:txBody>
                    <a:bodyPr/>
                    <a:lstStyle/>
                    <a:p>
                      <a:pPr>
                        <a:defRPr sz="1100">
                          <a:solidFill>
                            <a:srgbClr val="1A1A2E"/>
                          </a:solidFill>
                          <a:latin typeface="Meiryo"/>
                        </a:defRPr>
                      </a:pPr>
                      <a:r>
                        <a:t>OpenAI 10GWパートナーシップ、CoreWeaveに20億ドル追加投資、Vera Rubinプラットフォーム2026年後半展開</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GPU市場独占、戦略的パートナーシップ、次世代プラットフォーム</a:t>
                      </a:r>
                    </a:p>
                  </a:txBody>
                  <a:tcPr>
                    <a:solidFill>
                      <a:srgbClr val="FFFFFF"/>
                    </a:solidFill>
                  </a:tcPr>
                </a:tc>
              </a:tr>
              <a:tr h="558800">
                <a:tc>
                  <a:txBody>
                    <a:bodyPr/>
                    <a:lstStyle/>
                    <a:p>
                      <a:pPr>
                        <a:defRPr sz="1100" b="1">
                          <a:solidFill>
                            <a:srgbClr val="1A1A2E"/>
                          </a:solidFill>
                          <a:latin typeface="Meiryo"/>
                        </a:defRPr>
                      </a:pPr>
                      <a:r>
                        <a:t>Skild AI</a:t>
                      </a:r>
                    </a:p>
                  </a:txBody>
                  <a:tcPr>
                    <a:solidFill>
                      <a:srgbClr val="E8F1F8"/>
                    </a:solidFill>
                  </a:tcPr>
                </a:tc>
                <a:tc>
                  <a:txBody>
                    <a:bodyPr/>
                    <a:lstStyle/>
                    <a:p>
                      <a:pPr>
                        <a:defRPr sz="1100">
                          <a:solidFill>
                            <a:srgbClr val="1A1A2E"/>
                          </a:solidFill>
                          <a:latin typeface="Meiryo"/>
                        </a:defRPr>
                      </a:pPr>
                      <a:r>
                        <a:t>ロボットAI脳プラットフォーム</a:t>
                      </a:r>
                    </a:p>
                  </a:txBody>
                  <a:tcPr>
                    <a:solidFill>
                      <a:srgbClr val="E8F1F8"/>
                    </a:solidFill>
                  </a:tcPr>
                </a:tc>
                <a:tc>
                  <a:txBody>
                    <a:bodyPr/>
                    <a:lstStyle/>
                    <a:p>
                      <a:pPr>
                        <a:defRPr sz="1100">
                          <a:solidFill>
                            <a:srgbClr val="1A1A2E"/>
                          </a:solidFill>
                          <a:latin typeface="Meiryo"/>
                        </a:defRPr>
                      </a:pPr>
                      <a:r>
                        <a:t>14億ドルシリーズC調達（評価額140億ドル）、汎用ロボット学習・実行プラットフォーム展開</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物理AI市場の先行、評価額の急成長、産業横断的適用可能性</a:t>
                      </a:r>
                    </a:p>
                  </a:txBody>
                  <a:tcPr>
                    <a:solidFill>
                      <a:srgbClr val="E8F1F8"/>
                    </a:solidFill>
                  </a:tcPr>
                </a:tc>
              </a:tr>
            </a:tbl>
          </a:graphicData>
        </a:graphic>
      </p:graphicFrame>
      <p:sp>
        <p:nvSpPr>
          <p:cNvPr id="7" name="Rounded Rectangle 6"/>
          <p:cNvSpPr/>
          <p:nvPr/>
        </p:nvSpPr>
        <p:spPr>
          <a:xfrm>
            <a:off x="548640" y="6217920"/>
            <a:ext cx="2011680" cy="32004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217920"/>
            <a:ext cx="2011680" cy="320040"/>
          </a:xfrm>
          <a:prstGeom prst="rect">
            <a:avLst/>
          </a:prstGeom>
          <a:noFill/>
        </p:spPr>
        <p:txBody>
          <a:bodyPr wrap="square" anchor="ctr">
            <a:spAutoFit/>
          </a:bodyPr>
          <a:lstStyle/>
          <a:p>
            <a:pPr algn="ctr">
              <a:defRPr sz="1100" b="1">
                <a:solidFill>
                  <a:srgbClr val="FFFFFF"/>
                </a:solidFill>
                <a:latin typeface="Meiryo"/>
              </a:defRPr>
            </a:pPr>
            <a:r>
              <a:t>  OpenAI  ▲</a:t>
            </a:r>
          </a:p>
        </p:txBody>
      </p:sp>
      <p:sp>
        <p:nvSpPr>
          <p:cNvPr id="9" name="Rounded Rectangle 8"/>
          <p:cNvSpPr/>
          <p:nvPr/>
        </p:nvSpPr>
        <p:spPr>
          <a:xfrm>
            <a:off x="2743200" y="6217920"/>
            <a:ext cx="2011680" cy="32004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6217920"/>
            <a:ext cx="2011680" cy="320040"/>
          </a:xfrm>
          <a:prstGeom prst="rect">
            <a:avLst/>
          </a:prstGeom>
          <a:noFill/>
        </p:spPr>
        <p:txBody>
          <a:bodyPr wrap="square" anchor="ctr">
            <a:spAutoFit/>
          </a:bodyPr>
          <a:lstStyle/>
          <a:p>
            <a:pPr algn="ctr">
              <a:defRPr sz="1100" b="1">
                <a:solidFill>
                  <a:srgbClr val="FFFFFF"/>
                </a:solidFill>
                <a:latin typeface="Meiryo"/>
              </a:defRPr>
            </a:pPr>
            <a:r>
              <a:t>  Anthropic  ▲</a:t>
            </a:r>
          </a:p>
        </p:txBody>
      </p:sp>
      <p:sp>
        <p:nvSpPr>
          <p:cNvPr id="11" name="Rounded Rectangle 10"/>
          <p:cNvSpPr/>
          <p:nvPr/>
        </p:nvSpPr>
        <p:spPr>
          <a:xfrm>
            <a:off x="4937760" y="6217920"/>
            <a:ext cx="2011680" cy="32004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6217920"/>
            <a:ext cx="2011680" cy="320040"/>
          </a:xfrm>
          <a:prstGeom prst="rect">
            <a:avLst/>
          </a:prstGeom>
          <a:noFill/>
        </p:spPr>
        <p:txBody>
          <a:bodyPr wrap="square" anchor="ctr">
            <a:spAutoFit/>
          </a:bodyPr>
          <a:lstStyle/>
          <a:p>
            <a:pPr algn="ctr">
              <a:defRPr sz="1100" b="1">
                <a:solidFill>
                  <a:srgbClr val="FFFFFF"/>
                </a:solidFill>
                <a:latin typeface="Meiryo"/>
              </a:defRPr>
            </a:pPr>
            <a:r>
              <a:t>  Google  ▲</a:t>
            </a:r>
          </a:p>
        </p:txBody>
      </p:sp>
      <p:sp>
        <p:nvSpPr>
          <p:cNvPr id="13" name="Rounded Rectangle 12"/>
          <p:cNvSpPr/>
          <p:nvPr/>
        </p:nvSpPr>
        <p:spPr>
          <a:xfrm>
            <a:off x="7132320" y="6217920"/>
            <a:ext cx="2011680" cy="32004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6217920"/>
            <a:ext cx="2011680" cy="320040"/>
          </a:xfrm>
          <a:prstGeom prst="rect">
            <a:avLst/>
          </a:prstGeom>
          <a:noFill/>
        </p:spPr>
        <p:txBody>
          <a:bodyPr wrap="square" anchor="ctr">
            <a:spAutoFit/>
          </a:bodyPr>
          <a:lstStyle/>
          <a:p>
            <a:pPr algn="ctr">
              <a:defRPr sz="1100" b="1">
                <a:solidFill>
                  <a:srgbClr val="FFFFFF"/>
                </a:solidFill>
                <a:latin typeface="Meiryo"/>
              </a:defRPr>
            </a:pPr>
            <a:r>
              <a:t>  Microsoft  ◆</a:t>
            </a:r>
          </a:p>
        </p:txBody>
      </p:sp>
      <p:sp>
        <p:nvSpPr>
          <p:cNvPr id="15" name="Rounded Rectangle 14"/>
          <p:cNvSpPr/>
          <p:nvPr/>
        </p:nvSpPr>
        <p:spPr>
          <a:xfrm>
            <a:off x="9326880" y="6217920"/>
            <a:ext cx="2011680" cy="32004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6217920"/>
            <a:ext cx="2011680" cy="320040"/>
          </a:xfrm>
          <a:prstGeom prst="rect">
            <a:avLst/>
          </a:prstGeom>
          <a:noFill/>
        </p:spPr>
        <p:txBody>
          <a:bodyPr wrap="square" anchor="ctr">
            <a:spAutoFit/>
          </a:bodyPr>
          <a:lstStyle/>
          <a:p>
            <a:pPr algn="ctr">
              <a:defRPr sz="1100" b="1">
                <a:solidFill>
                  <a:srgbClr val="FFFFFF"/>
                </a:solidFill>
                <a:latin typeface="Meiryo"/>
              </a:defRPr>
            </a:pPr>
            <a:r>
              <a:t>  Meta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トレンドフロー分析</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2026-02-12  |  Page 4</a:t>
            </a:r>
          </a:p>
        </p:txBody>
      </p:sp>
      <p:sp>
        <p:nvSpPr>
          <p:cNvPr id="6" name="Rounded Rectangle 5"/>
          <p:cNvSpPr/>
          <p:nvPr/>
        </p:nvSpPr>
        <p:spPr>
          <a:xfrm>
            <a:off x="68580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115568"/>
            <a:ext cx="411480" cy="411480"/>
          </a:xfrm>
          <a:prstGeom prst="rect">
            <a:avLst/>
          </a:prstGeom>
          <a:noFill/>
        </p:spPr>
        <p:txBody>
          <a:bodyPr wrap="square" anchor="ctr">
            <a:spAutoFit/>
          </a:bodyPr>
          <a:lstStyle/>
          <a:p>
            <a:pPr algn="ctr">
              <a:defRPr sz="1600" b="1">
                <a:solidFill>
                  <a:srgbClr val="FFFFFF"/>
                </a:solidFill>
                <a:latin typeface="Meiryo"/>
              </a:defRPr>
            </a:pPr>
            <a:r>
              <a:t>1</a:t>
            </a:r>
          </a:p>
        </p:txBody>
      </p:sp>
      <p:sp>
        <p:nvSpPr>
          <p:cNvPr id="9" name="TextBox 8"/>
          <p:cNvSpPr txBox="1"/>
          <p:nvPr/>
        </p:nvSpPr>
        <p:spPr>
          <a:xfrm>
            <a:off x="1325880" y="1143000"/>
            <a:ext cx="4206240" cy="365760"/>
          </a:xfrm>
          <a:prstGeom prst="rect">
            <a:avLst/>
          </a:prstGeom>
          <a:noFill/>
        </p:spPr>
        <p:txBody>
          <a:bodyPr wrap="square">
            <a:spAutoFit/>
          </a:bodyPr>
          <a:lstStyle/>
          <a:p>
            <a:pPr algn="l">
              <a:defRPr sz="1400" b="1">
                <a:solidFill>
                  <a:srgbClr val="005BAB"/>
                </a:solidFill>
                <a:latin typeface="Meiryo"/>
              </a:defRPr>
            </a:pPr>
            <a:r>
              <a:t>AIインフラ投資の歴史的拡大と資源制約の顕在化</a:t>
            </a:r>
          </a:p>
        </p:txBody>
      </p:sp>
      <p:sp>
        <p:nvSpPr>
          <p:cNvPr id="10" name="TextBox 9"/>
          <p:cNvSpPr txBox="1"/>
          <p:nvPr/>
        </p:nvSpPr>
        <p:spPr>
          <a:xfrm>
            <a:off x="868680" y="1554480"/>
            <a:ext cx="4663440" cy="1097280"/>
          </a:xfrm>
          <a:prstGeom prst="rect">
            <a:avLst/>
          </a:prstGeom>
          <a:noFill/>
        </p:spPr>
        <p:txBody>
          <a:bodyPr wrap="square">
            <a:spAutoFit/>
          </a:bodyPr>
          <a:lstStyle/>
          <a:p>
            <a:pPr algn="l">
              <a:defRPr sz="1100" b="0">
                <a:solidFill>
                  <a:srgbClr val="1A1A2E"/>
                </a:solidFill>
                <a:latin typeface="Meiryo"/>
              </a:defRPr>
            </a:pPr>
            <a:r>
              <a:t>Big Tech 5社の2026年設備投資が6500億ドルに達し、前年の3590億ドルから81%増加。特にGoogleは1750～1850億ドルを計画し、市場予想1195億ドルを大幅に上回る。しかしGPU供給不足とデータセンター電力制約が同時進行し、OpenAI-NVIDIA間の10ギガワット規模パートナーシップのような垂直統合戦略が加速。Microsoft、Amazonも2億ドルを投じてデータセ</a:t>
            </a:r>
          </a:p>
        </p:txBody>
      </p:sp>
      <p:sp>
        <p:nvSpPr>
          <p:cNvPr id="11" name="Rounded Rectangle 10"/>
          <p:cNvSpPr/>
          <p:nvPr/>
        </p:nvSpPr>
        <p:spPr>
          <a:xfrm>
            <a:off x="868680" y="28803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803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13" name="Rounded Rectangle 12"/>
          <p:cNvSpPr/>
          <p:nvPr/>
        </p:nvSpPr>
        <p:spPr>
          <a:xfrm>
            <a:off x="2148840" y="2880360"/>
            <a:ext cx="1188720" cy="27432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48840" y="2880360"/>
            <a:ext cx="1188720" cy="274320"/>
          </a:xfrm>
          <a:prstGeom prst="rect">
            <a:avLst/>
          </a:prstGeom>
          <a:noFill/>
        </p:spPr>
        <p:txBody>
          <a:bodyPr wrap="square" anchor="ctr">
            <a:spAutoFit/>
          </a:bodyPr>
          <a:lstStyle/>
          <a:p>
            <a:pPr algn="ctr">
              <a:defRPr sz="900" b="1">
                <a:solidFill>
                  <a:srgbClr val="FFFFFF"/>
                </a:solidFill>
                <a:latin typeface="Meiryo"/>
              </a:defRPr>
            </a:pPr>
            <a:r>
              <a:t>Microsoft</a:t>
            </a:r>
          </a:p>
        </p:txBody>
      </p:sp>
      <p:sp>
        <p:nvSpPr>
          <p:cNvPr id="15" name="Rounded Rectangle 14"/>
          <p:cNvSpPr/>
          <p:nvPr/>
        </p:nvSpPr>
        <p:spPr>
          <a:xfrm>
            <a:off x="3429000" y="2880360"/>
            <a:ext cx="1188720" cy="27432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2880360"/>
            <a:ext cx="1188720" cy="274320"/>
          </a:xfrm>
          <a:prstGeom prst="rect">
            <a:avLst/>
          </a:prstGeom>
          <a:noFill/>
        </p:spPr>
        <p:txBody>
          <a:bodyPr wrap="square" anchor="ctr">
            <a:spAutoFit/>
          </a:bodyPr>
          <a:lstStyle/>
          <a:p>
            <a:pPr algn="ctr">
              <a:defRPr sz="900" b="1">
                <a:solidFill>
                  <a:srgbClr val="FFFFFF"/>
                </a:solidFill>
                <a:latin typeface="Meiryo"/>
              </a:defRPr>
            </a:pPr>
            <a:r>
              <a:t>Meta</a:t>
            </a:r>
          </a:p>
        </p:txBody>
      </p:sp>
      <p:sp>
        <p:nvSpPr>
          <p:cNvPr id="17" name="Rounded Rectangle 16"/>
          <p:cNvSpPr/>
          <p:nvPr/>
        </p:nvSpPr>
        <p:spPr>
          <a:xfrm>
            <a:off x="4709160" y="28803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2880360"/>
            <a:ext cx="1188720" cy="274320"/>
          </a:xfrm>
          <a:prstGeom prst="rect">
            <a:avLst/>
          </a:prstGeom>
          <a:noFill/>
        </p:spPr>
        <p:txBody>
          <a:bodyPr wrap="square" anchor="ctr">
            <a:spAutoFit/>
          </a:bodyPr>
          <a:lstStyle/>
          <a:p>
            <a:pPr algn="ctr">
              <a:defRPr sz="900" b="1">
                <a:solidFill>
                  <a:srgbClr val="FFFFFF"/>
                </a:solidFill>
                <a:latin typeface="Meiryo"/>
              </a:defRPr>
            </a:pPr>
            <a:r>
              <a:t>Amazon</a:t>
            </a:r>
          </a:p>
        </p:txBody>
      </p:sp>
      <p:sp>
        <p:nvSpPr>
          <p:cNvPr id="19" name="Rounded Rectangle 18"/>
          <p:cNvSpPr/>
          <p:nvPr/>
        </p:nvSpPr>
        <p:spPr>
          <a:xfrm>
            <a:off x="626364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0080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1115568"/>
            <a:ext cx="411480" cy="411480"/>
          </a:xfrm>
          <a:prstGeom prst="rect">
            <a:avLst/>
          </a:prstGeom>
          <a:noFill/>
        </p:spPr>
        <p:txBody>
          <a:bodyPr wrap="square" anchor="ctr">
            <a:spAutoFit/>
          </a:bodyPr>
          <a:lstStyle/>
          <a:p>
            <a:pPr algn="ctr">
              <a:defRPr sz="1600" b="1">
                <a:solidFill>
                  <a:srgbClr val="FFFFFF"/>
                </a:solidFill>
                <a:latin typeface="Meiryo"/>
              </a:defRPr>
            </a:pPr>
            <a:r>
              <a:t>2</a:t>
            </a:r>
          </a:p>
        </p:txBody>
      </p:sp>
      <p:sp>
        <p:nvSpPr>
          <p:cNvPr id="22" name="TextBox 21"/>
          <p:cNvSpPr txBox="1"/>
          <p:nvPr/>
        </p:nvSpPr>
        <p:spPr>
          <a:xfrm>
            <a:off x="6903720" y="1143000"/>
            <a:ext cx="4206240" cy="365760"/>
          </a:xfrm>
          <a:prstGeom prst="rect">
            <a:avLst/>
          </a:prstGeom>
          <a:noFill/>
        </p:spPr>
        <p:txBody>
          <a:bodyPr wrap="square">
            <a:spAutoFit/>
          </a:bodyPr>
          <a:lstStyle/>
          <a:p>
            <a:pPr algn="l">
              <a:defRPr sz="1400" b="1">
                <a:solidFill>
                  <a:srgbClr val="005BAB"/>
                </a:solidFill>
                <a:latin typeface="Meiryo"/>
              </a:defRPr>
            </a:pPr>
            <a:r>
              <a:t>LLM市場の二極化：OpenAI vs Anthropic競争の激化と政治化</a:t>
            </a:r>
          </a:p>
        </p:txBody>
      </p:sp>
      <p:sp>
        <p:nvSpPr>
          <p:cNvPr id="23" name="TextBox 22"/>
          <p:cNvSpPr txBox="1"/>
          <p:nvPr/>
        </p:nvSpPr>
        <p:spPr>
          <a:xfrm>
            <a:off x="6446520" y="1554480"/>
            <a:ext cx="4663440" cy="1097280"/>
          </a:xfrm>
          <a:prstGeom prst="rect">
            <a:avLst/>
          </a:prstGeom>
          <a:noFill/>
        </p:spPr>
        <p:txBody>
          <a:bodyPr wrap="square">
            <a:spAutoFit/>
          </a:bodyPr>
          <a:lstStyle/>
          <a:p>
            <a:pPr algn="l">
              <a:defRPr sz="1100" b="0">
                <a:solidFill>
                  <a:srgbClr val="1A1A2E"/>
                </a:solidFill>
                <a:latin typeface="Meiryo"/>
              </a:defRPr>
            </a:pPr>
            <a:r>
              <a:t>OpenAIとAnthropicが同時に200億ドル超の資金調達を進める中、VC業界でタブー視されてきた競合双方への投資が常態化。Sequoia CapitalとAltimeter Capitalが両社に同時投資し、AI業界の資本集中が加速。一方でAnthropicが2000万ドルを投じてスーパーPACを設立し、OpenAIと中間選挙でAI規制をめぐって対立する構図が明確化。技術競争が政治・規制領</a:t>
            </a:r>
          </a:p>
        </p:txBody>
      </p:sp>
      <p:sp>
        <p:nvSpPr>
          <p:cNvPr id="24" name="Rounded Rectangle 23"/>
          <p:cNvSpPr/>
          <p:nvPr/>
        </p:nvSpPr>
        <p:spPr>
          <a:xfrm>
            <a:off x="6446520" y="28803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28803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26" name="Rounded Rectangle 25"/>
          <p:cNvSpPr/>
          <p:nvPr/>
        </p:nvSpPr>
        <p:spPr>
          <a:xfrm>
            <a:off x="7726680" y="28803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26680" y="28803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28" name="Rounded Rectangle 27"/>
          <p:cNvSpPr/>
          <p:nvPr/>
        </p:nvSpPr>
        <p:spPr>
          <a:xfrm>
            <a:off x="9006840" y="28803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06840" y="28803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30" name="Rounded Rectangle 29"/>
          <p:cNvSpPr/>
          <p:nvPr/>
        </p:nvSpPr>
        <p:spPr>
          <a:xfrm>
            <a:off x="685800" y="35204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22960" y="36301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3630168"/>
            <a:ext cx="411480" cy="411480"/>
          </a:xfrm>
          <a:prstGeom prst="rect">
            <a:avLst/>
          </a:prstGeom>
          <a:noFill/>
        </p:spPr>
        <p:txBody>
          <a:bodyPr wrap="square" anchor="ctr">
            <a:spAutoFit/>
          </a:bodyPr>
          <a:lstStyle/>
          <a:p>
            <a:pPr algn="ctr">
              <a:defRPr sz="1600" b="1">
                <a:solidFill>
                  <a:srgbClr val="FFFFFF"/>
                </a:solidFill>
                <a:latin typeface="Meiryo"/>
              </a:defRPr>
            </a:pPr>
            <a:r>
              <a:t>3</a:t>
            </a:r>
          </a:p>
        </p:txBody>
      </p:sp>
      <p:sp>
        <p:nvSpPr>
          <p:cNvPr id="33" name="TextBox 32"/>
          <p:cNvSpPr txBox="1"/>
          <p:nvPr/>
        </p:nvSpPr>
        <p:spPr>
          <a:xfrm>
            <a:off x="1325880" y="3657600"/>
            <a:ext cx="4206240" cy="365760"/>
          </a:xfrm>
          <a:prstGeom prst="rect">
            <a:avLst/>
          </a:prstGeom>
          <a:noFill/>
        </p:spPr>
        <p:txBody>
          <a:bodyPr wrap="square">
            <a:spAutoFit/>
          </a:bodyPr>
          <a:lstStyle/>
          <a:p>
            <a:pPr algn="l">
              <a:defRPr sz="1400" b="1">
                <a:solidFill>
                  <a:srgbClr val="005BAB"/>
                </a:solidFill>
                <a:latin typeface="Meiryo"/>
              </a:defRPr>
            </a:pPr>
            <a:r>
              <a:t>ロボティクスAIの商用化加速と物理世界への展開</a:t>
            </a:r>
          </a:p>
        </p:txBody>
      </p:sp>
      <p:sp>
        <p:nvSpPr>
          <p:cNvPr id="34" name="TextBox 33"/>
          <p:cNvSpPr txBox="1"/>
          <p:nvPr/>
        </p:nvSpPr>
        <p:spPr>
          <a:xfrm>
            <a:off x="868680" y="4069080"/>
            <a:ext cx="4663440" cy="1097280"/>
          </a:xfrm>
          <a:prstGeom prst="rect">
            <a:avLst/>
          </a:prstGeom>
          <a:noFill/>
        </p:spPr>
        <p:txBody>
          <a:bodyPr wrap="square">
            <a:spAutoFit/>
          </a:bodyPr>
          <a:lstStyle/>
          <a:p>
            <a:pPr algn="l">
              <a:defRPr sz="1100" b="0">
                <a:solidFill>
                  <a:srgbClr val="1A1A2E"/>
                </a:solidFill>
                <a:latin typeface="Meiryo"/>
              </a:defRPr>
            </a:pPr>
            <a:r>
              <a:t>2025年のロボティクス投資総額が140億ドルに達し、前年比70%増加。2021年のピークを超える歴史的水準に到達。Skild AIが「ロボットの脳」開発で14億ドル調達（評価額140億ドル）、Apptronikが物流・産業用ヒューマノイドで5.2億ドル調達。スイス・米国のAlgorizedは「Physical AI」で神経系統的な安全・認識機能を実装し1300万ドル調達。デジタル空間から物理世界</a:t>
            </a:r>
          </a:p>
        </p:txBody>
      </p:sp>
      <p:sp>
        <p:nvSpPr>
          <p:cNvPr id="35" name="Rounded Rectangle 34"/>
          <p:cNvSpPr/>
          <p:nvPr/>
        </p:nvSpPr>
        <p:spPr>
          <a:xfrm>
            <a:off x="868680" y="53949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 y="5394960"/>
            <a:ext cx="1188720" cy="274320"/>
          </a:xfrm>
          <a:prstGeom prst="rect">
            <a:avLst/>
          </a:prstGeom>
          <a:noFill/>
        </p:spPr>
        <p:txBody>
          <a:bodyPr wrap="square" anchor="ctr">
            <a:spAutoFit/>
          </a:bodyPr>
          <a:lstStyle/>
          <a:p>
            <a:pPr algn="ctr">
              <a:defRPr sz="900" b="1">
                <a:solidFill>
                  <a:srgbClr val="FFFFFF"/>
                </a:solidFill>
                <a:latin typeface="Meiryo"/>
              </a:defRPr>
            </a:pPr>
            <a:r>
              <a:t>Skild AI</a:t>
            </a:r>
          </a:p>
        </p:txBody>
      </p:sp>
      <p:sp>
        <p:nvSpPr>
          <p:cNvPr id="37" name="Rounded Rectangle 36"/>
          <p:cNvSpPr/>
          <p:nvPr/>
        </p:nvSpPr>
        <p:spPr>
          <a:xfrm>
            <a:off x="2148840" y="53949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48840" y="5394960"/>
            <a:ext cx="1188720" cy="274320"/>
          </a:xfrm>
          <a:prstGeom prst="rect">
            <a:avLst/>
          </a:prstGeom>
          <a:noFill/>
        </p:spPr>
        <p:txBody>
          <a:bodyPr wrap="square" anchor="ctr">
            <a:spAutoFit/>
          </a:bodyPr>
          <a:lstStyle/>
          <a:p>
            <a:pPr algn="ctr">
              <a:defRPr sz="900" b="1">
                <a:solidFill>
                  <a:srgbClr val="FFFFFF"/>
                </a:solidFill>
                <a:latin typeface="Meiryo"/>
              </a:defRPr>
            </a:pPr>
            <a:r>
              <a:t>Apptronik</a:t>
            </a:r>
          </a:p>
        </p:txBody>
      </p:sp>
      <p:sp>
        <p:nvSpPr>
          <p:cNvPr id="39" name="Rounded Rectangle 38"/>
          <p:cNvSpPr/>
          <p:nvPr/>
        </p:nvSpPr>
        <p:spPr>
          <a:xfrm>
            <a:off x="3429000" y="53949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29000" y="5394960"/>
            <a:ext cx="1188720" cy="274320"/>
          </a:xfrm>
          <a:prstGeom prst="rect">
            <a:avLst/>
          </a:prstGeom>
          <a:noFill/>
        </p:spPr>
        <p:txBody>
          <a:bodyPr wrap="square" anchor="ctr">
            <a:spAutoFit/>
          </a:bodyPr>
          <a:lstStyle/>
          <a:p>
            <a:pPr algn="ctr">
              <a:defRPr sz="900" b="1">
                <a:solidFill>
                  <a:srgbClr val="FFFFFF"/>
                </a:solidFill>
                <a:latin typeface="Meiryo"/>
              </a:defRPr>
            </a:pPr>
            <a:r>
              <a:t>Algorized</a:t>
            </a:r>
          </a:p>
        </p:txBody>
      </p:sp>
      <p:sp>
        <p:nvSpPr>
          <p:cNvPr id="41" name="Rounded Rectangle 40"/>
          <p:cNvSpPr/>
          <p:nvPr/>
        </p:nvSpPr>
        <p:spPr>
          <a:xfrm>
            <a:off x="6263640" y="35204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00800" y="36301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0" y="3630168"/>
            <a:ext cx="411480" cy="411480"/>
          </a:xfrm>
          <a:prstGeom prst="rect">
            <a:avLst/>
          </a:prstGeom>
          <a:noFill/>
        </p:spPr>
        <p:txBody>
          <a:bodyPr wrap="square" anchor="ctr">
            <a:spAutoFit/>
          </a:bodyPr>
          <a:lstStyle/>
          <a:p>
            <a:pPr algn="ctr">
              <a:defRPr sz="1600" b="1">
                <a:solidFill>
                  <a:srgbClr val="FFFFFF"/>
                </a:solidFill>
                <a:latin typeface="Meiryo"/>
              </a:defRPr>
            </a:pPr>
            <a:r>
              <a:t>4</a:t>
            </a:r>
          </a:p>
        </p:txBody>
      </p:sp>
      <p:sp>
        <p:nvSpPr>
          <p:cNvPr id="44" name="TextBox 43"/>
          <p:cNvSpPr txBox="1"/>
          <p:nvPr/>
        </p:nvSpPr>
        <p:spPr>
          <a:xfrm>
            <a:off x="6903720" y="3657600"/>
            <a:ext cx="4206240" cy="365760"/>
          </a:xfrm>
          <a:prstGeom prst="rect">
            <a:avLst/>
          </a:prstGeom>
          <a:noFill/>
        </p:spPr>
        <p:txBody>
          <a:bodyPr wrap="square">
            <a:spAutoFit/>
          </a:bodyPr>
          <a:lstStyle/>
          <a:p>
            <a:pPr algn="l">
              <a:defRPr sz="1400" b="1">
                <a:solidFill>
                  <a:srgbClr val="005BAB"/>
                </a:solidFill>
                <a:latin typeface="Meiryo"/>
              </a:defRPr>
            </a:pPr>
            <a:r>
              <a:t>モデル性能の飽和とマルチモーダル・推論特化への転換</a:t>
            </a:r>
          </a:p>
        </p:txBody>
      </p:sp>
      <p:sp>
        <p:nvSpPr>
          <p:cNvPr id="45" name="TextBox 44"/>
          <p:cNvSpPr txBox="1"/>
          <p:nvPr/>
        </p:nvSpPr>
        <p:spPr>
          <a:xfrm>
            <a:off x="6446520" y="4069080"/>
            <a:ext cx="4663440" cy="1097280"/>
          </a:xfrm>
          <a:prstGeom prst="rect">
            <a:avLst/>
          </a:prstGeom>
          <a:noFill/>
        </p:spPr>
        <p:txBody>
          <a:bodyPr wrap="square">
            <a:spAutoFit/>
          </a:bodyPr>
          <a:lstStyle/>
          <a:p>
            <a:pPr algn="l">
              <a:defRPr sz="1100" b="0">
                <a:solidFill>
                  <a:srgbClr val="1A1A2E"/>
                </a:solidFill>
                <a:latin typeface="Meiryo"/>
              </a:defRPr>
            </a:pPr>
            <a:r>
              <a:t>GPT-5.2が40万トークンコンテキスト、AIME 2025数学ベンチマーク100%達成、幻覚率6.2%（前世代比40%削減）を実現。Gemini 3 Proは100万トークンコンテキストとDeep Think機能でARC-AGI-2スコア45.1%（前世代比2.5倍）。Grok 4.1がLMArena Eloランキング1位（1483 Elo）獲得。一方でGPT-4レベル性能のコストが2年前の1</a:t>
            </a:r>
          </a:p>
        </p:txBody>
      </p:sp>
      <p:sp>
        <p:nvSpPr>
          <p:cNvPr id="46" name="Rounded Rectangle 45"/>
          <p:cNvSpPr/>
          <p:nvPr/>
        </p:nvSpPr>
        <p:spPr>
          <a:xfrm>
            <a:off x="6446520" y="53949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46520" y="53949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48" name="Rounded Rectangle 47"/>
          <p:cNvSpPr/>
          <p:nvPr/>
        </p:nvSpPr>
        <p:spPr>
          <a:xfrm>
            <a:off x="7726680" y="53949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26680" y="53949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50" name="Rounded Rectangle 49"/>
          <p:cNvSpPr/>
          <p:nvPr/>
        </p:nvSpPr>
        <p:spPr>
          <a:xfrm>
            <a:off x="9006840" y="53949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06840" y="5394960"/>
            <a:ext cx="1188720" cy="274320"/>
          </a:xfrm>
          <a:prstGeom prst="rect">
            <a:avLst/>
          </a:prstGeom>
          <a:noFill/>
        </p:spPr>
        <p:txBody>
          <a:bodyPr wrap="square" anchor="ctr">
            <a:spAutoFit/>
          </a:bodyPr>
          <a:lstStyle/>
          <a:p>
            <a:pPr algn="ctr">
              <a:defRPr sz="900" b="1">
                <a:solidFill>
                  <a:srgbClr val="FFFFFF"/>
                </a:solidFill>
                <a:latin typeface="Meiryo"/>
              </a:defRPr>
            </a:pPr>
            <a:r>
              <a:t>xAI</a:t>
            </a:r>
          </a:p>
        </p:txBody>
      </p:sp>
      <p:sp>
        <p:nvSpPr>
          <p:cNvPr id="52" name="Rounded Rectangle 51"/>
          <p:cNvSpPr/>
          <p:nvPr/>
        </p:nvSpPr>
        <p:spPr>
          <a:xfrm>
            <a:off x="10287000" y="53949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287000" y="5394960"/>
            <a:ext cx="1188720" cy="274320"/>
          </a:xfrm>
          <a:prstGeom prst="rect">
            <a:avLst/>
          </a:prstGeom>
          <a:noFill/>
        </p:spPr>
        <p:txBody>
          <a:bodyPr wrap="square" anchor="ctr">
            <a:spAutoFit/>
          </a:bodyPr>
          <a:lstStyle/>
          <a:p>
            <a:pPr algn="ctr">
              <a:defRPr sz="900" b="1">
                <a:solidFill>
                  <a:srgbClr val="FFFFFF"/>
                </a:solidFill>
                <a:latin typeface="Meiryo"/>
              </a:defRPr>
            </a:pPr>
            <a:r>
              <a:t>Alibaba</a:t>
            </a:r>
          </a:p>
        </p:txBody>
      </p:sp>
      <p:sp>
        <p:nvSpPr>
          <p:cNvPr id="54" name="Right Arrow 53"/>
          <p:cNvSpPr/>
          <p:nvPr/>
        </p:nvSpPr>
        <p:spPr>
          <a:xfrm>
            <a:off x="5760720" y="2011680"/>
            <a:ext cx="457200" cy="274320"/>
          </a:xfrm>
          <a:prstGeom prst="right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ight Arrow 54"/>
          <p:cNvSpPr/>
          <p:nvPr/>
        </p:nvSpPr>
        <p:spPr>
          <a:xfrm>
            <a:off x="5760720" y="4526280"/>
            <a:ext cx="457200" cy="274320"/>
          </a:xfrm>
          <a:prstGeom prst="right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Down Arrow 55"/>
          <p:cNvSpPr/>
          <p:nvPr/>
        </p:nvSpPr>
        <p:spPr>
          <a:xfrm>
            <a:off x="3063240" y="3300984"/>
            <a:ext cx="274320" cy="201168"/>
          </a:xfrm>
          <a:prstGeom prst="down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(1/2)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2026-02-12  |  Page 5</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5</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82880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Big Tech 5社の2026年AI設備投資が6500億ドルに到達、前年比81%増の歴史的規模でGPU・データセンター建設が加速</a:t>
            </a:r>
          </a:p>
        </p:txBody>
      </p:sp>
      <p:sp>
        <p:nvSpPr>
          <p:cNvPr id="13" name="TextBox 12"/>
          <p:cNvSpPr txBox="1"/>
          <p:nvPr/>
        </p:nvSpPr>
        <p:spPr>
          <a:xfrm>
            <a:off x="731520" y="1463040"/>
            <a:ext cx="6675120" cy="731520"/>
          </a:xfrm>
          <a:prstGeom prst="rect">
            <a:avLst/>
          </a:prstGeom>
          <a:noFill/>
        </p:spPr>
        <p:txBody>
          <a:bodyPr wrap="square">
            <a:spAutoFit/>
          </a:bodyPr>
          <a:lstStyle/>
          <a:p>
            <a:pPr algn="l">
              <a:defRPr sz="1100" b="0">
                <a:solidFill>
                  <a:srgbClr val="1A1A2E"/>
                </a:solidFill>
                <a:latin typeface="Meiryo"/>
              </a:defRPr>
            </a:pPr>
            <a:r>
              <a:t>Google、Microsoft、Meta、Amazon、Appleの5社が2026年に予定する設備投資総額が6500億ドルに達し、2025年の3590億ドルから81%増加。特にGoogleは1750～1850億ドルを計画し、市場予想の1195億ドルを大幅に上回る。投資の大部分は...</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normAutofit/>
          </a:bodyPr>
          <a:lstStyle/>
          <a:p>
            <a:pPr algn="l">
              <a:defRPr sz="900" b="0">
                <a:solidFill>
                  <a:srgbClr val="1A1A2E"/>
                </a:solidFill>
                <a:latin typeface="Meiryo"/>
              </a:defRPr>
            </a:pPr>
            <a:r>
              <a:t>AI半導体市場が急拡大し、NVIDIA株価が上昇。データセンター建設により建設・電力業界にも波及効果。一方で電力網への負荷増大により、原子力発電やクリーンエネルギー投資が加速。地域経済への影響も大きく、MicrosoftはCommunity-First Infrastructure枠組みで地元雇用・税収・水資源管理へのコミットメントを明示している。</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Other  |  Business  |  Axios</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5</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828800" cy="109728"/>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OpenAIとNVIDIAが10ギガワット規模の戦略的パートナーシップ締結、Vera Rubinプラットフォームで2026年後半から展開開始</a:t>
            </a:r>
          </a:p>
        </p:txBody>
      </p:sp>
      <p:sp>
        <p:nvSpPr>
          <p:cNvPr id="25" name="TextBox 24"/>
          <p:cNvSpPr txBox="1"/>
          <p:nvPr/>
        </p:nvSpPr>
        <p:spPr>
          <a:xfrm>
            <a:off x="731520" y="3246120"/>
            <a:ext cx="6675120" cy="731520"/>
          </a:xfrm>
          <a:prstGeom prst="rect">
            <a:avLst/>
          </a:prstGeom>
          <a:noFill/>
        </p:spPr>
        <p:txBody>
          <a:bodyPr wrap="square">
            <a:spAutoFit/>
          </a:bodyPr>
          <a:lstStyle/>
          <a:p>
            <a:pPr algn="l">
              <a:defRPr sz="1100" b="0">
                <a:solidFill>
                  <a:srgbClr val="1A1A2E"/>
                </a:solidFill>
                <a:latin typeface="Meiryo"/>
              </a:defRPr>
            </a:pPr>
            <a:r>
              <a:t>OpenAIとNVIDIAが10ギガワット規模のAIインフラ構築で戦略的提携を発表。2026年後半に最初の1ギガワット分をNVIDIA Vera Rubinプラットフォームで展開予定。これはAI業界で最大規模のインフラ投資の一つで、OpenAIの計算資源を大幅に拡張する。NVID...</a:t>
            </a:r>
          </a:p>
        </p:txBody>
      </p:sp>
      <p:sp>
        <p:nvSpPr>
          <p:cNvPr id="26" name="Rounded Rectangle 25"/>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8" name="TextBox 27"/>
          <p:cNvSpPr txBox="1"/>
          <p:nvPr/>
        </p:nvSpPr>
        <p:spPr>
          <a:xfrm>
            <a:off x="7406640" y="3355848"/>
            <a:ext cx="3931920" cy="731520"/>
          </a:xfrm>
          <a:prstGeom prst="rect">
            <a:avLst/>
          </a:prstGeom>
          <a:noFill/>
        </p:spPr>
        <p:txBody>
          <a:bodyPr wrap="square">
            <a:normAutofit/>
          </a:bodyPr>
          <a:lstStyle/>
          <a:p>
            <a:pPr algn="l">
              <a:defRPr sz="900" b="0">
                <a:solidFill>
                  <a:srgbClr val="1A1A2E"/>
                </a:solidFill>
                <a:latin typeface="Meiryo"/>
              </a:defRPr>
            </a:pPr>
            <a:r>
              <a:t>OpenAIの計算資源が飛躍的に拡大し、GPT-6以降の大規模モデル開発が可能に。NVIDIA収益の安定化により株価にも好影響。AI専用インフラ市場の成長が加速し、CoreWeaveなど専門事業者が台頭。一方で電力需要増加により、エネルギー業界への影響も拡大。データセンター立地競争が激化し、電力供給能力が立地選定の最重要要素となる。</a:t>
            </a:r>
          </a:p>
        </p:txBody>
      </p:sp>
      <p:sp>
        <p:nvSpPr>
          <p:cNvPr id="29" name="TextBox 28"/>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OpenAI  |  Business  |  NVIDIA Newsroom</a:t>
            </a:r>
          </a:p>
        </p:txBody>
      </p:sp>
      <p:sp>
        <p:nvSpPr>
          <p:cNvPr id="30" name="Rectangle 29"/>
          <p:cNvSpPr/>
          <p:nvPr/>
        </p:nvSpPr>
        <p:spPr>
          <a:xfrm>
            <a:off x="548640" y="452628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52628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85800" y="466344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663440"/>
            <a:ext cx="457200" cy="457200"/>
          </a:xfrm>
          <a:prstGeom prst="rect">
            <a:avLst/>
          </a:prstGeom>
          <a:noFill/>
        </p:spPr>
        <p:txBody>
          <a:bodyPr wrap="square" anchor="ctr">
            <a:spAutoFit/>
          </a:bodyPr>
          <a:lstStyle/>
          <a:p>
            <a:pPr algn="ctr">
              <a:defRPr sz="1800" b="1">
                <a:solidFill>
                  <a:srgbClr val="FFFFFF"/>
                </a:solidFill>
                <a:latin typeface="Meiryo"/>
              </a:defRPr>
            </a:pPr>
            <a:r>
              <a:t>5</a:t>
            </a:r>
          </a:p>
        </p:txBody>
      </p:sp>
      <p:sp>
        <p:nvSpPr>
          <p:cNvPr id="34" name="Rounded Rectangle 33"/>
          <p:cNvSpPr/>
          <p:nvPr/>
        </p:nvSpPr>
        <p:spPr>
          <a:xfrm>
            <a:off x="1234440" y="481888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234440" y="4818888"/>
            <a:ext cx="182880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34440" y="4599432"/>
            <a:ext cx="8229600" cy="274320"/>
          </a:xfrm>
          <a:prstGeom prst="rect">
            <a:avLst/>
          </a:prstGeom>
          <a:noFill/>
        </p:spPr>
        <p:txBody>
          <a:bodyPr wrap="square">
            <a:spAutoFit/>
          </a:bodyPr>
          <a:lstStyle/>
          <a:p>
            <a:pPr algn="l">
              <a:defRPr sz="1500" b="1">
                <a:solidFill>
                  <a:srgbClr val="1A1A2E"/>
                </a:solidFill>
                <a:latin typeface="Meiryo"/>
              </a:defRPr>
            </a:pPr>
            <a:r>
              <a:t>「AIの2026年問題」が顕在化：GPU供給不足と電力制約により業界成長が物理的限界に直面、インフラ戦略の転換迫られる</a:t>
            </a:r>
          </a:p>
        </p:txBody>
      </p:sp>
      <p:sp>
        <p:nvSpPr>
          <p:cNvPr id="37" name="TextBox 36"/>
          <p:cNvSpPr txBox="1"/>
          <p:nvPr/>
        </p:nvSpPr>
        <p:spPr>
          <a:xfrm>
            <a:off x="731520" y="5029200"/>
            <a:ext cx="6675120" cy="731520"/>
          </a:xfrm>
          <a:prstGeom prst="rect">
            <a:avLst/>
          </a:prstGeom>
          <a:noFill/>
        </p:spPr>
        <p:txBody>
          <a:bodyPr wrap="square">
            <a:spAutoFit/>
          </a:bodyPr>
          <a:lstStyle/>
          <a:p>
            <a:pPr algn="l">
              <a:defRPr sz="1100" b="0">
                <a:solidFill>
                  <a:srgbClr val="1A1A2E"/>
                </a:solidFill>
                <a:latin typeface="Meiryo"/>
              </a:defRPr>
            </a:pPr>
            <a:r>
              <a:t>2026年のAI業界は性能向上より実装課題に直面。GPU供給不足とデータセンター電力消費問題が同時進行し、「AIの2026年問題」として業界成長の制約要因に。Big Tech 5社の6500億ドル投資にもかかわらず、物理的リソース確保が最大のボトルネックとなっている。Micros...</a:t>
            </a:r>
          </a:p>
        </p:txBody>
      </p:sp>
      <p:sp>
        <p:nvSpPr>
          <p:cNvPr id="38" name="Rounded Rectangle 37"/>
          <p:cNvSpPr/>
          <p:nvPr/>
        </p:nvSpPr>
        <p:spPr>
          <a:xfrm>
            <a:off x="7315200" y="493776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06640" y="495604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40" name="TextBox 39"/>
          <p:cNvSpPr txBox="1"/>
          <p:nvPr/>
        </p:nvSpPr>
        <p:spPr>
          <a:xfrm>
            <a:off x="7406640" y="5138928"/>
            <a:ext cx="3931920" cy="731520"/>
          </a:xfrm>
          <a:prstGeom prst="rect">
            <a:avLst/>
          </a:prstGeom>
          <a:noFill/>
        </p:spPr>
        <p:txBody>
          <a:bodyPr wrap="square">
            <a:normAutofit/>
          </a:bodyPr>
          <a:lstStyle/>
          <a:p>
            <a:pPr algn="l">
              <a:defRPr sz="900" b="0">
                <a:solidFill>
                  <a:srgbClr val="1A1A2E"/>
                </a:solidFill>
                <a:latin typeface="Meiryo"/>
              </a:defRPr>
            </a:pPr>
            <a:r>
              <a:t>AI開発競争のペースが減速し、インフラ確保が競争優位の鍵に。OpenAI-NVIDIA間の垂直統合パートナーシップのような戦略的提携が加速。電力業界・原子力産業への投資が急増。データセンター立地競争が激化し、電力供給能力が最重要選定基準に。社会受容性確保のため、地域貢献・環境配慮が企業戦略の中核となる。投資過熱によるキャッシュフロー悪化も懸念され、財務規律が問われる局面に。</a:t>
            </a:r>
          </a:p>
        </p:txBody>
      </p:sp>
      <p:sp>
        <p:nvSpPr>
          <p:cNvPr id="41" name="TextBox 40"/>
          <p:cNvSpPr txBox="1"/>
          <p:nvPr/>
        </p:nvSpPr>
        <p:spPr>
          <a:xfrm>
            <a:off x="731520" y="5897880"/>
            <a:ext cx="5486400" cy="228600"/>
          </a:xfrm>
          <a:prstGeom prst="rect">
            <a:avLst/>
          </a:prstGeom>
          <a:noFill/>
        </p:spPr>
        <p:txBody>
          <a:bodyPr wrap="square">
            <a:spAutoFit/>
          </a:bodyPr>
          <a:lstStyle/>
          <a:p>
            <a:pPr algn="l">
              <a:defRPr sz="1000" b="0">
                <a:solidFill>
                  <a:srgbClr val="6C757D"/>
                </a:solidFill>
                <a:latin typeface="Meiryo"/>
              </a:defRPr>
            </a:pPr>
            <a:r>
              <a:t>Other  |  Policy  |  ビジネス+IT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(2/2)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2026-02-12  |  Page 6</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46304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xAIが月面AI衛星工場構想を発表、200億ドルシリーズE完了後に宇宙ベースデータセンターで地上制約を突破へ</a:t>
            </a:r>
          </a:p>
        </p:txBody>
      </p:sp>
      <p:sp>
        <p:nvSpPr>
          <p:cNvPr id="13" name="TextBox 12"/>
          <p:cNvSpPr txBox="1"/>
          <p:nvPr/>
        </p:nvSpPr>
        <p:spPr>
          <a:xfrm>
            <a:off x="731520" y="1463040"/>
            <a:ext cx="6675120" cy="731520"/>
          </a:xfrm>
          <a:prstGeom prst="rect">
            <a:avLst/>
          </a:prstGeom>
          <a:noFill/>
        </p:spPr>
        <p:txBody>
          <a:bodyPr wrap="square">
            <a:spAutoFit/>
          </a:bodyPr>
          <a:lstStyle/>
          <a:p>
            <a:pPr algn="l">
              <a:defRPr sz="1100" b="0">
                <a:solidFill>
                  <a:srgbClr val="1A1A2E"/>
                </a:solidFill>
                <a:latin typeface="Meiryo"/>
              </a:defRPr>
            </a:pPr>
            <a:r>
              <a:t>xAIが全社会議で月面AI衛星工場とマスドライバー発射システム構想を公開。SpaceXとの統合後、宇宙ベースのAI計算資源により地球上のデータセンター電力・冷却制約を回避する戦略。200億ドルのシリーズE資金調達を完了し、IPO準備段階に移行。4チーム体制（Grokチャット、コー...</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normAutofit/>
          </a:bodyPr>
          <a:lstStyle/>
          <a:p>
            <a:pPr algn="l">
              <a:defRPr sz="900" b="0">
                <a:solidFill>
                  <a:srgbClr val="1A1A2E"/>
                </a:solidFill>
                <a:latin typeface="Meiryo"/>
              </a:defRPr>
            </a:pPr>
            <a:r>
              <a:t>実現すれば計算資源の制約が根本的に解消され、AI開発競争のパラダイムシフトが発生。宇宙産業とAI産業の融合により新たな経済圏が形成。SpaceX事業との相乗効果で打ち上げコストが劇的に低下。一方で技術的ハードルが極めて高く、実現時期は不透明。成功すれば他社を圧倒的に引き離す可能性がある。</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Other  |  Business  |  TechCrunch</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46304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ロボティクスAI投資が前年比70%増の140億ドルに急拡大、Skild AIが14億ドル調達で評価額140億ドル到達</a:t>
            </a:r>
          </a:p>
        </p:txBody>
      </p:sp>
      <p:sp>
        <p:nvSpPr>
          <p:cNvPr id="25" name="TextBox 24"/>
          <p:cNvSpPr txBox="1"/>
          <p:nvPr/>
        </p:nvSpPr>
        <p:spPr>
          <a:xfrm>
            <a:off x="731520" y="3246120"/>
            <a:ext cx="6675120" cy="731520"/>
          </a:xfrm>
          <a:prstGeom prst="rect">
            <a:avLst/>
          </a:prstGeom>
          <a:noFill/>
        </p:spPr>
        <p:txBody>
          <a:bodyPr wrap="square">
            <a:spAutoFit/>
          </a:bodyPr>
          <a:lstStyle/>
          <a:p>
            <a:pPr algn="l">
              <a:defRPr sz="1100" b="0">
                <a:solidFill>
                  <a:srgbClr val="1A1A2E"/>
                </a:solidFill>
                <a:latin typeface="Meiryo"/>
              </a:defRPr>
            </a:pPr>
            <a:r>
              <a:t>2025年のロボティクス分野へのベンチャー投資総額が140億ドルに達し、前年比70%増加。2021年のピークを超える歴史的水準となった。Skild AIは「ロボットの脳」開発で14億ドルのシリーズC調達を完了し、評価額140億ドルに到達。創業2年で急成長を遂げている。Apptro...</a:t>
            </a:r>
          </a:p>
        </p:txBody>
      </p:sp>
      <p:sp>
        <p:nvSpPr>
          <p:cNvPr id="26" name="Rounded Rectangle 25"/>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8" name="TextBox 27"/>
          <p:cNvSpPr txBox="1"/>
          <p:nvPr/>
        </p:nvSpPr>
        <p:spPr>
          <a:xfrm>
            <a:off x="7406640" y="3355848"/>
            <a:ext cx="3931920" cy="731520"/>
          </a:xfrm>
          <a:prstGeom prst="rect">
            <a:avLst/>
          </a:prstGeom>
          <a:noFill/>
        </p:spPr>
        <p:txBody>
          <a:bodyPr wrap="square">
            <a:normAutofit/>
          </a:bodyPr>
          <a:lstStyle/>
          <a:p>
            <a:pPr algn="l">
              <a:defRPr sz="900" b="0">
                <a:solidFill>
                  <a:srgbClr val="1A1A2E"/>
                </a:solidFill>
                <a:latin typeface="Meiryo"/>
              </a:defRPr>
            </a:pPr>
            <a:r>
              <a:t>製造業の生産性が飛躍的に向上し、リショアリングが加速。物流倉庫の完全自動化が進展し、eコマース企業の収益性改善。サービス業でも接客・清掃などでロボット導入が拡大。一方で雇用代替による社会的影響も懸念され、規制議論が活発化。ロボット専門人材の需要が急増し、教育プログラムも拡充されている。</a:t>
            </a:r>
          </a:p>
        </p:txBody>
      </p:sp>
      <p:sp>
        <p:nvSpPr>
          <p:cNvPr id="29" name="TextBox 28"/>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Other  |  Robotics  |  Crunchbase News</a:t>
            </a:r>
          </a:p>
        </p:txBody>
      </p:sp>
      <p:sp>
        <p:nvSpPr>
          <p:cNvPr id="30" name="Rectangle 29"/>
          <p:cNvSpPr/>
          <p:nvPr/>
        </p:nvSpPr>
        <p:spPr>
          <a:xfrm>
            <a:off x="548640" y="452628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526280"/>
            <a:ext cx="54864" cy="1645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85800" y="4663440"/>
            <a:ext cx="457200" cy="457200"/>
          </a:xfrm>
          <a:prstGeom prst="ellipse">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66344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34" name="Rounded Rectangle 33"/>
          <p:cNvSpPr/>
          <p:nvPr/>
        </p:nvSpPr>
        <p:spPr>
          <a:xfrm>
            <a:off x="1234440" y="481888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234440" y="4818888"/>
            <a:ext cx="1463040" cy="109728"/>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34440" y="4599432"/>
            <a:ext cx="8229600" cy="274320"/>
          </a:xfrm>
          <a:prstGeom prst="rect">
            <a:avLst/>
          </a:prstGeom>
          <a:noFill/>
        </p:spPr>
        <p:txBody>
          <a:bodyPr wrap="square">
            <a:spAutoFit/>
          </a:bodyPr>
          <a:lstStyle/>
          <a:p>
            <a:pPr algn="l">
              <a:defRPr sz="1500" b="1">
                <a:solidFill>
                  <a:srgbClr val="1A1A2E"/>
                </a:solidFill>
                <a:latin typeface="Meiryo"/>
              </a:defRPr>
            </a:pPr>
            <a:r>
              <a:t>GPT-5.2が40万トークンコンテキストとAIME数学ベンチマーク100%達成、幻覚率40%削減で実用性能が飛躍的向上</a:t>
            </a:r>
          </a:p>
        </p:txBody>
      </p:sp>
      <p:sp>
        <p:nvSpPr>
          <p:cNvPr id="37" name="TextBox 36"/>
          <p:cNvSpPr txBox="1"/>
          <p:nvPr/>
        </p:nvSpPr>
        <p:spPr>
          <a:xfrm>
            <a:off x="731520" y="5029200"/>
            <a:ext cx="6675120" cy="731520"/>
          </a:xfrm>
          <a:prstGeom prst="rect">
            <a:avLst/>
          </a:prstGeom>
          <a:noFill/>
        </p:spPr>
        <p:txBody>
          <a:bodyPr wrap="square">
            <a:spAutoFit/>
          </a:bodyPr>
          <a:lstStyle/>
          <a:p>
            <a:pPr algn="l">
              <a:defRPr sz="1100" b="0">
                <a:solidFill>
                  <a:srgbClr val="1A1A2E"/>
                </a:solidFill>
                <a:latin typeface="Meiryo"/>
              </a:defRPr>
            </a:pPr>
            <a:r>
              <a:t>OpenAIがGPT-5.2をリリースし、コンテキストウィンドウを40万トークンに拡張（GPT-4の128Kから3倍以上）。AIME 2025数学ベンチマークで100%の正解率を達成し、推論能力の大幅向上を実証。幻覚率は6.2%まで低下し、前世代比で約40%削減。GPT-4レベル...</a:t>
            </a:r>
          </a:p>
        </p:txBody>
      </p:sp>
      <p:sp>
        <p:nvSpPr>
          <p:cNvPr id="38" name="Rounded Rectangle 37"/>
          <p:cNvSpPr/>
          <p:nvPr/>
        </p:nvSpPr>
        <p:spPr>
          <a:xfrm>
            <a:off x="7315200" y="493776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06640" y="495604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40" name="TextBox 39"/>
          <p:cNvSpPr txBox="1"/>
          <p:nvPr/>
        </p:nvSpPr>
        <p:spPr>
          <a:xfrm>
            <a:off x="7406640" y="5138928"/>
            <a:ext cx="3931920" cy="731520"/>
          </a:xfrm>
          <a:prstGeom prst="rect">
            <a:avLst/>
          </a:prstGeom>
          <a:noFill/>
        </p:spPr>
        <p:txBody>
          <a:bodyPr wrap="square">
            <a:normAutofit/>
          </a:bodyPr>
          <a:lstStyle/>
          <a:p>
            <a:pPr algn="l">
              <a:defRPr sz="900" b="0">
                <a:solidFill>
                  <a:srgbClr val="1A1A2E"/>
                </a:solidFill>
                <a:latin typeface="Meiryo"/>
              </a:defRPr>
            </a:pPr>
            <a:r>
              <a:t>法務、医療、金融など長文ドキュメント処理が必要な分野での導入が加速。幻覚削減により高信頼性が求められる業務での活用が可能に。コスト低下とあいまって、中小企業でも導入が進む。一方でGoogleのGemini 3（100万トークン）やAlibaba Qwen2.5-Max（1兆パラメータMoE）との競争が激化している。</a:t>
            </a:r>
          </a:p>
        </p:txBody>
      </p:sp>
      <p:sp>
        <p:nvSpPr>
          <p:cNvPr id="41" name="TextBox 40"/>
          <p:cNvSpPr txBox="1"/>
          <p:nvPr/>
        </p:nvSpPr>
        <p:spPr>
          <a:xfrm>
            <a:off x="731520" y="5897880"/>
            <a:ext cx="5486400" cy="228600"/>
          </a:xfrm>
          <a:prstGeom prst="rect">
            <a:avLst/>
          </a:prstGeom>
          <a:noFill/>
        </p:spPr>
        <p:txBody>
          <a:bodyPr wrap="square">
            <a:spAutoFit/>
          </a:bodyPr>
          <a:lstStyle/>
          <a:p>
            <a:pPr algn="l">
              <a:defRPr sz="1000" b="0">
                <a:solidFill>
                  <a:srgbClr val="6C757D"/>
                </a:solidFill>
                <a:latin typeface="Meiryo"/>
              </a:defRPr>
            </a:pPr>
            <a:r>
              <a:t>OpenAI  |  LLM  |  LLM Stats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Global Market Impact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2026-02-12  |  Page 7</a:t>
            </a:r>
          </a:p>
        </p:txBody>
      </p:sp>
      <p:sp>
        <p:nvSpPr>
          <p:cNvPr id="6" name="Rectangle 5"/>
          <p:cNvSpPr/>
          <p:nvPr/>
        </p:nvSpPr>
        <p:spPr>
          <a:xfrm>
            <a:off x="548640" y="960120"/>
            <a:ext cx="5303520" cy="13716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3716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106984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069848"/>
            <a:ext cx="411480" cy="411480"/>
          </a:xfrm>
          <a:prstGeom prst="rect">
            <a:avLst/>
          </a:prstGeom>
          <a:noFill/>
        </p:spPr>
        <p:txBody>
          <a:bodyPr wrap="square" anchor="ctr">
            <a:spAutoFit/>
          </a:bodyPr>
          <a:lstStyle/>
          <a:p>
            <a:pPr algn="ctr">
              <a:defRPr sz="1400" b="1">
                <a:solidFill>
                  <a:srgbClr val="FFFFFF"/>
                </a:solidFill>
                <a:latin typeface="Meiryo"/>
              </a:defRPr>
            </a:pPr>
            <a:r>
              <a:t>★</a:t>
            </a:r>
          </a:p>
        </p:txBody>
      </p:sp>
      <p:sp>
        <p:nvSpPr>
          <p:cNvPr id="10" name="TextBox 9"/>
          <p:cNvSpPr txBox="1"/>
          <p:nvPr/>
        </p:nvSpPr>
        <p:spPr>
          <a:xfrm>
            <a:off x="1143000" y="1051560"/>
            <a:ext cx="4572000" cy="274320"/>
          </a:xfrm>
          <a:prstGeom prst="rect">
            <a:avLst/>
          </a:prstGeom>
          <a:noFill/>
        </p:spPr>
        <p:txBody>
          <a:bodyPr wrap="square">
            <a:spAutoFit/>
          </a:bodyPr>
          <a:lstStyle/>
          <a:p>
            <a:pPr algn="l">
              <a:defRPr sz="1400" b="1">
                <a:solidFill>
                  <a:srgbClr val="005BAB"/>
                </a:solidFill>
                <a:latin typeface="Meiryo"/>
              </a:defRPr>
            </a:pPr>
            <a:r>
              <a:t>米国</a:t>
            </a:r>
          </a:p>
        </p:txBody>
      </p:sp>
      <p:sp>
        <p:nvSpPr>
          <p:cNvPr id="11" name="TextBox 10"/>
          <p:cNvSpPr txBox="1"/>
          <p:nvPr/>
        </p:nvSpPr>
        <p:spPr>
          <a:xfrm>
            <a:off x="1143000" y="1325880"/>
            <a:ext cx="4572000" cy="914400"/>
          </a:xfrm>
          <a:prstGeom prst="rect">
            <a:avLst/>
          </a:prstGeom>
          <a:noFill/>
        </p:spPr>
        <p:txBody>
          <a:bodyPr wrap="square">
            <a:spAutoFit/>
          </a:bodyPr>
          <a:lstStyle/>
          <a:p>
            <a:pPr algn="l">
              <a:defRPr sz="1000" b="0">
                <a:solidFill>
                  <a:srgbClr val="1A1A2E"/>
                </a:solidFill>
                <a:latin typeface="Meiryo"/>
              </a:defRPr>
            </a:pPr>
            <a:r>
              <a:t>Big Tech 5社の6500億ドル投資が市場を牽引し、OpenAI-Anthropic間の200億ドル超資金調達競争、OpenAI-NVIDIA間の10ギガワットパートナーシップなど、史上最大規模の資本投入が継続。技術面ではGPT-5.2の40万トークン、Grok 4.1のEloランキング1位など、性能向上が加速。一方でGPU供給不足と電力制約という「2026年問題」が顕在化し、インフラ確保が...</a:t>
            </a:r>
          </a:p>
        </p:txBody>
      </p:sp>
      <p:sp>
        <p:nvSpPr>
          <p:cNvPr id="12" name="Rectangle 11"/>
          <p:cNvSpPr/>
          <p:nvPr/>
        </p:nvSpPr>
        <p:spPr>
          <a:xfrm>
            <a:off x="548640" y="2468880"/>
            <a:ext cx="5303520" cy="13716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468880"/>
            <a:ext cx="54864" cy="137160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2578608"/>
            <a:ext cx="411480" cy="41148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578608"/>
            <a:ext cx="411480" cy="411480"/>
          </a:xfrm>
          <a:prstGeom prst="rect">
            <a:avLst/>
          </a:prstGeom>
          <a:noFill/>
        </p:spPr>
        <p:txBody>
          <a:bodyPr wrap="square" anchor="ctr">
            <a:spAutoFit/>
          </a:bodyPr>
          <a:lstStyle/>
          <a:p>
            <a:pPr algn="ctr">
              <a:defRPr sz="1400" b="1">
                <a:solidFill>
                  <a:srgbClr val="FFFFFF"/>
                </a:solidFill>
                <a:latin typeface="Meiryo"/>
              </a:defRPr>
            </a:pPr>
            <a:r>
              <a:t>◎</a:t>
            </a:r>
          </a:p>
        </p:txBody>
      </p:sp>
      <p:sp>
        <p:nvSpPr>
          <p:cNvPr id="16" name="TextBox 15"/>
          <p:cNvSpPr txBox="1"/>
          <p:nvPr/>
        </p:nvSpPr>
        <p:spPr>
          <a:xfrm>
            <a:off x="1143000" y="2560320"/>
            <a:ext cx="4572000" cy="274320"/>
          </a:xfrm>
          <a:prstGeom prst="rect">
            <a:avLst/>
          </a:prstGeom>
          <a:noFill/>
        </p:spPr>
        <p:txBody>
          <a:bodyPr wrap="square">
            <a:spAutoFit/>
          </a:bodyPr>
          <a:lstStyle/>
          <a:p>
            <a:pPr algn="l">
              <a:defRPr sz="1400" b="1">
                <a:solidFill>
                  <a:srgbClr val="FF961C"/>
                </a:solidFill>
                <a:latin typeface="Meiryo"/>
              </a:defRPr>
            </a:pPr>
            <a:r>
              <a:t>欧州</a:t>
            </a:r>
          </a:p>
        </p:txBody>
      </p:sp>
      <p:sp>
        <p:nvSpPr>
          <p:cNvPr id="17" name="TextBox 16"/>
          <p:cNvSpPr txBox="1"/>
          <p:nvPr/>
        </p:nvSpPr>
        <p:spPr>
          <a:xfrm>
            <a:off x="1143000" y="2834640"/>
            <a:ext cx="4572000" cy="914400"/>
          </a:xfrm>
          <a:prstGeom prst="rect">
            <a:avLst/>
          </a:prstGeom>
          <a:noFill/>
        </p:spPr>
        <p:txBody>
          <a:bodyPr wrap="square">
            <a:spAutoFit/>
          </a:bodyPr>
          <a:lstStyle/>
          <a:p>
            <a:pPr algn="l">
              <a:defRPr sz="1000" b="0">
                <a:solidFill>
                  <a:srgbClr val="1A1A2E"/>
                </a:solidFill>
                <a:latin typeface="Meiryo"/>
              </a:defRPr>
            </a:pPr>
            <a:r>
              <a:t>EU AI法施行後の厳格な規制環境により、米国・中国企業の欧州展開が制約される一方、域内企業の保護育成が進行。AI安全性・プライバシー保護を重視する姿勢は変わらず、グローバルスタンダード形成に影響力を維持。データ主権と倫理的AI開発を軸に、米中とは異なる第三の道を模索している。</a:t>
            </a:r>
          </a:p>
        </p:txBody>
      </p:sp>
      <p:sp>
        <p:nvSpPr>
          <p:cNvPr id="18" name="Rectangle 17"/>
          <p:cNvSpPr/>
          <p:nvPr/>
        </p:nvSpPr>
        <p:spPr>
          <a:xfrm>
            <a:off x="548640" y="3977640"/>
            <a:ext cx="5303520" cy="13716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977640"/>
            <a:ext cx="54864" cy="137160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4087368"/>
            <a:ext cx="411480" cy="41148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4087368"/>
            <a:ext cx="411480" cy="411480"/>
          </a:xfrm>
          <a:prstGeom prst="rect">
            <a:avLst/>
          </a:prstGeom>
          <a:noFill/>
        </p:spPr>
        <p:txBody>
          <a:bodyPr wrap="square" anchor="ctr">
            <a:spAutoFit/>
          </a:bodyPr>
          <a:lstStyle/>
          <a:p>
            <a:pPr algn="ctr">
              <a:defRPr sz="1400" b="1">
                <a:solidFill>
                  <a:srgbClr val="FFFFFF"/>
                </a:solidFill>
                <a:latin typeface="Meiryo"/>
              </a:defRPr>
            </a:pPr>
            <a:r>
              <a:t>►</a:t>
            </a:r>
          </a:p>
        </p:txBody>
      </p:sp>
      <p:sp>
        <p:nvSpPr>
          <p:cNvPr id="22" name="TextBox 21"/>
          <p:cNvSpPr txBox="1"/>
          <p:nvPr/>
        </p:nvSpPr>
        <p:spPr>
          <a:xfrm>
            <a:off x="1143000" y="4069080"/>
            <a:ext cx="4572000" cy="274320"/>
          </a:xfrm>
          <a:prstGeom prst="rect">
            <a:avLst/>
          </a:prstGeom>
          <a:noFill/>
        </p:spPr>
        <p:txBody>
          <a:bodyPr wrap="square">
            <a:spAutoFit/>
          </a:bodyPr>
          <a:lstStyle/>
          <a:p>
            <a:pPr algn="l">
              <a:defRPr sz="1400" b="1">
                <a:solidFill>
                  <a:srgbClr val="5BA4D9"/>
                </a:solidFill>
                <a:latin typeface="Meiryo"/>
              </a:defRPr>
            </a:pPr>
            <a:r>
              <a:t>中国・アジア</a:t>
            </a:r>
          </a:p>
        </p:txBody>
      </p:sp>
      <p:sp>
        <p:nvSpPr>
          <p:cNvPr id="23" name="TextBox 22"/>
          <p:cNvSpPr txBox="1"/>
          <p:nvPr/>
        </p:nvSpPr>
        <p:spPr>
          <a:xfrm>
            <a:off x="1143000" y="4343400"/>
            <a:ext cx="4572000" cy="914400"/>
          </a:xfrm>
          <a:prstGeom prst="rect">
            <a:avLst/>
          </a:prstGeom>
          <a:noFill/>
        </p:spPr>
        <p:txBody>
          <a:bodyPr wrap="square">
            <a:spAutoFit/>
          </a:bodyPr>
          <a:lstStyle/>
          <a:p>
            <a:pPr algn="l">
              <a:defRPr sz="1000" b="0">
                <a:solidFill>
                  <a:srgbClr val="1A1A2E"/>
                </a:solidFill>
                <a:latin typeface="Meiryo"/>
              </a:defRPr>
            </a:pPr>
            <a:r>
              <a:t>Alibaba Qwen2.5-Maxの1兆パラメータ・119言語対応に象徴されるように、中国は国家主導で独自技術基盤を確立。米国の技術制裁に対抗し、GPU国産化と独自エコシステム構築を加速。東南アジア・中東・アフリカ市場では多言語対応により米国企業を上回る浸透力を示す。インド・日本などは米中両陣営との協力関係を模索し、独自ポジションを確立しようとしている。</a:t>
            </a:r>
          </a:p>
        </p:txBody>
      </p:sp>
      <p:sp>
        <p:nvSpPr>
          <p:cNvPr id="24" name="TextBox 23"/>
          <p:cNvSpPr txBox="1"/>
          <p:nvPr/>
        </p:nvSpPr>
        <p:spPr>
          <a:xfrm>
            <a:off x="6156655" y="960120"/>
            <a:ext cx="5486400" cy="320040"/>
          </a:xfrm>
          <a:prstGeom prst="rect">
            <a:avLst/>
          </a:prstGeom>
          <a:noFill/>
        </p:spPr>
        <p:txBody>
          <a:bodyPr wrap="square">
            <a:spAutoFit/>
          </a:bodyPr>
          <a:lstStyle/>
          <a:p>
            <a:pPr algn="l">
              <a:defRPr sz="1400" b="1">
                <a:solidFill>
                  <a:srgbClr val="005BAB"/>
                </a:solidFill>
                <a:latin typeface="Meiryo"/>
              </a:defRPr>
            </a:pPr>
            <a:r>
              <a:t>KEY IMPACT POINTS</a:t>
            </a:r>
          </a:p>
        </p:txBody>
      </p:sp>
      <p:sp>
        <p:nvSpPr>
          <p:cNvPr id="25" name="Rectangle 24"/>
          <p:cNvSpPr/>
          <p:nvPr/>
        </p:nvSpPr>
        <p:spPr>
          <a:xfrm>
            <a:off x="6156655" y="1261872"/>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6655" y="14173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56655" y="14173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266383" y="16002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6383" y="1600200"/>
            <a:ext cx="365760" cy="365760"/>
          </a:xfrm>
          <a:prstGeom prst="rect">
            <a:avLst/>
          </a:prstGeom>
          <a:noFill/>
        </p:spPr>
        <p:txBody>
          <a:bodyPr wrap="square" anchor="ctr">
            <a:spAutoFit/>
          </a:bodyPr>
          <a:lstStyle/>
          <a:p>
            <a:pPr algn="ctr">
              <a:defRPr sz="1300" b="1">
                <a:solidFill>
                  <a:srgbClr val="FFFFFF"/>
                </a:solidFill>
                <a:latin typeface="Meiryo"/>
              </a:defRPr>
            </a:pPr>
            <a:r>
              <a:t>1</a:t>
            </a:r>
          </a:p>
        </p:txBody>
      </p:sp>
      <p:sp>
        <p:nvSpPr>
          <p:cNvPr id="30" name="TextBox 29"/>
          <p:cNvSpPr txBox="1"/>
          <p:nvPr/>
        </p:nvSpPr>
        <p:spPr>
          <a:xfrm>
            <a:off x="6705295" y="1490472"/>
            <a:ext cx="4800600" cy="685800"/>
          </a:xfrm>
          <a:prstGeom prst="rect">
            <a:avLst/>
          </a:prstGeom>
          <a:noFill/>
        </p:spPr>
        <p:txBody>
          <a:bodyPr wrap="square">
            <a:spAutoFit/>
          </a:bodyPr>
          <a:lstStyle/>
          <a:p>
            <a:pPr algn="l">
              <a:defRPr sz="1000" b="0">
                <a:solidFill>
                  <a:srgbClr val="1A1A2E"/>
                </a:solidFill>
                <a:latin typeface="Meiryo"/>
              </a:defRPr>
            </a:pPr>
            <a:r>
              <a:t>グローバルAI市場が三極構造（米国主導技術革新、欧州規制主導、中国独自生態系）に分化し、統一市場から分断市場へ移行</a:t>
            </a:r>
          </a:p>
        </p:txBody>
      </p:sp>
      <p:sp>
        <p:nvSpPr>
          <p:cNvPr id="31" name="Rectangle 30"/>
          <p:cNvSpPr/>
          <p:nvPr/>
        </p:nvSpPr>
        <p:spPr>
          <a:xfrm>
            <a:off x="6156655" y="23317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56655" y="233172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266383" y="251460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66383" y="2514600"/>
            <a:ext cx="365760" cy="365760"/>
          </a:xfrm>
          <a:prstGeom prst="rect">
            <a:avLst/>
          </a:prstGeom>
          <a:noFill/>
        </p:spPr>
        <p:txBody>
          <a:bodyPr wrap="square" anchor="ctr">
            <a:spAutoFit/>
          </a:bodyPr>
          <a:lstStyle/>
          <a:p>
            <a:pPr algn="ctr">
              <a:defRPr sz="1300" b="1">
                <a:solidFill>
                  <a:srgbClr val="FFFFFF"/>
                </a:solidFill>
                <a:latin typeface="Meiryo"/>
              </a:defRPr>
            </a:pPr>
            <a:r>
              <a:t>2</a:t>
            </a:r>
          </a:p>
        </p:txBody>
      </p:sp>
      <p:sp>
        <p:nvSpPr>
          <p:cNvPr id="35" name="TextBox 34"/>
          <p:cNvSpPr txBox="1"/>
          <p:nvPr/>
        </p:nvSpPr>
        <p:spPr>
          <a:xfrm>
            <a:off x="6705295" y="2404872"/>
            <a:ext cx="4800600" cy="685800"/>
          </a:xfrm>
          <a:prstGeom prst="rect">
            <a:avLst/>
          </a:prstGeom>
          <a:noFill/>
        </p:spPr>
        <p:txBody>
          <a:bodyPr wrap="square">
            <a:spAutoFit/>
          </a:bodyPr>
          <a:lstStyle/>
          <a:p>
            <a:pPr algn="l">
              <a:defRPr sz="1000" b="0">
                <a:solidFill>
                  <a:srgbClr val="1A1A2E"/>
                </a:solidFill>
                <a:latin typeface="Meiryo"/>
              </a:defRPr>
            </a:pPr>
            <a:r>
              <a:t>GPU・電力インフラ制約により地政学的要素が技術競争に直接影響、エネルギー安全保障とAI戦略が融合</a:t>
            </a:r>
          </a:p>
        </p:txBody>
      </p:sp>
      <p:sp>
        <p:nvSpPr>
          <p:cNvPr id="36" name="Rectangle 35"/>
          <p:cNvSpPr/>
          <p:nvPr/>
        </p:nvSpPr>
        <p:spPr>
          <a:xfrm>
            <a:off x="6156655" y="32461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56655" y="324612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266383" y="342900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66383" y="3429000"/>
            <a:ext cx="365760" cy="365760"/>
          </a:xfrm>
          <a:prstGeom prst="rect">
            <a:avLst/>
          </a:prstGeom>
          <a:noFill/>
        </p:spPr>
        <p:txBody>
          <a:bodyPr wrap="square" anchor="ctr">
            <a:spAutoFit/>
          </a:bodyPr>
          <a:lstStyle/>
          <a:p>
            <a:pPr algn="ctr">
              <a:defRPr sz="1300" b="1">
                <a:solidFill>
                  <a:srgbClr val="FFFFFF"/>
                </a:solidFill>
                <a:latin typeface="Meiryo"/>
              </a:defRPr>
            </a:pPr>
            <a:r>
              <a:t>3</a:t>
            </a:r>
          </a:p>
        </p:txBody>
      </p:sp>
      <p:sp>
        <p:nvSpPr>
          <p:cNvPr id="40" name="TextBox 39"/>
          <p:cNvSpPr txBox="1"/>
          <p:nvPr/>
        </p:nvSpPr>
        <p:spPr>
          <a:xfrm>
            <a:off x="6705295" y="3319272"/>
            <a:ext cx="4800600" cy="685800"/>
          </a:xfrm>
          <a:prstGeom prst="rect">
            <a:avLst/>
          </a:prstGeom>
          <a:noFill/>
        </p:spPr>
        <p:txBody>
          <a:bodyPr wrap="square">
            <a:spAutoFit/>
          </a:bodyPr>
          <a:lstStyle/>
          <a:p>
            <a:pPr algn="l">
              <a:defRPr sz="1000" b="0">
                <a:solidFill>
                  <a:srgbClr val="1A1A2E"/>
                </a:solidFill>
                <a:latin typeface="Meiryo"/>
              </a:defRPr>
            </a:pPr>
            <a:r>
              <a:t>AI規制をめぐる国際標準争いが激化、EU AI法vs.米国イノベーション優先vs.中国国家統制モデルの三つ巴</a:t>
            </a:r>
          </a:p>
        </p:txBody>
      </p:sp>
      <p:sp>
        <p:nvSpPr>
          <p:cNvPr id="41" name="Rectangle 40"/>
          <p:cNvSpPr/>
          <p:nvPr/>
        </p:nvSpPr>
        <p:spPr>
          <a:xfrm>
            <a:off x="6156655" y="41605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56655" y="4160520"/>
            <a:ext cx="54864" cy="82296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266383" y="4343400"/>
            <a:ext cx="365760" cy="365760"/>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66383" y="4343400"/>
            <a:ext cx="365760" cy="365760"/>
          </a:xfrm>
          <a:prstGeom prst="rect">
            <a:avLst/>
          </a:prstGeom>
          <a:noFill/>
        </p:spPr>
        <p:txBody>
          <a:bodyPr wrap="square" anchor="ctr">
            <a:spAutoFit/>
          </a:bodyPr>
          <a:lstStyle/>
          <a:p>
            <a:pPr algn="ctr">
              <a:defRPr sz="1300" b="1">
                <a:solidFill>
                  <a:srgbClr val="FFFFFF"/>
                </a:solidFill>
                <a:latin typeface="Meiryo"/>
              </a:defRPr>
            </a:pPr>
            <a:r>
              <a:t>4</a:t>
            </a:r>
          </a:p>
        </p:txBody>
      </p:sp>
      <p:sp>
        <p:nvSpPr>
          <p:cNvPr id="45" name="TextBox 44"/>
          <p:cNvSpPr txBox="1"/>
          <p:nvPr/>
        </p:nvSpPr>
        <p:spPr>
          <a:xfrm>
            <a:off x="6705295" y="4233672"/>
            <a:ext cx="4800600" cy="685800"/>
          </a:xfrm>
          <a:prstGeom prst="rect">
            <a:avLst/>
          </a:prstGeom>
          <a:noFill/>
        </p:spPr>
        <p:txBody>
          <a:bodyPr wrap="square">
            <a:spAutoFit/>
          </a:bodyPr>
          <a:lstStyle/>
          <a:p>
            <a:pPr algn="l">
              <a:defRPr sz="1000" b="0">
                <a:solidFill>
                  <a:srgbClr val="1A1A2E"/>
                </a:solidFill>
                <a:latin typeface="Meiryo"/>
              </a:defRPr>
            </a:pPr>
            <a:r>
              <a:t>多言語AI市場の拡大により新興国市場でのAI普及が加速、デジタル格差是正と新たな経済圏形成</a:t>
            </a:r>
          </a:p>
        </p:txBody>
      </p:sp>
      <p:sp>
        <p:nvSpPr>
          <p:cNvPr id="46" name="Rectangle 45"/>
          <p:cNvSpPr/>
          <p:nvPr/>
        </p:nvSpPr>
        <p:spPr>
          <a:xfrm>
            <a:off x="6156655" y="50749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56655" y="50749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266383" y="52578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66383" y="5257800"/>
            <a:ext cx="365760" cy="365760"/>
          </a:xfrm>
          <a:prstGeom prst="rect">
            <a:avLst/>
          </a:prstGeom>
          <a:noFill/>
        </p:spPr>
        <p:txBody>
          <a:bodyPr wrap="square" anchor="ctr">
            <a:spAutoFit/>
          </a:bodyPr>
          <a:lstStyle/>
          <a:p>
            <a:pPr algn="ctr">
              <a:defRPr sz="1300" b="1">
                <a:solidFill>
                  <a:srgbClr val="FFFFFF"/>
                </a:solidFill>
                <a:latin typeface="Meiryo"/>
              </a:defRPr>
            </a:pPr>
            <a:r>
              <a:t>5</a:t>
            </a:r>
          </a:p>
        </p:txBody>
      </p:sp>
      <p:sp>
        <p:nvSpPr>
          <p:cNvPr id="50" name="TextBox 49"/>
          <p:cNvSpPr txBox="1"/>
          <p:nvPr/>
        </p:nvSpPr>
        <p:spPr>
          <a:xfrm>
            <a:off x="6705295" y="5148072"/>
            <a:ext cx="4800600" cy="685800"/>
          </a:xfrm>
          <a:prstGeom prst="rect">
            <a:avLst/>
          </a:prstGeom>
          <a:noFill/>
        </p:spPr>
        <p:txBody>
          <a:bodyPr wrap="square">
            <a:spAutoFit/>
          </a:bodyPr>
          <a:lstStyle/>
          <a:p>
            <a:pPr algn="l">
              <a:defRPr sz="1000" b="0">
                <a:solidFill>
                  <a:srgbClr val="1A1A2E"/>
                </a:solidFill>
                <a:latin typeface="Meiryo"/>
              </a:defRPr>
            </a:pPr>
            <a:r>
              <a:t>AI安全性問題の国際化により、研究者離職・企業分断が進行、グローバルな協調メカニズム構築が急務に</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日本市場インパクト &amp; アクション</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2026-02-12  |  Page 8</a:t>
            </a:r>
          </a:p>
        </p:txBody>
      </p:sp>
      <p:sp>
        <p:nvSpPr>
          <p:cNvPr id="6" name="TextBox 5"/>
          <p:cNvSpPr txBox="1"/>
          <p:nvPr/>
        </p:nvSpPr>
        <p:spPr>
          <a:xfrm>
            <a:off x="548640" y="960120"/>
            <a:ext cx="5303520" cy="320040"/>
          </a:xfrm>
          <a:prstGeom prst="rect">
            <a:avLst/>
          </a:prstGeom>
          <a:noFill/>
        </p:spPr>
        <p:txBody>
          <a:bodyPr wrap="square">
            <a:spAutoFit/>
          </a:bodyPr>
          <a:lstStyle/>
          <a:p>
            <a:pPr algn="l">
              <a:defRPr sz="1500" b="1">
                <a:solidFill>
                  <a:srgbClr val="005BAB"/>
                </a:solidFill>
                <a:latin typeface="Meiryo"/>
              </a:defRPr>
            </a:pPr>
            <a:r>
              <a:t>日本市場への影響</a:t>
            </a:r>
          </a:p>
        </p:txBody>
      </p:sp>
      <p:sp>
        <p:nvSpPr>
          <p:cNvPr id="7" name="Rectangle 6"/>
          <p:cNvSpPr/>
          <p:nvPr/>
        </p:nvSpPr>
        <p:spPr>
          <a:xfrm>
            <a:off x="548640" y="1261872"/>
            <a:ext cx="13716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1732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6184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61848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12" name="TextBox 11"/>
          <p:cNvSpPr txBox="1"/>
          <p:nvPr/>
        </p:nvSpPr>
        <p:spPr>
          <a:xfrm>
            <a:off x="1143000" y="1490472"/>
            <a:ext cx="4572000" cy="731520"/>
          </a:xfrm>
          <a:prstGeom prst="rect">
            <a:avLst/>
          </a:prstGeom>
          <a:noFill/>
        </p:spPr>
        <p:txBody>
          <a:bodyPr wrap="square">
            <a:spAutoFit/>
          </a:bodyPr>
          <a:lstStyle/>
          <a:p>
            <a:pPr algn="l">
              <a:defRPr sz="1100" b="0">
                <a:solidFill>
                  <a:srgbClr val="1A1A2E"/>
                </a:solidFill>
                <a:latin typeface="Meiryo"/>
              </a:defRPr>
            </a:pPr>
            <a:r>
              <a:t>製造業・物流でのロボティクスAI導入加速により生産性向上、一方で雇用構造の急速な変化と社会保障制度再設計が必要に</a:t>
            </a:r>
          </a:p>
        </p:txBody>
      </p:sp>
      <p:sp>
        <p:nvSpPr>
          <p:cNvPr id="13" name="Rectangle 12"/>
          <p:cNvSpPr/>
          <p:nvPr/>
        </p:nvSpPr>
        <p:spPr>
          <a:xfrm>
            <a:off x="548640" y="237744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77440"/>
            <a:ext cx="54864" cy="86868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57860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57860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17" name="TextBox 16"/>
          <p:cNvSpPr txBox="1"/>
          <p:nvPr/>
        </p:nvSpPr>
        <p:spPr>
          <a:xfrm>
            <a:off x="1143000" y="2450592"/>
            <a:ext cx="4572000" cy="731520"/>
          </a:xfrm>
          <a:prstGeom prst="rect">
            <a:avLst/>
          </a:prstGeom>
          <a:noFill/>
        </p:spPr>
        <p:txBody>
          <a:bodyPr wrap="square">
            <a:spAutoFit/>
          </a:bodyPr>
          <a:lstStyle/>
          <a:p>
            <a:pPr algn="l">
              <a:defRPr sz="1100" b="0">
                <a:solidFill>
                  <a:srgbClr val="1A1A2E"/>
                </a:solidFill>
                <a:latin typeface="Meiryo"/>
              </a:defRPr>
            </a:pPr>
            <a:r>
              <a:t>AI人材不足が深刻化、大学・企業でのリスキリング投資急増、海外人材獲得競争も激化</a:t>
            </a:r>
          </a:p>
        </p:txBody>
      </p:sp>
      <p:sp>
        <p:nvSpPr>
          <p:cNvPr id="18" name="Rectangle 17"/>
          <p:cNvSpPr/>
          <p:nvPr/>
        </p:nvSpPr>
        <p:spPr>
          <a:xfrm>
            <a:off x="548640" y="333756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33756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35387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53872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22" name="TextBox 21"/>
          <p:cNvSpPr txBox="1"/>
          <p:nvPr/>
        </p:nvSpPr>
        <p:spPr>
          <a:xfrm>
            <a:off x="1143000" y="3410712"/>
            <a:ext cx="4572000" cy="731520"/>
          </a:xfrm>
          <a:prstGeom prst="rect">
            <a:avLst/>
          </a:prstGeom>
          <a:noFill/>
        </p:spPr>
        <p:txBody>
          <a:bodyPr wrap="square">
            <a:spAutoFit/>
          </a:bodyPr>
          <a:lstStyle/>
          <a:p>
            <a:pPr algn="l">
              <a:defRPr sz="1100" b="0">
                <a:solidFill>
                  <a:srgbClr val="1A1A2E"/>
                </a:solidFill>
                <a:latin typeface="Meiryo"/>
              </a:defRPr>
            </a:pPr>
            <a:r>
              <a:t>米国技術への依存深化とデータ主権・安全保障リスク、国産LLM開発と規制整備の重要性が増大</a:t>
            </a:r>
          </a:p>
        </p:txBody>
      </p:sp>
      <p:sp>
        <p:nvSpPr>
          <p:cNvPr id="23" name="Rounded Rectangle 22"/>
          <p:cNvSpPr/>
          <p:nvPr/>
        </p:nvSpPr>
        <p:spPr>
          <a:xfrm>
            <a:off x="6156655" y="960120"/>
            <a:ext cx="5486400" cy="548640"/>
          </a:xfrm>
          <a:prstGeom prst="round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39535" y="1051560"/>
            <a:ext cx="5120640" cy="365760"/>
          </a:xfrm>
          <a:prstGeom prst="rect">
            <a:avLst/>
          </a:prstGeom>
          <a:noFill/>
        </p:spPr>
        <p:txBody>
          <a:bodyPr wrap="square">
            <a:spAutoFit/>
          </a:bodyPr>
          <a:lstStyle/>
          <a:p>
            <a:pPr algn="l">
              <a:defRPr sz="1600" b="1">
                <a:solidFill>
                  <a:srgbClr val="FFFFFF"/>
                </a:solidFill>
                <a:latin typeface="Meiryo"/>
              </a:defRPr>
            </a:pPr>
            <a:r>
              <a:t>■  ACTION ITEMS</a:t>
            </a:r>
          </a:p>
        </p:txBody>
      </p:sp>
      <p:sp>
        <p:nvSpPr>
          <p:cNvPr id="25" name="Rounded Rectangle 24"/>
          <p:cNvSpPr/>
          <p:nvPr/>
        </p:nvSpPr>
        <p:spPr>
          <a:xfrm>
            <a:off x="6156655" y="1645920"/>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93815" y="1874520"/>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93815" y="1874520"/>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28" name="TextBox 27"/>
          <p:cNvSpPr txBox="1"/>
          <p:nvPr/>
        </p:nvSpPr>
        <p:spPr>
          <a:xfrm>
            <a:off x="6705295" y="1737360"/>
            <a:ext cx="4800600" cy="731520"/>
          </a:xfrm>
          <a:prstGeom prst="rect">
            <a:avLst/>
          </a:prstGeom>
          <a:noFill/>
        </p:spPr>
        <p:txBody>
          <a:bodyPr wrap="square">
            <a:spAutoFit/>
          </a:bodyPr>
          <a:lstStyle/>
          <a:p>
            <a:pPr algn="l">
              <a:defRPr sz="1100" b="0">
                <a:solidFill>
                  <a:srgbClr val="1A1A2E"/>
                </a:solidFill>
                <a:latin typeface="Meiryo"/>
              </a:defRPr>
            </a:pPr>
            <a:r>
              <a:t>AI人材育成の抜本的強化：大学カリキュラム改革、企業内リスキリングプログラム拡充、海外人材獲得制度整備を3年以内に実施</a:t>
            </a:r>
          </a:p>
        </p:txBody>
      </p:sp>
      <p:sp>
        <p:nvSpPr>
          <p:cNvPr id="29" name="Rounded Rectangle 28"/>
          <p:cNvSpPr/>
          <p:nvPr/>
        </p:nvSpPr>
        <p:spPr>
          <a:xfrm>
            <a:off x="6156655" y="2670048"/>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93815" y="2898648"/>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93815" y="2898648"/>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32" name="TextBox 31"/>
          <p:cNvSpPr txBox="1"/>
          <p:nvPr/>
        </p:nvSpPr>
        <p:spPr>
          <a:xfrm>
            <a:off x="6705295" y="2761488"/>
            <a:ext cx="4800600" cy="731520"/>
          </a:xfrm>
          <a:prstGeom prst="rect">
            <a:avLst/>
          </a:prstGeom>
          <a:noFill/>
        </p:spPr>
        <p:txBody>
          <a:bodyPr wrap="square">
            <a:spAutoFit/>
          </a:bodyPr>
          <a:lstStyle/>
          <a:p>
            <a:pPr algn="l">
              <a:defRPr sz="1100" b="0">
                <a:solidFill>
                  <a:srgbClr val="1A1A2E"/>
                </a:solidFill>
                <a:latin typeface="Meiryo"/>
              </a:defRPr>
            </a:pPr>
            <a:r>
              <a:t>製造業・ロボティクスAIへの戦略投資：トヨタ・ソニー等の強みを活かした物理AIプラットフォーム開発、国際標準化主導権確保を推進</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AI業界標準規格 / プロトコル一覧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2026-02-12  |  Page 9</a:t>
            </a:r>
          </a:p>
        </p:txBody>
      </p:sp>
      <p:graphicFrame>
        <p:nvGraphicFramePr>
          <p:cNvPr id="6" name="Table 5"/>
          <p:cNvGraphicFramePr>
            <a:graphicFrameLocks noGrp="1"/>
          </p:cNvGraphicFramePr>
          <p:nvPr/>
        </p:nvGraphicFramePr>
        <p:xfrm>
          <a:off x="548640" y="960120"/>
          <a:ext cx="11094415" cy="4754880"/>
        </p:xfrm>
        <a:graphic>
          <a:graphicData uri="http://schemas.openxmlformats.org/drawingml/2006/table">
            <a:tbl>
              <a:tblPr firstRow="1" bandRow="1">
                <a:tableStyleId>{5C22544A-7EE6-4342-B048-85BDC9FD1C3A}</a:tableStyleId>
              </a:tblPr>
              <a:tblGrid>
                <a:gridCol w="1463040"/>
                <a:gridCol w="1645920"/>
                <a:gridCol w="1371600"/>
                <a:gridCol w="914400"/>
                <a:gridCol w="5699455"/>
              </a:tblGrid>
              <a:tr h="594360">
                <a:tc>
                  <a:txBody>
                    <a:bodyPr/>
                    <a:lstStyle/>
                    <a:p>
                      <a:pPr algn="ctr">
                        <a:defRPr sz="1100" b="1">
                          <a:solidFill>
                            <a:srgbClr val="FFFFFF"/>
                          </a:solidFill>
                          <a:latin typeface="Meiryo"/>
                        </a:defRPr>
                      </a:pPr>
                      <a:r>
                        <a:t>規格名</a:t>
                      </a:r>
                    </a:p>
                  </a:txBody>
                  <a:tcPr>
                    <a:solidFill>
                      <a:srgbClr val="005BAB"/>
                    </a:solidFill>
                  </a:tcPr>
                </a:tc>
                <a:tc>
                  <a:txBody>
                    <a:bodyPr/>
                    <a:lstStyle/>
                    <a:p>
                      <a:pPr algn="ctr">
                        <a:defRPr sz="1100" b="1">
                          <a:solidFill>
                            <a:srgbClr val="FFFFFF"/>
                          </a:solidFill>
                          <a:latin typeface="Meiryo"/>
                        </a:defRPr>
                      </a:pPr>
                      <a:r>
                        <a:t>発表元</a:t>
                      </a:r>
                    </a:p>
                  </a:txBody>
                  <a:tcPr>
                    <a:solidFill>
                      <a:srgbClr val="005BAB"/>
                    </a:solidFill>
                  </a:tcPr>
                </a:tc>
                <a:tc>
                  <a:txBody>
                    <a:bodyPr/>
                    <a:lstStyle/>
                    <a:p>
                      <a:pPr algn="ctr">
                        <a:defRPr sz="1100" b="1">
                          <a:solidFill>
                            <a:srgbClr val="FFFFFF"/>
                          </a:solidFill>
                          <a:latin typeface="Meiryo"/>
                        </a:defRPr>
                      </a:pPr>
                      <a:r>
                        <a:t>レイヤー</a:t>
                      </a:r>
                    </a:p>
                  </a:txBody>
                  <a:tcPr>
                    <a:solidFill>
                      <a:srgbClr val="005BAB"/>
                    </a:solidFill>
                  </a:tcPr>
                </a:tc>
                <a:tc>
                  <a:txBody>
                    <a:bodyPr/>
                    <a:lstStyle/>
                    <a:p>
                      <a:pPr algn="ctr">
                        <a:defRPr sz="1100" b="1">
                          <a:solidFill>
                            <a:srgbClr val="FFFFFF"/>
                          </a:solidFill>
                          <a:latin typeface="Meiryo"/>
                        </a:defRPr>
                      </a:pPr>
                      <a:r>
                        <a:t>発表日</a:t>
                      </a:r>
                    </a:p>
                  </a:txBody>
                  <a:tcPr>
                    <a:solidFill>
                      <a:srgbClr val="005BAB"/>
                    </a:solidFill>
                  </a:tcPr>
                </a:tc>
                <a:tc>
                  <a:txBody>
                    <a:bodyPr/>
                    <a:lstStyle/>
                    <a:p>
                      <a:pPr algn="ctr">
                        <a:defRPr sz="1100" b="1">
                          <a:solidFill>
                            <a:srgbClr val="FFFFFF"/>
                          </a:solidFill>
                          <a:latin typeface="Meiryo"/>
                        </a:defRPr>
                      </a:pPr>
                      <a:r>
                        <a:t>概要</a:t>
                      </a:r>
                    </a:p>
                  </a:txBody>
                  <a:tcPr>
                    <a:solidFill>
                      <a:srgbClr val="005BAB"/>
                    </a:solidFill>
                  </a:tcPr>
                </a:tc>
              </a:tr>
              <a:tr h="594360">
                <a:tc>
                  <a:txBody>
                    <a:bodyPr/>
                    <a:lstStyle/>
                    <a:p>
                      <a:pPr>
                        <a:defRPr sz="1000" b="1">
                          <a:solidFill>
                            <a:srgbClr val="005BAB"/>
                          </a:solidFill>
                          <a:latin typeface="Meiryo"/>
                        </a:defRPr>
                      </a:pPr>
                      <a:r>
                        <a:t>UCP</a:t>
                      </a:r>
                    </a:p>
                  </a:txBody>
                  <a:tcPr>
                    <a:solidFill>
                      <a:srgbClr val="FFFFFF"/>
                    </a:solidFill>
                  </a:tcPr>
                </a:tc>
                <a:tc>
                  <a:txBody>
                    <a:bodyPr/>
                    <a:lstStyle/>
                    <a:p>
                      <a:pPr>
                        <a:defRPr sz="1000">
                          <a:solidFill>
                            <a:srgbClr val="1A1A2E"/>
                          </a:solidFill>
                          <a:latin typeface="Meiryo"/>
                        </a:defRPr>
                      </a:pPr>
                      <a:r>
                        <a:t>Google</a:t>
                      </a:r>
                    </a:p>
                  </a:txBody>
                  <a:tcPr>
                    <a:solidFill>
                      <a:srgbClr val="FFFFFF"/>
                    </a:solidFill>
                  </a:tcPr>
                </a:tc>
                <a:tc>
                  <a:txBody>
                    <a:bodyPr/>
                    <a:lstStyle/>
                    <a:p>
                      <a:pPr algn="ctr">
                        <a:defRPr sz="1000" b="1">
                          <a:solidFill>
                            <a:srgbClr val="5BA4D9"/>
                          </a:solidFill>
                          <a:latin typeface="Meiryo"/>
                        </a:defRPr>
                      </a:pPr>
                      <a:r>
                        <a:t>Commerce</a:t>
                      </a:r>
                    </a:p>
                  </a:txBody>
                  <a:tcPr>
                    <a:solidFill>
                      <a:srgbClr val="FFFFFF"/>
                    </a:solidFill>
                  </a:tcPr>
                </a:tc>
                <a:tc>
                  <a:txBody>
                    <a:bodyPr/>
                    <a:lstStyle/>
                    <a:p>
                      <a:pPr algn="ctr">
                        <a:defRPr sz="1000">
                          <a:solidFill>
                            <a:srgbClr val="6C757D"/>
                          </a:solidFill>
                          <a:latin typeface="Meiryo"/>
                        </a:defRPr>
                      </a:pPr>
                      <a:r>
                        <a:t>2026-01</a:t>
                      </a:r>
                    </a:p>
                  </a:txBody>
                  <a:tcPr>
                    <a:solidFill>
                      <a:srgbClr val="FFFFFF"/>
                    </a:solidFill>
                  </a:tcPr>
                </a:tc>
                <a:tc>
                  <a:txBody>
                    <a:bodyPr/>
                    <a:lstStyle/>
                    <a:p>
                      <a:pPr>
                        <a:defRPr sz="1000">
                          <a:solidFill>
                            <a:srgbClr val="1A1A2E"/>
                          </a:solidFill>
                          <a:latin typeface="Meiryo"/>
                        </a:defRPr>
                      </a:pPr>
                      <a:r>
                        <a:t>AIエージェント経由の商取引を標準化。A2A・MCP・AP2を統合オーケストレーションする上位プロトコル。Shopify・Walmart等が支持。</a:t>
                      </a:r>
                    </a:p>
                  </a:txBody>
                  <a:tcPr>
                    <a:solidFill>
                      <a:srgbClr val="FFFFFF"/>
                    </a:solidFill>
                  </a:tcPr>
                </a:tc>
              </a:tr>
              <a:tr h="594360">
                <a:tc>
                  <a:txBody>
                    <a:bodyPr/>
                    <a:lstStyle/>
                    <a:p>
                      <a:pPr>
                        <a:defRPr sz="1000" b="1">
                          <a:solidFill>
                            <a:srgbClr val="005BAB"/>
                          </a:solidFill>
                          <a:latin typeface="Meiryo"/>
                        </a:defRPr>
                      </a:pPr>
                      <a:r>
                        <a:t>Agent Skills</a:t>
                      </a:r>
                    </a:p>
                  </a:txBody>
                  <a:tcPr>
                    <a:solidFill>
                      <a:srgbClr val="E8F1F8"/>
                    </a:solidFill>
                  </a:tcPr>
                </a:tc>
                <a:tc>
                  <a:txBody>
                    <a:bodyPr/>
                    <a:lstStyle/>
                    <a:p>
                      <a:pPr>
                        <a:defRPr sz="1000">
                          <a:solidFill>
                            <a:srgbClr val="1A1A2E"/>
                          </a:solidFill>
                          <a:latin typeface="Meiryo"/>
                        </a:defRPr>
                      </a:pPr>
                      <a:r>
                        <a:t>Anthropic</a:t>
                      </a:r>
                    </a:p>
                  </a:txBody>
                  <a:tcPr>
                    <a:solidFill>
                      <a:srgbClr val="E8F1F8"/>
                    </a:solidFill>
                  </a:tcPr>
                </a:tc>
                <a:tc>
                  <a:txBody>
                    <a:bodyPr/>
                    <a:lstStyle/>
                    <a:p>
                      <a:pPr algn="ctr">
                        <a:defRPr sz="1000" b="1">
                          <a:solidFill>
                            <a:srgbClr val="5BA4D9"/>
                          </a:solidFill>
                          <a:latin typeface="Meiryo"/>
                        </a:defRPr>
                      </a:pPr>
                      <a:r>
                        <a:t>Agent Capability</a:t>
                      </a:r>
                    </a:p>
                  </a:txBody>
                  <a:tcPr>
                    <a:solidFill>
                      <a:srgbClr val="E8F1F8"/>
                    </a:solidFill>
                  </a:tcPr>
                </a:tc>
                <a:tc>
                  <a:txBody>
                    <a:bodyPr/>
                    <a:lstStyle/>
                    <a:p>
                      <a:pPr algn="ctr">
                        <a:defRPr sz="1000">
                          <a:solidFill>
                            <a:srgbClr val="6C757D"/>
                          </a:solidFill>
                          <a:latin typeface="Meiryo"/>
                        </a:defRPr>
                      </a:pPr>
                      <a:r>
                        <a:t>2025-12</a:t>
                      </a:r>
                    </a:p>
                  </a:txBody>
                  <a:tcPr>
                    <a:solidFill>
                      <a:srgbClr val="E8F1F8"/>
                    </a:solidFill>
                  </a:tcPr>
                </a:tc>
                <a:tc>
                  <a:txBody>
                    <a:bodyPr/>
                    <a:lstStyle/>
                    <a:p>
                      <a:pPr>
                        <a:defRPr sz="1000">
                          <a:solidFill>
                            <a:srgbClr val="1A1A2E"/>
                          </a:solidFill>
                          <a:latin typeface="Meiryo"/>
                        </a:defRPr>
                      </a:pPr>
                      <a:r>
                        <a:t>AIエージェントに再現可能なワークフローを教えるオープン標準。SKILL.mdベースのプログレッシブ・ディスクロージャー方式。Microsoft・OpenAI等が採用。</a:t>
                      </a:r>
                    </a:p>
                  </a:txBody>
                  <a:tcPr>
                    <a:solidFill>
                      <a:srgbClr val="E8F1F8"/>
                    </a:solidFill>
                  </a:tcPr>
                </a:tc>
              </a:tr>
              <a:tr h="594360">
                <a:tc>
                  <a:txBody>
                    <a:bodyPr/>
                    <a:lstStyle/>
                    <a:p>
                      <a:pPr>
                        <a:defRPr sz="1000" b="1">
                          <a:solidFill>
                            <a:srgbClr val="005BAB"/>
                          </a:solidFill>
                          <a:latin typeface="Meiryo"/>
                        </a:defRPr>
                      </a:pPr>
                      <a:r>
                        <a:t>ANP</a:t>
                      </a:r>
                    </a:p>
                  </a:txBody>
                  <a:tcPr>
                    <a:solidFill>
                      <a:srgbClr val="FFFFFF"/>
                    </a:solidFill>
                  </a:tcPr>
                </a:tc>
                <a:tc>
                  <a:txBody>
                    <a:bodyPr/>
                    <a:lstStyle/>
                    <a:p>
                      <a:pPr>
                        <a:defRPr sz="1000">
                          <a:solidFill>
                            <a:srgbClr val="1A1A2E"/>
                          </a:solidFill>
                          <a:latin typeface="Meiryo"/>
                        </a:defRPr>
                      </a:pPr>
                      <a:r>
                        <a:t>ANP Community (中国移動/Huawei等)</a:t>
                      </a:r>
                    </a:p>
                  </a:txBody>
                  <a:tcPr>
                    <a:solidFill>
                      <a:srgbClr val="FFFFFF"/>
                    </a:solidFill>
                  </a:tcPr>
                </a:tc>
                <a:tc>
                  <a:txBody>
                    <a:bodyPr/>
                    <a:lstStyle/>
                    <a:p>
                      <a:pPr algn="ctr">
                        <a:defRPr sz="1000" b="1">
                          <a:solidFill>
                            <a:srgbClr val="5BA4D9"/>
                          </a:solidFill>
                          <a:latin typeface="Meiryo"/>
                        </a:defRPr>
                      </a:pPr>
                      <a:r>
                        <a:t>Network Discovery</a:t>
                      </a:r>
                    </a:p>
                  </a:txBody>
                  <a:tcPr>
                    <a:solidFill>
                      <a:srgbClr val="FFFFFF"/>
                    </a:solidFill>
                  </a:tcPr>
                </a:tc>
                <a:tc>
                  <a:txBody>
                    <a:bodyPr/>
                    <a:lstStyle/>
                    <a:p>
                      <a:pPr algn="ctr">
                        <a:defRPr sz="1000">
                          <a:solidFill>
                            <a:srgbClr val="6C757D"/>
                          </a:solidFill>
                          <a:latin typeface="Meiryo"/>
                        </a:defRPr>
                      </a:pPr>
                      <a:r>
                        <a:t>2025-10</a:t>
                      </a:r>
                    </a:p>
                  </a:txBody>
                  <a:tcPr>
                    <a:solidFill>
                      <a:srgbClr val="FFFFFF"/>
                    </a:solidFill>
                  </a:tcPr>
                </a:tc>
                <a:tc>
                  <a:txBody>
                    <a:bodyPr/>
                    <a:lstStyle/>
                    <a:p>
                      <a:pPr>
                        <a:defRPr sz="1000">
                          <a:solidFill>
                            <a:srgbClr val="1A1A2E"/>
                          </a:solidFill>
                          <a:latin typeface="Meiryo"/>
                        </a:defRPr>
                      </a:pPr>
                      <a:r>
                        <a:t>数十億のエージェントのためのネットワークプロトコル。W3C DIDによるID認証、JSON-LDによる能力公開の3層アーキテクチャ。</a:t>
                      </a:r>
                    </a:p>
                  </a:txBody>
                  <a:tcPr>
                    <a:solidFill>
                      <a:srgbClr val="FFFFFF"/>
                    </a:solidFill>
                  </a:tcPr>
                </a:tc>
              </a:tr>
              <a:tr h="594360">
                <a:tc>
                  <a:txBody>
                    <a:bodyPr/>
                    <a:lstStyle/>
                    <a:p>
                      <a:pPr>
                        <a:defRPr sz="1000" b="1">
                          <a:solidFill>
                            <a:srgbClr val="005BAB"/>
                          </a:solidFill>
                          <a:latin typeface="Meiryo"/>
                        </a:defRPr>
                      </a:pPr>
                      <a:r>
                        <a:t>ACP</a:t>
                      </a:r>
                    </a:p>
                  </a:txBody>
                  <a:tcPr>
                    <a:solidFill>
                      <a:srgbClr val="E8F1F8"/>
                    </a:solidFill>
                  </a:tcPr>
                </a:tc>
                <a:tc>
                  <a:txBody>
                    <a:bodyPr/>
                    <a:lstStyle/>
                    <a:p>
                      <a:pPr>
                        <a:defRPr sz="1000">
                          <a:solidFill>
                            <a:srgbClr val="1A1A2E"/>
                          </a:solidFill>
                          <a:latin typeface="Meiryo"/>
                        </a:defRPr>
                      </a:pPr>
                      <a:r>
                        <a:t>OpenAI + Stripe</a:t>
                      </a:r>
                    </a:p>
                  </a:txBody>
                  <a:tcPr>
                    <a:solidFill>
                      <a:srgbClr val="E8F1F8"/>
                    </a:solidFill>
                  </a:tcPr>
                </a:tc>
                <a:tc>
                  <a:txBody>
                    <a:bodyPr/>
                    <a:lstStyle/>
                    <a:p>
                      <a:pPr algn="ctr">
                        <a:defRPr sz="1000" b="1">
                          <a:solidFill>
                            <a:srgbClr val="5BA4D9"/>
                          </a:solidFill>
                          <a:latin typeface="Meiryo"/>
                        </a:defRPr>
                      </a:pPr>
                      <a:r>
                        <a:t>Commerce</a:t>
                      </a:r>
                    </a:p>
                  </a:txBody>
                  <a:tcPr>
                    <a:solidFill>
                      <a:srgbClr val="E8F1F8"/>
                    </a:solidFill>
                  </a:tcPr>
                </a:tc>
                <a:tc>
                  <a:txBody>
                    <a:bodyPr/>
                    <a:lstStyle/>
                    <a:p>
                      <a:pPr algn="ctr">
                        <a:defRPr sz="1000">
                          <a:solidFill>
                            <a:srgbClr val="6C757D"/>
                          </a:solidFill>
                          <a:latin typeface="Meiryo"/>
                        </a:defRPr>
                      </a:pPr>
                      <a:r>
                        <a:t>2025-09</a:t>
                      </a:r>
                    </a:p>
                  </a:txBody>
                  <a:tcPr>
                    <a:solidFill>
                      <a:srgbClr val="E8F1F8"/>
                    </a:solidFill>
                  </a:tcPr>
                </a:tc>
                <a:tc>
                  <a:txBody>
                    <a:bodyPr/>
                    <a:lstStyle/>
                    <a:p>
                      <a:pPr>
                        <a:defRPr sz="1000">
                          <a:solidFill>
                            <a:srgbClr val="1A1A2E"/>
                          </a:solidFill>
                          <a:latin typeface="Meiryo"/>
                        </a:defRPr>
                      </a:pPr>
                      <a:r>
                        <a:t>AIエージェント経由の商取引フローを実現するオープン標準。物理/デジタル商品、サブスクリプション対応。ChatGPTで実装済み。</a:t>
                      </a:r>
                    </a:p>
                  </a:txBody>
                  <a:tcPr>
                    <a:solidFill>
                      <a:srgbClr val="E8F1F8"/>
                    </a:solidFill>
                  </a:tcPr>
                </a:tc>
              </a:tr>
              <a:tr h="594360">
                <a:tc>
                  <a:txBody>
                    <a:bodyPr/>
                    <a:lstStyle/>
                    <a:p>
                      <a:pPr>
                        <a:defRPr sz="1000" b="1">
                          <a:solidFill>
                            <a:srgbClr val="005BAB"/>
                          </a:solidFill>
                          <a:latin typeface="Meiryo"/>
                        </a:defRPr>
                      </a:pPr>
                      <a:r>
                        <a:t>AGENTS.md</a:t>
                      </a:r>
                    </a:p>
                  </a:txBody>
                  <a:tcPr>
                    <a:solidFill>
                      <a:srgbClr val="FFFFFF"/>
                    </a:solidFill>
                  </a:tcPr>
                </a:tc>
                <a:tc>
                  <a:txBody>
                    <a:bodyPr/>
                    <a:lstStyle/>
                    <a:p>
                      <a:pPr>
                        <a:defRPr sz="1000">
                          <a:solidFill>
                            <a:srgbClr val="1A1A2E"/>
                          </a:solidFill>
                          <a:latin typeface="Meiryo"/>
                        </a:defRPr>
                      </a:pPr>
                      <a:r>
                        <a:t>OpenAI</a:t>
                      </a:r>
                    </a:p>
                  </a:txBody>
                  <a:tcPr>
                    <a:solidFill>
                      <a:srgbClr val="FFFFFF"/>
                    </a:solidFill>
                  </a:tcPr>
                </a:tc>
                <a:tc>
                  <a:txBody>
                    <a:bodyPr/>
                    <a:lstStyle/>
                    <a:p>
                      <a:pPr algn="ctr">
                        <a:defRPr sz="1000" b="1">
                          <a:solidFill>
                            <a:srgbClr val="5BA4D9"/>
                          </a:solidFill>
                          <a:latin typeface="Meiryo"/>
                        </a:defRPr>
                      </a:pPr>
                      <a:r>
                        <a:t>Project Instruction</a:t>
                      </a:r>
                    </a:p>
                  </a:txBody>
                  <a:tcPr>
                    <a:solidFill>
                      <a:srgbClr val="FFFFFF"/>
                    </a:solidFill>
                  </a:tcPr>
                </a:tc>
                <a:tc>
                  <a:txBody>
                    <a:bodyPr/>
                    <a:lstStyle/>
                    <a:p>
                      <a:pPr algn="ctr">
                        <a:defRPr sz="1000">
                          <a:solidFill>
                            <a:srgbClr val="6C757D"/>
                          </a:solidFill>
                          <a:latin typeface="Meiryo"/>
                        </a:defRPr>
                      </a:pPr>
                      <a:r>
                        <a:t>2025-08</a:t>
                      </a:r>
                    </a:p>
                  </a:txBody>
                  <a:tcPr>
                    <a:solidFill>
                      <a:srgbClr val="FFFFFF"/>
                    </a:solidFill>
                  </a:tcPr>
                </a:tc>
                <a:tc>
                  <a:txBody>
                    <a:bodyPr/>
                    <a:lstStyle/>
                    <a:p>
                      <a:pPr>
                        <a:defRPr sz="1000">
                          <a:solidFill>
                            <a:srgbClr val="1A1A2E"/>
                          </a:solidFill>
                          <a:latin typeface="Meiryo"/>
                        </a:defRPr>
                      </a:pPr>
                      <a:r>
                        <a:t>AIコーディングエージェントにプロジェクト固有のガイダンスを提供するMarkdownベース規約。Copilot・Cursor・Gemini CLI等が対応。</a:t>
                      </a:r>
                    </a:p>
                  </a:txBody>
                  <a:tcPr>
                    <a:solidFill>
                      <a:srgbClr val="FFFFFF"/>
                    </a:solidFill>
                  </a:tcPr>
                </a:tc>
              </a:tr>
              <a:tr h="594360">
                <a:tc>
                  <a:txBody>
                    <a:bodyPr/>
                    <a:lstStyle/>
                    <a:p>
                      <a:pPr>
                        <a:defRPr sz="1000" b="1">
                          <a:solidFill>
                            <a:srgbClr val="005BAB"/>
                          </a:solidFill>
                          <a:latin typeface="Meiryo"/>
                        </a:defRPr>
                      </a:pPr>
                      <a:r>
                        <a:t>A2A</a:t>
                      </a:r>
                    </a:p>
                  </a:txBody>
                  <a:tcPr>
                    <a:solidFill>
                      <a:srgbClr val="E8F1F8"/>
                    </a:solidFill>
                  </a:tcPr>
                </a:tc>
                <a:tc>
                  <a:txBody>
                    <a:bodyPr/>
                    <a:lstStyle/>
                    <a:p>
                      <a:pPr>
                        <a:defRPr sz="1000">
                          <a:solidFill>
                            <a:srgbClr val="1A1A2E"/>
                          </a:solidFill>
                          <a:latin typeface="Meiryo"/>
                        </a:defRPr>
                      </a:pPr>
                      <a:r>
                        <a:t>Google Cloud</a:t>
                      </a:r>
                    </a:p>
                  </a:txBody>
                  <a:tcPr>
                    <a:solidFill>
                      <a:srgbClr val="E8F1F8"/>
                    </a:solidFill>
                  </a:tcPr>
                </a:tc>
                <a:tc>
                  <a:txBody>
                    <a:bodyPr/>
                    <a:lstStyle/>
                    <a:p>
                      <a:pPr algn="ctr">
                        <a:defRPr sz="1000" b="1">
                          <a:solidFill>
                            <a:srgbClr val="5BA4D9"/>
                          </a:solidFill>
                          <a:latin typeface="Meiryo"/>
                        </a:defRPr>
                      </a:pPr>
                      <a:r>
                        <a:t>Agent-Agent</a:t>
                      </a:r>
                    </a:p>
                  </a:txBody>
                  <a:tcPr>
                    <a:solidFill>
                      <a:srgbClr val="E8F1F8"/>
                    </a:solidFill>
                  </a:tcPr>
                </a:tc>
                <a:tc>
                  <a:txBody>
                    <a:bodyPr/>
                    <a:lstStyle/>
                    <a:p>
                      <a:pPr algn="ctr">
                        <a:defRPr sz="1000">
                          <a:solidFill>
                            <a:srgbClr val="6C757D"/>
                          </a:solidFill>
                          <a:latin typeface="Meiryo"/>
                        </a:defRPr>
                      </a:pPr>
                      <a:r>
                        <a:t>2025-04</a:t>
                      </a:r>
                    </a:p>
                  </a:txBody>
                  <a:tcPr>
                    <a:solidFill>
                      <a:srgbClr val="E8F1F8"/>
                    </a:solidFill>
                  </a:tcPr>
                </a:tc>
                <a:tc>
                  <a:txBody>
                    <a:bodyPr/>
                    <a:lstStyle/>
                    <a:p>
                      <a:pPr>
                        <a:defRPr sz="1000">
                          <a:solidFill>
                            <a:srgbClr val="1A1A2E"/>
                          </a:solidFill>
                          <a:latin typeface="Meiryo"/>
                        </a:defRPr>
                      </a:pPr>
                      <a:r>
                        <a:t>異なるプラットフォーム・ベンダー間でAIエージェント同士が通信・協働するオープンプロトコル。MCPの補完的位置づけ。</a:t>
                      </a:r>
                    </a:p>
                  </a:txBody>
                  <a:tcPr>
                    <a:solidFill>
                      <a:srgbClr val="E8F1F8"/>
                    </a:solidFill>
                  </a:tcPr>
                </a:tc>
              </a:tr>
              <a:tr h="594360">
                <a:tc>
                  <a:txBody>
                    <a:bodyPr/>
                    <a:lstStyle/>
                    <a:p>
                      <a:pPr>
                        <a:defRPr sz="1000" b="1">
                          <a:solidFill>
                            <a:srgbClr val="005BAB"/>
                          </a:solidFill>
                          <a:latin typeface="Meiryo"/>
                        </a:defRPr>
                      </a:pPr>
                      <a:r>
                        <a:t>MCP</a:t>
                      </a:r>
                    </a:p>
                  </a:txBody>
                  <a:tcPr>
                    <a:solidFill>
                      <a:srgbClr val="FFFFFF"/>
                    </a:solidFill>
                  </a:tcPr>
                </a:tc>
                <a:tc>
                  <a:txBody>
                    <a:bodyPr/>
                    <a:lstStyle/>
                    <a:p>
                      <a:pPr>
                        <a:defRPr sz="1000">
                          <a:solidFill>
                            <a:srgbClr val="1A1A2E"/>
                          </a:solidFill>
                          <a:latin typeface="Meiryo"/>
                        </a:defRPr>
                      </a:pPr>
                      <a:r>
                        <a:t>Anthropic</a:t>
                      </a:r>
                    </a:p>
                  </a:txBody>
                  <a:tcPr>
                    <a:solidFill>
                      <a:srgbClr val="FFFFFF"/>
                    </a:solidFill>
                  </a:tcPr>
                </a:tc>
                <a:tc>
                  <a:txBody>
                    <a:bodyPr/>
                    <a:lstStyle/>
                    <a:p>
                      <a:pPr algn="ctr">
                        <a:defRPr sz="1000" b="1">
                          <a:solidFill>
                            <a:srgbClr val="5BA4D9"/>
                          </a:solidFill>
                          <a:latin typeface="Meiryo"/>
                        </a:defRPr>
                      </a:pPr>
                      <a:r>
                        <a:t>Agent-Tool</a:t>
                      </a:r>
                    </a:p>
                  </a:txBody>
                  <a:tcPr>
                    <a:solidFill>
                      <a:srgbClr val="FFFFFF"/>
                    </a:solidFill>
                  </a:tcPr>
                </a:tc>
                <a:tc>
                  <a:txBody>
                    <a:bodyPr/>
                    <a:lstStyle/>
                    <a:p>
                      <a:pPr algn="ctr">
                        <a:defRPr sz="1000">
                          <a:solidFill>
                            <a:srgbClr val="6C757D"/>
                          </a:solidFill>
                          <a:latin typeface="Meiryo"/>
                        </a:defRPr>
                      </a:pPr>
                      <a:r>
                        <a:t>2024-11</a:t>
                      </a:r>
                    </a:p>
                  </a:txBody>
                  <a:tcPr>
                    <a:solidFill>
                      <a:srgbClr val="FFFFFF"/>
                    </a:solidFill>
                  </a:tcPr>
                </a:tc>
                <a:tc>
                  <a:txBody>
                    <a:bodyPr/>
                    <a:lstStyle/>
                    <a:p>
                      <a:pPr>
                        <a:defRPr sz="1000">
                          <a:solidFill>
                            <a:srgbClr val="1A1A2E"/>
                          </a:solidFill>
                          <a:latin typeface="Meiryo"/>
                        </a:defRPr>
                      </a:pPr>
                      <a:r>
                        <a:t>AIモデルを外部データソース・ツールに接続するオープン標準。10,000以上のMCPサーバーが公開済み。OpenAI・Google・Microsoft等が採用。</a:t>
                      </a:r>
                    </a:p>
                  </a:txBody>
                  <a:tcPr>
                    <a:solidFill>
                      <a:srgbClr val="FFFFFF"/>
                    </a:solidFill>
                  </a:tcPr>
                </a:tc>
              </a:tr>
            </a:tbl>
          </a:graphicData>
        </a:graphic>
      </p:graphicFrame>
      <p:sp>
        <p:nvSpPr>
          <p:cNvPr id="7" name="TextBox 6"/>
          <p:cNvSpPr txBox="1"/>
          <p:nvPr/>
        </p:nvSpPr>
        <p:spPr>
          <a:xfrm>
            <a:off x="548640" y="5897880"/>
            <a:ext cx="11094415" cy="274320"/>
          </a:xfrm>
          <a:prstGeom prst="rect">
            <a:avLst/>
          </a:prstGeom>
          <a:noFill/>
        </p:spPr>
        <p:txBody>
          <a:bodyPr wrap="square">
            <a:spAutoFit/>
          </a:bodyPr>
          <a:lstStyle/>
          <a:p>
            <a:pPr algn="l">
              <a:defRPr sz="900" b="0">
                <a:solidFill>
                  <a:srgbClr val="6C757D"/>
                </a:solidFill>
                <a:latin typeface="Meiryo"/>
              </a:defRPr>
            </a:pPr>
            <a:r>
              <a:t>※ キャッチアップ時に自動更新  |  各公式サイトで最新情報をご確認ください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Data Dashboard</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2026-02-12  |  Page 10</a:t>
            </a:r>
          </a:p>
        </p:txBody>
      </p:sp>
      <p:sp>
        <p:nvSpPr>
          <p:cNvPr id="6" name="Rectangle 5"/>
          <p:cNvSpPr/>
          <p:nvPr/>
        </p:nvSpPr>
        <p:spPr>
          <a:xfrm>
            <a:off x="59436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mpany_importance.png"/>
          <p:cNvPicPr>
            <a:picLocks noChangeAspect="1"/>
          </p:cNvPicPr>
          <p:nvPr/>
        </p:nvPicPr>
        <p:blipFill>
          <a:blip r:embed="rId2"/>
          <a:stretch>
            <a:fillRect/>
          </a:stretch>
        </p:blipFill>
        <p:spPr>
          <a:xfrm>
            <a:off x="640080" y="1051560"/>
            <a:ext cx="5303520" cy="2468880"/>
          </a:xfrm>
          <a:prstGeom prst="rect">
            <a:avLst/>
          </a:prstGeom>
        </p:spPr>
      </p:pic>
      <p:sp>
        <p:nvSpPr>
          <p:cNvPr id="8" name="Rectangle 7"/>
          <p:cNvSpPr/>
          <p:nvPr/>
        </p:nvSpPr>
        <p:spPr>
          <a:xfrm>
            <a:off x="635508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eatmap.png"/>
          <p:cNvPicPr>
            <a:picLocks noChangeAspect="1"/>
          </p:cNvPicPr>
          <p:nvPr/>
        </p:nvPicPr>
        <p:blipFill>
          <a:blip r:embed="rId3"/>
          <a:stretch>
            <a:fillRect/>
          </a:stretch>
        </p:blipFill>
        <p:spPr>
          <a:xfrm>
            <a:off x="6400800" y="1051560"/>
            <a:ext cx="5303520" cy="2468880"/>
          </a:xfrm>
          <a:prstGeom prst="rect">
            <a:avLst/>
          </a:prstGeom>
        </p:spPr>
      </p:pic>
      <p:sp>
        <p:nvSpPr>
          <p:cNvPr id="10" name="Rectangle 9"/>
          <p:cNvSpPr/>
          <p:nvPr/>
        </p:nvSpPr>
        <p:spPr>
          <a:xfrm>
            <a:off x="59436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portance_donut.png"/>
          <p:cNvPicPr>
            <a:picLocks noChangeAspect="1"/>
          </p:cNvPicPr>
          <p:nvPr/>
        </p:nvPicPr>
        <p:blipFill>
          <a:blip r:embed="rId4"/>
          <a:stretch>
            <a:fillRect/>
          </a:stretch>
        </p:blipFill>
        <p:spPr>
          <a:xfrm>
            <a:off x="640080" y="3703320"/>
            <a:ext cx="5303520" cy="2468880"/>
          </a:xfrm>
          <a:prstGeom prst="rect">
            <a:avLst/>
          </a:prstGeom>
        </p:spPr>
      </p:pic>
      <p:sp>
        <p:nvSpPr>
          <p:cNvPr id="12" name="Rectangle 11"/>
          <p:cNvSpPr/>
          <p:nvPr/>
        </p:nvSpPr>
        <p:spPr>
          <a:xfrm>
            <a:off x="635508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news_landscape.png"/>
          <p:cNvPicPr>
            <a:picLocks noChangeAspect="1"/>
          </p:cNvPicPr>
          <p:nvPr/>
        </p:nvPicPr>
        <p:blipFill>
          <a:blip r:embed="rId5"/>
          <a:stretch>
            <a:fillRect/>
          </a:stretch>
        </p:blipFill>
        <p:spPr>
          <a:xfrm>
            <a:off x="6400800" y="3703320"/>
            <a:ext cx="5303520" cy="24688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Sources (引用元一覧)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2026-02-12  |  Page 11</a:t>
            </a:r>
          </a:p>
        </p:txBody>
      </p:sp>
      <p:sp>
        <p:nvSpPr>
          <p:cNvPr id="6" name="TextBox 5"/>
          <p:cNvSpPr txBox="1"/>
          <p:nvPr/>
        </p:nvSpPr>
        <p:spPr>
          <a:xfrm>
            <a:off x="548640" y="960120"/>
            <a:ext cx="530352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LLM Stats: https://llm-stats.com/llm-updates</a:t>
            </a:r>
          </a:p>
          <a:p>
            <a:pPr>
              <a:spcBef>
                <a:spcPts val="300"/>
              </a:spcBef>
              <a:defRPr sz="1100" b="0">
                <a:solidFill>
                  <a:srgbClr val="6C757D"/>
                </a:solidFill>
                <a:latin typeface="Meiryo"/>
              </a:defRPr>
            </a:pPr>
            <a:r>
              <a:t>► Bloomberg Japan: https://www.bloomberg.com/jp/news/articles/2026-02-05/T9ZQOIKGZAQG00</a:t>
            </a:r>
          </a:p>
          <a:p>
            <a:pPr>
              <a:spcBef>
                <a:spcPts val="300"/>
              </a:spcBef>
              <a:defRPr sz="1100" b="0">
                <a:solidFill>
                  <a:srgbClr val="6C757D"/>
                </a:solidFill>
                <a:latin typeface="Meiryo"/>
              </a:defRPr>
            </a:pPr>
            <a:r>
              <a:t>► Axios: https://www.axios.com/2026/02/06/amazon-microsoft-meta-ai-investment</a:t>
            </a:r>
          </a:p>
          <a:p>
            <a:pPr>
              <a:spcBef>
                <a:spcPts val="300"/>
              </a:spcBef>
              <a:defRPr sz="1100" b="0">
                <a:solidFill>
                  <a:srgbClr val="6C757D"/>
                </a:solidFill>
                <a:latin typeface="Meiryo"/>
              </a:defRPr>
            </a:pPr>
            <a:r>
              <a:t>► Shakudo: https://www.shakudo.io/blog/top-9-large-language-models</a:t>
            </a:r>
          </a:p>
          <a:p>
            <a:pPr>
              <a:spcBef>
                <a:spcPts val="300"/>
              </a:spcBef>
              <a:defRPr sz="1100" b="0">
                <a:solidFill>
                  <a:srgbClr val="6C757D"/>
                </a:solidFill>
                <a:latin typeface="Meiryo"/>
              </a:defRPr>
            </a:pPr>
            <a:r>
              <a:t>► Bloomberg: https://www.bloomberg.com/news/articles/2026-02-11/vcs-rush-to-back-rivals-openai-and-anthropic-as-ai-frenzy-mounts</a:t>
            </a:r>
          </a:p>
          <a:p>
            <a:pPr>
              <a:spcBef>
                <a:spcPts val="300"/>
              </a:spcBef>
              <a:defRPr sz="1100" b="0">
                <a:solidFill>
                  <a:srgbClr val="6C757D"/>
                </a:solidFill>
                <a:latin typeface="Meiryo"/>
              </a:defRPr>
            </a:pPr>
            <a:r>
              <a:t>► ビジネス+IT: https://www.sbbit.jp/article/cont1/178534</a:t>
            </a:r>
          </a:p>
        </p:txBody>
      </p:sp>
      <p:sp>
        <p:nvSpPr>
          <p:cNvPr id="7" name="TextBox 6"/>
          <p:cNvSpPr txBox="1"/>
          <p:nvPr/>
        </p:nvSpPr>
        <p:spPr>
          <a:xfrm>
            <a:off x="6156655" y="960120"/>
            <a:ext cx="548640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LM Council: https://lmcouncil.ai/benchmarks</a:t>
            </a:r>
          </a:p>
          <a:p>
            <a:pPr>
              <a:spcBef>
                <a:spcPts val="300"/>
              </a:spcBef>
              <a:defRPr sz="1100" b="0">
                <a:solidFill>
                  <a:srgbClr val="6C757D"/>
                </a:solidFill>
                <a:latin typeface="Meiryo"/>
              </a:defRPr>
            </a:pPr>
            <a:r>
              <a:t>► Crunchbase News: https://news.crunchbase.com/robotics/ai-funding-high-figure-raise-data/</a:t>
            </a:r>
          </a:p>
          <a:p>
            <a:pPr>
              <a:spcBef>
                <a:spcPts val="300"/>
              </a:spcBef>
              <a:defRPr sz="1100" b="0">
                <a:solidFill>
                  <a:srgbClr val="6C757D"/>
                </a:solidFill>
                <a:latin typeface="Meiryo"/>
              </a:defRPr>
            </a:pPr>
            <a:r>
              <a:t>► LLM Stats: https://llm-stats.com/ai-trends</a:t>
            </a:r>
          </a:p>
          <a:p>
            <a:pPr>
              <a:spcBef>
                <a:spcPts val="300"/>
              </a:spcBef>
              <a:defRPr sz="1100" b="0">
                <a:solidFill>
                  <a:srgbClr val="6C757D"/>
                </a:solidFill>
                <a:latin typeface="Meiryo"/>
              </a:defRPr>
            </a:pPr>
            <a:r>
              <a:t>► NVIDIA Newsroom: https://nvidianews.nvidia.com/news/openai-and-nvidia-announce-strategic-partnership-to-deploy-10gw-of-nvidia-systems</a:t>
            </a:r>
          </a:p>
          <a:p>
            <a:pPr>
              <a:spcBef>
                <a:spcPts val="300"/>
              </a:spcBef>
              <a:defRPr sz="1100" b="0">
                <a:solidFill>
                  <a:srgbClr val="6C757D"/>
                </a:solidFill>
                <a:latin typeface="Meiryo"/>
              </a:defRPr>
            </a:pPr>
            <a:r>
              <a:t>► CNN Business: https://edition.cnn.com/2026/02/11/business/openai-anthropic-departures-nightcap</a:t>
            </a:r>
          </a:p>
          <a:p>
            <a:pPr>
              <a:spcBef>
                <a:spcPts val="300"/>
              </a:spcBef>
              <a:defRPr sz="1100" b="0">
                <a:solidFill>
                  <a:srgbClr val="6C757D"/>
                </a:solidFill>
                <a:latin typeface="Meiryo"/>
              </a:defRPr>
            </a:pPr>
            <a:r>
              <a:t>► TechCrunch: https://techcrunch.com/2026/02/11/xai-lays-out-interplanetary-ambitions-in-public-all-hands/</a:t>
            </a:r>
          </a:p>
        </p:txBody>
      </p:sp>
      <p:sp>
        <p:nvSpPr>
          <p:cNvPr id="8" name="TextBox 7"/>
          <p:cNvSpPr txBox="1"/>
          <p:nvPr/>
        </p:nvSpPr>
        <p:spPr>
          <a:xfrm>
            <a:off x="914400" y="6126480"/>
            <a:ext cx="10362895" cy="274320"/>
          </a:xfrm>
          <a:prstGeom prst="rect">
            <a:avLst/>
          </a:prstGeom>
          <a:noFill/>
        </p:spPr>
        <p:txBody>
          <a:bodyPr wrap="square">
            <a:spAutoFit/>
          </a:bodyPr>
          <a:lstStyle/>
          <a:p>
            <a:pPr algn="ctr">
              <a:defRPr sz="900" b="0">
                <a:solidFill>
                  <a:srgbClr val="6C757D"/>
                </a:solidFill>
                <a:latin typeface="Meiryo"/>
              </a:defRPr>
            </a:pPr>
            <a:r>
              <a:t>AI News Daily Deck - Generated by Claude Code | 情報の正確性は各ソースをご確認ください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