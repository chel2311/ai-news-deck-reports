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200" b="1">
                <a:solidFill>
                  <a:srgbClr val="005BAB"/>
                </a:solidFill>
                <a:latin typeface="Meiryo"/>
              </a:defRPr>
            </a:pPr>
            <a:r>
              <a:t>AI News Daily Deck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3200400"/>
            <a:ext cx="2743200" cy="45720"/>
          </a:xfrm>
          <a:prstGeom prst="rect">
            <a:avLst/>
          </a:prstGeom>
          <a:solidFill>
            <a:srgbClr val="FF9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3474720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0">
                <a:solidFill>
                  <a:srgbClr val="6C757D"/>
                </a:solidFill>
                <a:latin typeface="Meiryo"/>
              </a:defRPr>
            </a:pPr>
            <a:r>
              <a:t>2026-02-10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4754880"/>
            <a:ext cx="2743200" cy="100584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" y="4754880"/>
            <a:ext cx="2743200" cy="36576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4864608"/>
            <a:ext cx="2377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05BAB"/>
                </a:solidFill>
                <a:latin typeface="Meiryo"/>
              </a:rPr>
              <a:t>11</a:t>
            </a:r>
            <a:r>
              <a:rPr sz="1400">
                <a:solidFill>
                  <a:srgbClr val="6C757D"/>
                </a:solidFill>
                <a:latin typeface="Meiryo"/>
              </a:rPr>
              <a:t> 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539496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C757D"/>
                </a:solidFill>
                <a:latin typeface="Meiryo"/>
              </a:defRPr>
            </a:pPr>
            <a:r>
              <a:t>Total News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360" y="4754880"/>
            <a:ext cx="2743200" cy="100584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023360" y="4754880"/>
            <a:ext cx="2743200" cy="36576"/>
          </a:xfrm>
          <a:prstGeom prst="rect">
            <a:avLst/>
          </a:prstGeom>
          <a:solidFill>
            <a:srgbClr val="FF9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06240" y="4864608"/>
            <a:ext cx="2377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05BAB"/>
                </a:solidFill>
                <a:latin typeface="Meiryo"/>
              </a:rPr>
              <a:t>11</a:t>
            </a:r>
            <a:r>
              <a:rPr sz="1400">
                <a:solidFill>
                  <a:srgbClr val="6C757D"/>
                </a:solidFill>
                <a:latin typeface="Meiryo"/>
              </a:rPr>
              <a:t> 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06240" y="539496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C757D"/>
                </a:solidFill>
                <a:latin typeface="Meiryo"/>
              </a:defRPr>
            </a:pPr>
            <a:r>
              <a:t>High Impact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32320" y="4754880"/>
            <a:ext cx="2743200" cy="100584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132320" y="4754880"/>
            <a:ext cx="2743200" cy="36576"/>
          </a:xfrm>
          <a:prstGeom prst="rect">
            <a:avLst/>
          </a:prstGeom>
          <a:solidFill>
            <a:srgbClr val="5BA4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0" y="4864608"/>
            <a:ext cx="2377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05BAB"/>
                </a:solidFill>
                <a:latin typeface="Meiryo"/>
              </a:rPr>
              <a:t>4</a:t>
            </a:r>
            <a:r>
              <a:rPr sz="1400">
                <a:solidFill>
                  <a:srgbClr val="6C757D"/>
                </a:solidFill>
                <a:latin typeface="Meiryo"/>
              </a:rPr>
              <a:t> 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0" y="539496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C757D"/>
                </a:solidFill>
                <a:latin typeface="Meiryo"/>
              </a:defRPr>
            </a:pPr>
            <a:r>
              <a:t>Companies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Meiryo"/>
              </a:defRPr>
            </a:pPr>
            <a:r>
              <a:t>Executive Summary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4415" cy="9144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C757D"/>
                </a:solidFill>
                <a:latin typeface="Meiryo"/>
              </a:defRPr>
            </a:pPr>
            <a:r>
              <a:t>AI News Daily Deck  |  2026-02-10  |  Page 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960120"/>
            <a:ext cx="2468880" cy="1051560"/>
          </a:xfrm>
          <a:prstGeom prst="round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960120"/>
            <a:ext cx="2468880" cy="36576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05156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C757D"/>
                </a:solidFill>
                <a:latin typeface="Meiryo"/>
              </a:defRPr>
            </a:pPr>
            <a:r>
              <a:t>Total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307592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05BAB"/>
                </a:solidFill>
                <a:latin typeface="Meiryo"/>
              </a:rPr>
              <a:t>11</a:t>
            </a:r>
            <a:r>
              <a:rPr sz="1400">
                <a:solidFill>
                  <a:srgbClr val="6C757D"/>
                </a:solidFill>
                <a:latin typeface="Meiryo"/>
              </a:rPr>
              <a:t> 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83280" y="960120"/>
            <a:ext cx="2468880" cy="1051560"/>
          </a:xfrm>
          <a:prstGeom prst="round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383280" y="960120"/>
            <a:ext cx="2468880" cy="36576"/>
          </a:xfrm>
          <a:prstGeom prst="rect">
            <a:avLst/>
          </a:prstGeom>
          <a:solidFill>
            <a:srgbClr val="FF9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20440" y="105156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C757D"/>
                </a:solidFill>
                <a:latin typeface="Meiryo"/>
              </a:defRPr>
            </a:pPr>
            <a:r>
              <a:t>Top Company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0440" y="1307592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05BAB"/>
                </a:solidFill>
                <a:latin typeface="Meiryo"/>
              </a:rPr>
              <a:t>Other</a:t>
            </a:r>
            <a:r>
              <a:rPr sz="1400">
                <a:solidFill>
                  <a:srgbClr val="6C757D"/>
                </a:solidFill>
                <a:latin typeface="Meiryo"/>
              </a:rPr>
              <a:t> 6件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26480" y="960120"/>
            <a:ext cx="2468880" cy="1051560"/>
          </a:xfrm>
          <a:prstGeom prst="round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960120"/>
            <a:ext cx="2468880" cy="36576"/>
          </a:xfrm>
          <a:prstGeom prst="rect">
            <a:avLst/>
          </a:prstGeom>
          <a:solidFill>
            <a:srgbClr val="5BA4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05156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C757D"/>
                </a:solidFill>
                <a:latin typeface="Meiryo"/>
              </a:defRPr>
            </a:pPr>
            <a:r>
              <a:t>High Impact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63640" y="1307592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05BAB"/>
                </a:solidFill>
                <a:latin typeface="Meiryo"/>
              </a:rPr>
              <a:t>11</a:t>
            </a:r>
            <a:r>
              <a:rPr sz="1400">
                <a:solidFill>
                  <a:srgbClr val="6C757D"/>
                </a:solidFill>
                <a:latin typeface="Meiryo"/>
              </a:rPr>
              <a:t> 件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869680" y="960120"/>
            <a:ext cx="2468880" cy="1051560"/>
          </a:xfrm>
          <a:prstGeom prst="round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869680" y="960120"/>
            <a:ext cx="2468880" cy="36576"/>
          </a:xfrm>
          <a:prstGeom prst="rect">
            <a:avLst/>
          </a:prstGeom>
          <a:solidFill>
            <a:srgbClr val="003D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06840" y="105156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C757D"/>
                </a:solidFill>
                <a:latin typeface="Meiryo"/>
              </a:defRPr>
            </a:pPr>
            <a:r>
              <a:t>Companies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06840" y="1307592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05BAB"/>
                </a:solidFill>
                <a:latin typeface="Meiryo"/>
              </a:rPr>
              <a:t>4</a:t>
            </a:r>
            <a:r>
              <a:rPr sz="1400">
                <a:solidFill>
                  <a:srgbClr val="6C757D"/>
                </a:solidFill>
                <a:latin typeface="Meiryo"/>
              </a:rPr>
              <a:t> 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23317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5BAB"/>
                </a:solidFill>
                <a:latin typeface="Meiryo"/>
              </a:defRPr>
            </a:pPr>
            <a:r>
              <a:t>KEY TAKEAWAYS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2624328"/>
            <a:ext cx="1828800" cy="18288"/>
          </a:xfrm>
          <a:prstGeom prst="rect">
            <a:avLst/>
          </a:prstGeom>
          <a:solidFill>
            <a:srgbClr val="FF9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2743200"/>
            <a:ext cx="11094415" cy="68580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48640" y="2743200"/>
            <a:ext cx="54864" cy="68580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85800" y="2852928"/>
            <a:ext cx="384048" cy="384048"/>
          </a:xfrm>
          <a:prstGeom prst="ellipse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2852928"/>
            <a:ext cx="384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eiryo"/>
              </a:defRPr>
            </a:pPr>
            <a:r>
              <a:t>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88720" y="2816352"/>
            <a:ext cx="102714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A1A2E"/>
                </a:solidFill>
                <a:latin typeface="Meiryo"/>
              </a:defRPr>
            </a:pPr>
            <a:r>
              <a:t>Anthropic Claude Opus 4.6がOpenAI GPT-5.2を上回るベンチマーク性能を達成、ソフトウェア株が急落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3520440"/>
            <a:ext cx="11094415" cy="68580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48640" y="3520440"/>
            <a:ext cx="54864" cy="685800"/>
          </a:xfrm>
          <a:prstGeom prst="rect">
            <a:avLst/>
          </a:prstGeom>
          <a:solidFill>
            <a:srgbClr val="5BA4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85800" y="3630168"/>
            <a:ext cx="384048" cy="384048"/>
          </a:xfrm>
          <a:prstGeom prst="ellipse">
            <a:avLst/>
          </a:prstGeom>
          <a:solidFill>
            <a:srgbClr val="5BA4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5800" y="3630168"/>
            <a:ext cx="384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eiryo"/>
              </a:defRPr>
            </a:pPr>
            <a:r>
              <a:t>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88720" y="3593592"/>
            <a:ext cx="102714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A1A2E"/>
                </a:solidFill>
                <a:latin typeface="Meiryo"/>
              </a:defRPr>
            </a:pPr>
            <a:r>
              <a:t>ビッグテック4社（Microsoft、Alphabet、Amazon、Meta）のAI投資額が2026年に7000億ドル規模に到達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40" y="4297680"/>
            <a:ext cx="11094415" cy="68580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48640" y="4297680"/>
            <a:ext cx="54864" cy="685800"/>
          </a:xfrm>
          <a:prstGeom prst="rect">
            <a:avLst/>
          </a:prstGeom>
          <a:solidFill>
            <a:srgbClr val="FF9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685800" y="4407408"/>
            <a:ext cx="384048" cy="384048"/>
          </a:xfrm>
          <a:prstGeom prst="ellipse">
            <a:avLst/>
          </a:prstGeom>
          <a:solidFill>
            <a:srgbClr val="FF9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85800" y="4407408"/>
            <a:ext cx="384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eiryo"/>
              </a:defRPr>
            </a:pPr>
            <a: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88720" y="4370832"/>
            <a:ext cx="102714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A1A2E"/>
                </a:solidFill>
                <a:latin typeface="Meiryo"/>
              </a:defRPr>
            </a:pPr>
            <a:r>
              <a:t>AI規制の連邦vs州政府の対立が表面化、コロラド州AI法は6月まで施行延期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Meiryo"/>
              </a:defRPr>
            </a:pPr>
            <a:r>
              <a:t>TODAY'S HIGHLIGHT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4415" cy="9144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C757D"/>
                </a:solidFill>
                <a:latin typeface="Meiryo"/>
              </a:defRPr>
            </a:pPr>
            <a:r>
              <a:t>AI News Daily Deck  |  2026-02-10  |  Page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0120"/>
            <a:ext cx="5303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1A2E"/>
                </a:solidFill>
                <a:latin typeface="Meiryo"/>
              </a:defRPr>
            </a:pPr>
            <a:r>
              <a:t>Anthropic Claude Opus 4.6リリース、ソフトウェア業界に衝撃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3736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C757D"/>
                </a:solidFill>
                <a:latin typeface="Meiryo"/>
              </a:defRPr>
            </a:pPr>
            <a:r>
              <a:t>Anthropic  |  LLM  |  ★★★★★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57400"/>
            <a:ext cx="2743200" cy="109728"/>
          </a:xfrm>
          <a:prstGeom prst="round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48640" y="2057400"/>
            <a:ext cx="2743200" cy="109728"/>
          </a:xfrm>
          <a:prstGeom prst="round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331720"/>
            <a:ext cx="53035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A1A2E"/>
                </a:solidFill>
                <a:latin typeface="Meiryo"/>
              </a:defRPr>
            </a:pPr>
            <a:r>
              <a:t>2月5日、Anthropic社がClaude Opus 4.6をリリース。OpenAI GPT-5.2を上回るベンチマーク性能を達成し、法務・財務・営業分野向けCoworkプラグインを発表。専門ソフトウェア株が急落し、業界に大きな影響を与えた。PowerPoint統合機能も研究プレビューとして提供開始。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977640"/>
            <a:ext cx="5303520" cy="82296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3977640"/>
            <a:ext cx="54864" cy="82296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58368" y="4160520"/>
            <a:ext cx="365760" cy="365760"/>
          </a:xfrm>
          <a:prstGeom prst="ellipse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4160520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eiryo"/>
              </a:defRPr>
            </a:pPr>
            <a:r>
              <a:t>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023360"/>
            <a:ext cx="4617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5BAB"/>
                </a:solidFill>
                <a:latin typeface="Meiryo"/>
              </a:defRPr>
            </a:pPr>
            <a:r>
              <a:t>Impact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4206240"/>
            <a:ext cx="4617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A1A2E"/>
                </a:solidFill>
                <a:latin typeface="Meiryo"/>
              </a:defRPr>
            </a:pPr>
            <a:r>
              <a:t>法務・財務・営業ソフトウェア企業の株価が急落。専門分野のSaaSビジネスモデルに対する懸念が広がり、AI代替リスクが顕在化。予測市場での24時間取引高は572,000ドルに到達。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937760"/>
            <a:ext cx="5303520" cy="82296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4937760"/>
            <a:ext cx="54864" cy="822960"/>
          </a:xfrm>
          <a:prstGeom prst="rect">
            <a:avLst/>
          </a:prstGeom>
          <a:solidFill>
            <a:srgbClr val="5BA4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58368" y="5120640"/>
            <a:ext cx="365760" cy="365760"/>
          </a:xfrm>
          <a:prstGeom prst="ellipse">
            <a:avLst/>
          </a:prstGeom>
          <a:solidFill>
            <a:srgbClr val="5BA4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5120640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eiryo"/>
              </a:defRPr>
            </a:pPr>
            <a:r>
              <a:t>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4983480"/>
            <a:ext cx="4617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5BA4D9"/>
                </a:solidFill>
                <a:latin typeface="Meiryo"/>
              </a:defRPr>
            </a:pPr>
            <a:r>
              <a:t>Outlook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" y="5166360"/>
            <a:ext cx="4617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A1A2E"/>
                </a:solidFill>
                <a:latin typeface="Meiryo"/>
              </a:defRPr>
            </a:pPr>
            <a:r>
              <a:t>3月以降の予測市場ではGoogleが46%でリード、6月には54%と長期的優位を予測。Anthropicは2026年売上目標150億ドルに向けて順調に推移すると見られる。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5897880"/>
            <a:ext cx="5303520" cy="82296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5897880"/>
            <a:ext cx="54864" cy="822960"/>
          </a:xfrm>
          <a:prstGeom prst="rect">
            <a:avLst/>
          </a:prstGeom>
          <a:solidFill>
            <a:srgbClr val="FF9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58368" y="6080760"/>
            <a:ext cx="365760" cy="365760"/>
          </a:xfrm>
          <a:prstGeom prst="ellipse">
            <a:avLst/>
          </a:prstGeom>
          <a:solidFill>
            <a:srgbClr val="FF9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6080760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eiryo"/>
              </a:defRPr>
            </a:pPr>
            <a:r>
              <a:t>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7280" y="5943600"/>
            <a:ext cx="4617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961C"/>
                </a:solidFill>
                <a:latin typeface="Meiryo"/>
              </a:defRPr>
            </a:pPr>
            <a:r>
              <a:t>Risks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" y="6126480"/>
            <a:ext cx="4617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A1A2E"/>
                </a:solidFill>
                <a:latin typeface="Meiryo"/>
              </a:defRPr>
            </a:pPr>
            <a:r>
              <a:t>専門ソフトウェア業界の反発と規制強化の可能性。過度なAI依存による品質管理リスク。OpenAIの反撃による市場シェア変動の可能性。</a:t>
            </a:r>
          </a:p>
        </p:txBody>
      </p:sp>
      <p:pic>
        <p:nvPicPr>
          <p:cNvPr id="29" name="Picture 28" descr="highlight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56655" y="960120"/>
            <a:ext cx="54864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Meiryo"/>
              </a:defRPr>
            </a:pPr>
            <a:r>
              <a:t>Top News (1/2)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4415" cy="9144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C757D"/>
                </a:solidFill>
                <a:latin typeface="Meiryo"/>
              </a:defRPr>
            </a:pPr>
            <a:r>
              <a:t>AI News Daily Deck  |  2026-02-10  |  Page 3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960120"/>
            <a:ext cx="11094415" cy="164592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960120"/>
            <a:ext cx="54864" cy="1645920"/>
          </a:xfrm>
          <a:prstGeom prst="rect">
            <a:avLst/>
          </a:prstGeom>
          <a:solidFill>
            <a:srgbClr val="00A4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85800" y="1097280"/>
            <a:ext cx="457200" cy="457200"/>
          </a:xfrm>
          <a:prstGeom prst="ellipse">
            <a:avLst/>
          </a:prstGeom>
          <a:solidFill>
            <a:srgbClr val="00A4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097280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Meiryo"/>
              </a:defRPr>
            </a:pPr>
            <a:r>
              <a:t>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234440" y="1252728"/>
            <a:ext cx="1828800" cy="10972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234440" y="1252728"/>
            <a:ext cx="1828800" cy="109728"/>
          </a:xfrm>
          <a:prstGeom prst="roundRect">
            <a:avLst/>
          </a:prstGeom>
          <a:solidFill>
            <a:srgbClr val="00A4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34440" y="103327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A1A2E"/>
                </a:solidFill>
                <a:latin typeface="Meiryo"/>
              </a:defRPr>
            </a:pPr>
            <a:r>
              <a:t>ビッグテック4社、AI投資総額7000億ドルに到達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1463040"/>
            <a:ext cx="6675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  <a:r>
              <a:t>Microsoft、Alphabet、Amazon、Metaの4社が2026年のAI関連設備投資で合計約7000億ドルを支出予定。Amazonが2000億ドルで最大、Microsoftが1450億ドル、Alphabetが最大1850億ドル、Metaが最大1350億ドル。キャッシュ...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0" y="1371600"/>
            <a:ext cx="4114800" cy="1005840"/>
          </a:xfrm>
          <a:prstGeom prst="roundRect">
            <a:avLst/>
          </a:prstGeom>
          <a:solidFill>
            <a:srgbClr val="E8F1F8"/>
          </a:solidFill>
          <a:ln w="12700">
            <a:solidFill>
              <a:srgbClr val="5BA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06640" y="1389888"/>
            <a:ext cx="3931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005BAB"/>
                </a:solidFill>
                <a:latin typeface="Meiryo"/>
              </a:defRPr>
            </a:pPr>
            <a:r>
              <a:t>IMPACT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6640" y="1572768"/>
            <a:ext cx="3931920" cy="731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900" b="0">
                <a:solidFill>
                  <a:srgbClr val="1A1A2E"/>
                </a:solidFill>
                <a:latin typeface="Meiryo"/>
              </a:defRPr>
            </a:pPr>
            <a:r>
              <a:t>Barclaysの分析では、Metaのフリーキャッシュフローが90%減少、Microsoftは28%減少と予測。Microsoft株は10%急落し、時価総額3570億ドル消失。Meta株は10%上昇し、投資効果の実証に成功。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23317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eiryo"/>
              </a:defRPr>
            </a:pPr>
            <a:r>
              <a:t>Microsoft  |  Business  |  Axios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2743200"/>
            <a:ext cx="11094415" cy="164592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2743200"/>
            <a:ext cx="54864" cy="1645920"/>
          </a:xfrm>
          <a:prstGeom prst="rect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85800" y="2880360"/>
            <a:ext cx="457200" cy="457200"/>
          </a:xfrm>
          <a:prstGeom prst="ellipse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2880360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Meiryo"/>
              </a:defRPr>
            </a:pPr>
            <a:r>
              <a:t>5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234440" y="3035808"/>
            <a:ext cx="1828800" cy="10972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234440" y="3035808"/>
            <a:ext cx="1828800" cy="109728"/>
          </a:xfrm>
          <a:prstGeom prst="roundRect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234440" y="281635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A1A2E"/>
                </a:solidFill>
                <a:latin typeface="Meiryo"/>
              </a:defRPr>
            </a:pPr>
            <a:r>
              <a:t>エージェント型AI元年：Model Context Protocol（MCP）がLinux Foundationに寄付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3246120"/>
            <a:ext cx="6675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  <a:r>
              <a:t>AnthropicのModel Context Protocol（MCP）が「AI版USB-C」として業界標準化へ。OpenAIとMicrosoftが公式採用を表明し、Linux Foundation傘下のAgentic AI Foundationに寄付。Googleも自社製品接...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15200" y="3154680"/>
            <a:ext cx="4114800" cy="1005840"/>
          </a:xfrm>
          <a:prstGeom prst="roundRect">
            <a:avLst/>
          </a:prstGeom>
          <a:solidFill>
            <a:srgbClr val="E8F1F8"/>
          </a:solidFill>
          <a:ln w="12700">
            <a:solidFill>
              <a:srgbClr val="5BA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06640" y="3172968"/>
            <a:ext cx="3931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005BAB"/>
                </a:solidFill>
                <a:latin typeface="Meiryo"/>
              </a:defRPr>
            </a:pPr>
            <a:r>
              <a:t>IMPACT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06640" y="3355848"/>
            <a:ext cx="3931920" cy="731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900" b="0">
                <a:solidFill>
                  <a:srgbClr val="1A1A2E"/>
                </a:solidFill>
                <a:latin typeface="Meiryo"/>
              </a:defRPr>
            </a:pPr>
            <a:r>
              <a:t>AIエージェント開発の障壁が大幅に低下。スタートアップの参入機会拡大。既存ソフトウェアベンダーにAI統合の標準手法を提供。エンタープライズ導入の加速により、ソフトウェア業界の構造変化が進行。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411480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eiryo"/>
              </a:defRPr>
            </a:pPr>
            <a:r>
              <a:t>Anthropic  |  LLM  |  LLM Stats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4526280"/>
            <a:ext cx="11094415" cy="164592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4526280"/>
            <a:ext cx="54864" cy="1645920"/>
          </a:xfrm>
          <a:prstGeom prst="rect">
            <a:avLst/>
          </a:prstGeom>
          <a:solidFill>
            <a:srgbClr val="00A4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85800" y="4663440"/>
            <a:ext cx="457200" cy="457200"/>
          </a:xfrm>
          <a:prstGeom prst="ellipse">
            <a:avLst/>
          </a:prstGeom>
          <a:solidFill>
            <a:srgbClr val="00A4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5800" y="4663440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Meiryo"/>
              </a:defRPr>
            </a:pPr>
            <a:r>
              <a:t>5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234440" y="4818888"/>
            <a:ext cx="1828800" cy="10972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234440" y="4818888"/>
            <a:ext cx="1828800" cy="109728"/>
          </a:xfrm>
          <a:prstGeom prst="roundRect">
            <a:avLst/>
          </a:prstGeom>
          <a:solidFill>
            <a:srgbClr val="00A4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234440" y="459943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A1A2E"/>
                </a:solidFill>
                <a:latin typeface="Meiryo"/>
              </a:defRPr>
            </a:pPr>
            <a:r>
              <a:t>AIコード生成が主流化：Microsoft/Google共にコードの25-30%がAI生成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520" y="5029200"/>
            <a:ext cx="6675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  <a:r>
              <a:t>AIコード生成がAIの最初の主要ビジネスユースケースとして確立。Microsoftコードの30%、Googleコードの25%以上がAI生成に。OpenAI Codex、Anthropic Coworkプラグイン、GitHub Copilotが開発ワークフローに統合され、ソフトウェ...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315200" y="4937760"/>
            <a:ext cx="4114800" cy="1005840"/>
          </a:xfrm>
          <a:prstGeom prst="roundRect">
            <a:avLst/>
          </a:prstGeom>
          <a:solidFill>
            <a:srgbClr val="E8F1F8"/>
          </a:solidFill>
          <a:ln w="12700">
            <a:solidFill>
              <a:srgbClr val="5BA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406640" y="4956048"/>
            <a:ext cx="3931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005BAB"/>
                </a:solidFill>
                <a:latin typeface="Meiryo"/>
              </a:defRPr>
            </a:pPr>
            <a:r>
              <a:t>IMPACT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06640" y="5138928"/>
            <a:ext cx="3931920" cy="731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900" b="0">
                <a:solidFill>
                  <a:srgbClr val="1A1A2E"/>
                </a:solidFill>
                <a:latin typeface="Meiryo"/>
              </a:defRPr>
            </a:pPr>
            <a:r>
              <a:t>ソフトウェア開発生産性が2-3倍向上。ジュニア開発者の学習曲線が緩やかに。コードレビューとテストの重要性が増大。ソフトウェアエンジニアの需要構造が変化（量→質）。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1520" y="589788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eiryo"/>
              </a:defRPr>
            </a:pPr>
            <a:r>
              <a:t>Microsoft  |  Business  |  MIT Technology Review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Meiryo"/>
              </a:defRPr>
            </a:pPr>
            <a:r>
              <a:t>Top News (2/2)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4415" cy="9144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C757D"/>
                </a:solidFill>
                <a:latin typeface="Meiryo"/>
              </a:defRPr>
            </a:pPr>
            <a:r>
              <a:t>AI News Daily Deck  |  2026-02-10  |  Page 4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960120"/>
            <a:ext cx="11094415" cy="164592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960120"/>
            <a:ext cx="54864" cy="1645920"/>
          </a:xfrm>
          <a:prstGeom prst="rect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85800" y="1097280"/>
            <a:ext cx="457200" cy="457200"/>
          </a:xfrm>
          <a:prstGeom prst="ellipse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097280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Meiryo"/>
              </a:defRPr>
            </a:pPr>
            <a:r>
              <a:t>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234440" y="1252728"/>
            <a:ext cx="1828800" cy="10972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234440" y="1252728"/>
            <a:ext cx="1463040" cy="109728"/>
          </a:xfrm>
          <a:prstGeom prst="roundRect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34440" y="103327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A1A2E"/>
                </a:solidFill>
                <a:latin typeface="Meiryo"/>
              </a:defRPr>
            </a:pPr>
            <a:r>
              <a:t>OpenAI、Anthropicの15分後にCodexとGPT-5.3を発表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1463040"/>
            <a:ext cx="6675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  <a:r>
              <a:t>2月5日、OpenAIがエージェント型コーディングツールCodexとGPT-5.3 Codexモデルを発表。Anthropicのリリースのわずか15分後の発表となり、両社の激しい競争が浮き彫りに。Codexは今週初めにリリースされたツールの能力を加速する設計。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0" y="1371600"/>
            <a:ext cx="4114800" cy="1005840"/>
          </a:xfrm>
          <a:prstGeom prst="roundRect">
            <a:avLst/>
          </a:prstGeom>
          <a:solidFill>
            <a:srgbClr val="E8F1F8"/>
          </a:solidFill>
          <a:ln w="12700">
            <a:solidFill>
              <a:srgbClr val="5BA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06640" y="1389888"/>
            <a:ext cx="3931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005BAB"/>
                </a:solidFill>
                <a:latin typeface="Meiryo"/>
              </a:defRPr>
            </a:pPr>
            <a:r>
              <a:t>IMPACT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6640" y="1572768"/>
            <a:ext cx="3931920" cy="731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900" b="0">
                <a:solidFill>
                  <a:srgbClr val="1A1A2E"/>
                </a:solidFill>
                <a:latin typeface="Meiryo"/>
              </a:defRPr>
            </a:pPr>
            <a:r>
              <a:t>予測市場ではAnthropicに押され気味だが、開発者コミュニティでの強固な地位を維持。Microsoftコードの30%、Googleコードの25%以上がAI生成となり、実用化で先行。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23317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eiryo"/>
              </a:defRPr>
            </a:pPr>
            <a:r>
              <a:t>OpenAI  |  LLM  |  TechCrunch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2743200"/>
            <a:ext cx="11094415" cy="164592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2743200"/>
            <a:ext cx="54864" cy="1645920"/>
          </a:xfrm>
          <a:prstGeom prst="rect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85800" y="2880360"/>
            <a:ext cx="457200" cy="457200"/>
          </a:xfrm>
          <a:prstGeom prst="ellipse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2880360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Meiryo"/>
              </a:defRPr>
            </a:pPr>
            <a:r>
              <a:t>4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234440" y="3035808"/>
            <a:ext cx="1828800" cy="10972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234440" y="3035808"/>
            <a:ext cx="1463040" cy="109728"/>
          </a:xfrm>
          <a:prstGeom prst="roundRect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234440" y="281635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A1A2E"/>
                </a:solidFill>
                <a:latin typeface="Meiryo"/>
              </a:defRPr>
            </a:pPr>
            <a:r>
              <a:t>AI規制：コロラド州法施行を6月に延期、連邦vs州の対立激化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3246120"/>
            <a:ext cx="6675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  <a:r>
              <a:t>コロラド州がAI法の施行を2月1日から6月30日に延期。高リスクAIシステムに対するリスク管理とアルゴリズム差別の緩和を義務化。連邦政府は3月11日までに「過度な州法」の評価を公表予定で、州法の先制排除を示唆し連邦vs州の対立が表面化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15200" y="3154680"/>
            <a:ext cx="4114800" cy="1005840"/>
          </a:xfrm>
          <a:prstGeom prst="roundRect">
            <a:avLst/>
          </a:prstGeom>
          <a:solidFill>
            <a:srgbClr val="E8F1F8"/>
          </a:solidFill>
          <a:ln w="12700">
            <a:solidFill>
              <a:srgbClr val="5BA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06640" y="3172968"/>
            <a:ext cx="3931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005BAB"/>
                </a:solidFill>
                <a:latin typeface="Meiryo"/>
              </a:defRPr>
            </a:pPr>
            <a:r>
              <a:t>IMPACT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06640" y="3355848"/>
            <a:ext cx="3931920" cy="731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900" b="0">
                <a:solidFill>
                  <a:srgbClr val="1A1A2E"/>
                </a:solidFill>
                <a:latin typeface="Meiryo"/>
              </a:defRPr>
            </a:pPr>
            <a:r>
              <a:t>企業は複数州の異なる規制への対応コスト増加。連邦政府の先制排除により州法が無効化されるリスク。物理AI（ロボット、自動運転）への安全基準（ISO 26262）適用の厳格化。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411480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eiryo"/>
              </a:defRPr>
            </a:pPr>
            <a:r>
              <a:t>Other  |  Policy  |  National Law Review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4526280"/>
            <a:ext cx="11094415" cy="164592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4526280"/>
            <a:ext cx="54864" cy="1645920"/>
          </a:xfrm>
          <a:prstGeom prst="rect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85800" y="4663440"/>
            <a:ext cx="457200" cy="457200"/>
          </a:xfrm>
          <a:prstGeom prst="ellipse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5800" y="4663440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Meiryo"/>
              </a:defRPr>
            </a:pPr>
            <a:r>
              <a:t>4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234440" y="4818888"/>
            <a:ext cx="1828800" cy="10972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234440" y="4818888"/>
            <a:ext cx="1463040" cy="109728"/>
          </a:xfrm>
          <a:prstGeom prst="roundRect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234440" y="459943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A1A2E"/>
                </a:solidFill>
                <a:latin typeface="Meiryo"/>
              </a:defRPr>
            </a:pPr>
            <a:r>
              <a:t>AIスタートアップ資金調達ラッシュ：Goodfire 15億ドル評価、Fundamental 2.5億ドル調達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520" y="5029200"/>
            <a:ext cx="6675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  <a:r>
              <a:t>2月5日、AI関連スタートアップが大型資金調達を実施。FundamentalがシリーズAで2.5億ドル調達、GoodfireがシリーズBで1.5億ドル調達し評価額12.5億ドルに到達。Tomorrow.ioがDeepSky衛星ネットワーク展開で1.75億ドル調達。X-Humano..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315200" y="4937760"/>
            <a:ext cx="4114800" cy="1005840"/>
          </a:xfrm>
          <a:prstGeom prst="roundRect">
            <a:avLst/>
          </a:prstGeom>
          <a:solidFill>
            <a:srgbClr val="E8F1F8"/>
          </a:solidFill>
          <a:ln w="12700">
            <a:solidFill>
              <a:srgbClr val="5BA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406640" y="4956048"/>
            <a:ext cx="3931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005BAB"/>
                </a:solidFill>
                <a:latin typeface="Meiryo"/>
              </a:defRPr>
            </a:pPr>
            <a:r>
              <a:t>IMPACT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06640" y="5138928"/>
            <a:ext cx="3931920" cy="731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900" b="0">
                <a:solidFill>
                  <a:srgbClr val="1A1A2E"/>
                </a:solidFill>
                <a:latin typeface="Meiryo"/>
              </a:defRPr>
            </a:pPr>
            <a:r>
              <a:t>AIインフラ層への投資が加速。B Capital、Menlo Ventures、Lightspeed等の大手VCが積極参入。北京政府系ファンドがロボティクス分野に戦略投資。7桁規模のエンタープライズ契約が複数成立。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1520" y="589788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eiryo"/>
              </a:defRPr>
            </a:pPr>
            <a:r>
              <a:t>Other  |  Business  |  Tech Startups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Meiryo"/>
              </a:defRPr>
            </a:pPr>
            <a:r>
              <a:t>Global Market Impact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4415" cy="9144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C757D"/>
                </a:solidFill>
                <a:latin typeface="Meiryo"/>
              </a:defRPr>
            </a:pPr>
            <a:r>
              <a:t>AI News Daily Deck  |  2026-02-10  |  Page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012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A1A2E"/>
                </a:solidFill>
                <a:latin typeface="Meiryo"/>
              </a:defRPr>
            </a:pPr>
            <a:r>
              <a:t>2026年2月のAI業界は米国・中国・欧州の三極構造が鮮明化。米国はOpenAI、Anthropic、Googleが技術革新をリードし、ビッグテック4社が7000億ドルの巨額投資で圧倒的な資金力を発揮。中国はMoonshot AIとAlibabaがオープンソース戦略で急速に追い上げ、技術格差が数ヶ月から数週間に縮小。欧州はAI規制で先行するも技術開発では後塵を拝し、EU AI法施行を2028年に延期するなど産業競争力との両立に苦慮。量子コンピューティング実用化、エッジAI主流化、AI科学研究パートナー化など、AIが「道具」から「パートナー」へ進化する転換点を迎えている。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56655" y="9601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5BAB"/>
                </a:solidFill>
                <a:latin typeface="Meiryo"/>
              </a:defRPr>
            </a:pPr>
            <a:r>
              <a:t>KEY IMPACT POINTS</a:t>
            </a:r>
          </a:p>
        </p:txBody>
      </p:sp>
      <p:sp>
        <p:nvSpPr>
          <p:cNvPr id="8" name="Rectangle 7"/>
          <p:cNvSpPr/>
          <p:nvPr/>
        </p:nvSpPr>
        <p:spPr>
          <a:xfrm>
            <a:off x="6156655" y="1261872"/>
            <a:ext cx="1828800" cy="18288"/>
          </a:xfrm>
          <a:prstGeom prst="rect">
            <a:avLst/>
          </a:prstGeom>
          <a:solidFill>
            <a:srgbClr val="FF9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56655" y="1417320"/>
            <a:ext cx="5486400" cy="82296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56655" y="1417320"/>
            <a:ext cx="54864" cy="82296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266383" y="1600200"/>
            <a:ext cx="365760" cy="365760"/>
          </a:xfrm>
          <a:prstGeom prst="ellipse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66383" y="1600200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eiryo"/>
              </a:defRPr>
            </a:pPr>
            <a: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05295" y="1490472"/>
            <a:ext cx="4800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A1A2E"/>
                </a:solidFill>
                <a:latin typeface="Meiryo"/>
              </a:defRPr>
            </a:pPr>
            <a:r>
              <a:t>米中AI技術競争が新段階へ：中国企業のリリース遅延が数週間に短縮し、一部領域で逆転の可能性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56655" y="2331720"/>
            <a:ext cx="5486400" cy="82296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56655" y="2331720"/>
            <a:ext cx="54864" cy="822960"/>
          </a:xfrm>
          <a:prstGeom prst="rect">
            <a:avLst/>
          </a:prstGeom>
          <a:solidFill>
            <a:srgbClr val="5BA4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266383" y="2514600"/>
            <a:ext cx="365760" cy="365760"/>
          </a:xfrm>
          <a:prstGeom prst="ellipse">
            <a:avLst/>
          </a:prstGeom>
          <a:solidFill>
            <a:srgbClr val="5BA4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66383" y="2514600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eiryo"/>
              </a:defRPr>
            </a:pPr>
            <a: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05295" y="2404872"/>
            <a:ext cx="4800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A1A2E"/>
                </a:solidFill>
                <a:latin typeface="Meiryo"/>
              </a:defRPr>
            </a:pPr>
            <a:r>
              <a:t>量子コンピューティング実用化元年：IBM古典超越宣言、Microsoft数百万量子ビットチップで創薬・AI最適化に革命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56655" y="3246120"/>
            <a:ext cx="5486400" cy="82296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56655" y="3246120"/>
            <a:ext cx="54864" cy="822960"/>
          </a:xfrm>
          <a:prstGeom prst="rect">
            <a:avLst/>
          </a:prstGeom>
          <a:solidFill>
            <a:srgbClr val="FF9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266383" y="3429000"/>
            <a:ext cx="365760" cy="365760"/>
          </a:xfrm>
          <a:prstGeom prst="ellipse">
            <a:avLst/>
          </a:prstGeom>
          <a:solidFill>
            <a:srgbClr val="FF9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66383" y="3429000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eiryo"/>
              </a:defRPr>
            </a:pPr>
            <a: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05295" y="3319272"/>
            <a:ext cx="4800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A1A2E"/>
                </a:solidFill>
                <a:latin typeface="Meiryo"/>
              </a:defRPr>
            </a:pPr>
            <a:r>
              <a:t>AIが科学研究パートナーに進化：仮説生成から実験制御まで担い、研究開発サイクルが劇的に加速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56655" y="4160520"/>
            <a:ext cx="5486400" cy="82296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56655" y="4160520"/>
            <a:ext cx="54864" cy="822960"/>
          </a:xfrm>
          <a:prstGeom prst="rect">
            <a:avLst/>
          </a:prstGeom>
          <a:solidFill>
            <a:srgbClr val="003D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266383" y="4343400"/>
            <a:ext cx="365760" cy="365760"/>
          </a:xfrm>
          <a:prstGeom prst="ellipse">
            <a:avLst/>
          </a:prstGeom>
          <a:solidFill>
            <a:srgbClr val="003D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66383" y="4343400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eiryo"/>
              </a:defRPr>
            </a:pPr>
            <a: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05295" y="4233672"/>
            <a:ext cx="4800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A1A2E"/>
                </a:solidFill>
                <a:latin typeface="Meiryo"/>
              </a:defRPr>
            </a:pPr>
            <a:r>
              <a:t>エージェント型AI標準化：Model Context Protocol（MCP）がLinux Foundationへ寄付、業界標準として確立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Meiryo"/>
              </a:defRPr>
            </a:pPr>
            <a:r>
              <a:t>日本市場インパクト &amp; アクション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4415" cy="9144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C757D"/>
                </a:solidFill>
                <a:latin typeface="Meiryo"/>
              </a:defRPr>
            </a:pPr>
            <a:r>
              <a:t>AI News Daily Deck  |  2026-02-10  |  Page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012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05BAB"/>
                </a:solidFill>
                <a:latin typeface="Meiryo"/>
              </a:defRPr>
            </a:pPr>
            <a:r>
              <a:t>日本市場への影響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261872"/>
            <a:ext cx="1371600" cy="18288"/>
          </a:xfrm>
          <a:prstGeom prst="rect">
            <a:avLst/>
          </a:prstGeom>
          <a:solidFill>
            <a:srgbClr val="FF9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417320"/>
            <a:ext cx="5303520" cy="86868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417320"/>
            <a:ext cx="54864" cy="86868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8368" y="1618488"/>
            <a:ext cx="384048" cy="384048"/>
          </a:xfrm>
          <a:prstGeom prst="ellipse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618488"/>
            <a:ext cx="384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eiryo"/>
              </a:defRPr>
            </a:pPr>
            <a: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1490472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  <a:r>
              <a:t>日本企業のAI投資規模が米中ビッグテックと比較して圧倒的に不足、競争力低下のリスク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377440"/>
            <a:ext cx="5303520" cy="86868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2377440"/>
            <a:ext cx="54864" cy="868680"/>
          </a:xfrm>
          <a:prstGeom prst="rect">
            <a:avLst/>
          </a:prstGeom>
          <a:solidFill>
            <a:srgbClr val="5BA4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58368" y="2578608"/>
            <a:ext cx="384048" cy="384048"/>
          </a:xfrm>
          <a:prstGeom prst="ellipse">
            <a:avLst/>
          </a:prstGeom>
          <a:solidFill>
            <a:srgbClr val="5BA4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2578608"/>
            <a:ext cx="384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eiryo"/>
              </a:defRPr>
            </a:pPr>
            <a: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2450592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  <a:r>
              <a:t>グローバル展開企業は米国州法・EU AI法・中国規制の複数対応が必須、コンプライアンスコスト増大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3337560"/>
            <a:ext cx="5303520" cy="86868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3337560"/>
            <a:ext cx="54864" cy="86868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58368" y="3538728"/>
            <a:ext cx="384048" cy="384048"/>
          </a:xfrm>
          <a:prstGeom prst="ellipse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3538728"/>
            <a:ext cx="384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eiryo"/>
              </a:defRPr>
            </a:pPr>
            <a: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" y="3410712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  <a:r>
              <a:t>エッジAI・オンデバイスAI領域で日本の電機・半導体メーカーが競争力を発揮できる可能性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297680"/>
            <a:ext cx="5303520" cy="86868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4297680"/>
            <a:ext cx="54864" cy="868680"/>
          </a:xfrm>
          <a:prstGeom prst="rect">
            <a:avLst/>
          </a:prstGeom>
          <a:solidFill>
            <a:srgbClr val="5BA4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58368" y="4498848"/>
            <a:ext cx="384048" cy="384048"/>
          </a:xfrm>
          <a:prstGeom prst="ellipse">
            <a:avLst/>
          </a:prstGeom>
          <a:solidFill>
            <a:srgbClr val="5BA4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4498848"/>
            <a:ext cx="384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eiryo"/>
              </a:defRPr>
            </a:pPr>
            <a: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3000" y="4370832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  <a:r>
              <a:t>AI人材不足が深刻化する中、AIコード生成・AI研究パートナー活用による生産性向上が急務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6655" y="960120"/>
            <a:ext cx="5486400" cy="548640"/>
          </a:xfrm>
          <a:prstGeom prst="roundRect">
            <a:avLst/>
          </a:prstGeom>
          <a:solidFill>
            <a:srgbClr val="FF9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39535" y="105156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Meiryo"/>
              </a:defRPr>
            </a:pPr>
            <a:r>
              <a:t>■  ACTION ITEMS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56655" y="1645920"/>
            <a:ext cx="5486400" cy="914400"/>
          </a:xfrm>
          <a:prstGeom prst="roundRect">
            <a:avLst/>
          </a:prstGeom>
          <a:solidFill>
            <a:srgbClr val="E8F1F8"/>
          </a:solidFill>
          <a:ln w="12700">
            <a:solidFill>
              <a:srgbClr val="5BA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293815" y="1874520"/>
            <a:ext cx="320040" cy="3200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F96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93815" y="1874520"/>
            <a:ext cx="32004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FF961C"/>
                </a:solidFill>
                <a:latin typeface="Meiryo"/>
              </a:defRPr>
            </a:pPr>
            <a:r>
              <a:t>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05295" y="1737360"/>
            <a:ext cx="4800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  <a:r>
              <a:t>エッジAI・オンデバイスAI領域への戦略的投資集中（日本企業の強みを活かせる領域）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56655" y="2670048"/>
            <a:ext cx="5486400" cy="914400"/>
          </a:xfrm>
          <a:prstGeom prst="roundRect">
            <a:avLst/>
          </a:prstGeom>
          <a:solidFill>
            <a:srgbClr val="E8F1F8"/>
          </a:solidFill>
          <a:ln w="12700">
            <a:solidFill>
              <a:srgbClr val="5BA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293815" y="2898648"/>
            <a:ext cx="320040" cy="3200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F96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293815" y="2898648"/>
            <a:ext cx="32004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FF961C"/>
                </a:solidFill>
                <a:latin typeface="Meiryo"/>
              </a:defRPr>
            </a:pPr>
            <a:r>
              <a:t>✓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05295" y="2761488"/>
            <a:ext cx="4800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  <a:r>
              <a:t>Model Context Protocol（MCP）等の国際標準への早期参画とエコシステム構築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156655" y="3694176"/>
            <a:ext cx="5486400" cy="914400"/>
          </a:xfrm>
          <a:prstGeom prst="roundRect">
            <a:avLst/>
          </a:prstGeom>
          <a:solidFill>
            <a:srgbClr val="E8F1F8"/>
          </a:solidFill>
          <a:ln w="12700">
            <a:solidFill>
              <a:srgbClr val="5BA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6293815" y="3922776"/>
            <a:ext cx="320040" cy="3200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F96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93815" y="3922776"/>
            <a:ext cx="32004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FF961C"/>
                </a:solidFill>
                <a:latin typeface="Meiryo"/>
              </a:defRPr>
            </a:pPr>
            <a:r>
              <a:t>✓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705295" y="3785616"/>
            <a:ext cx="4800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  <a:r>
              <a:t>AIコード生成ツールの積極導入による開発生産性向上と人材不足の緩和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156655" y="4718304"/>
            <a:ext cx="5486400" cy="914400"/>
          </a:xfrm>
          <a:prstGeom prst="roundRect">
            <a:avLst/>
          </a:prstGeom>
          <a:solidFill>
            <a:srgbClr val="E8F1F8"/>
          </a:solidFill>
          <a:ln w="12700">
            <a:solidFill>
              <a:srgbClr val="5BA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6293815" y="4946904"/>
            <a:ext cx="320040" cy="3200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F96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293815" y="4946904"/>
            <a:ext cx="32004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FF961C"/>
                </a:solidFill>
                <a:latin typeface="Meiryo"/>
              </a:defRPr>
            </a:pPr>
            <a:r>
              <a:t>✓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705295" y="4809744"/>
            <a:ext cx="4800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  <a:r>
              <a:t>量子コンピューティング・AIハイブリッド研究への先行投資（創薬・材料科学での競争力確保）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156655" y="5742432"/>
            <a:ext cx="5486400" cy="914400"/>
          </a:xfrm>
          <a:prstGeom prst="roundRect">
            <a:avLst/>
          </a:prstGeom>
          <a:solidFill>
            <a:srgbClr val="E8F1F8"/>
          </a:solidFill>
          <a:ln w="12700">
            <a:solidFill>
              <a:srgbClr val="5BA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6293815" y="5971032"/>
            <a:ext cx="320040" cy="3200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F96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293815" y="5971032"/>
            <a:ext cx="32004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FF961C"/>
                </a:solidFill>
                <a:latin typeface="Meiryo"/>
              </a:defRPr>
            </a:pPr>
            <a:r>
              <a:t>✓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705295" y="5833872"/>
            <a:ext cx="4800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  <a:r>
              <a:t>グローバルAI規制対応体制の早期構築（特に米国州法とEU AI法のコンプライアンス）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Meiryo"/>
              </a:defRPr>
            </a:pPr>
            <a:r>
              <a:t>AI業界標準規格 / プロトコル一覧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4415" cy="9144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C757D"/>
                </a:solidFill>
                <a:latin typeface="Meiryo"/>
              </a:defRPr>
            </a:pPr>
            <a:r>
              <a:t>AI News Daily Deck  |  2026-02-10  |  Page 7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960120"/>
          <a:ext cx="11094415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1645920"/>
                <a:gridCol w="1371600"/>
                <a:gridCol w="914400"/>
                <a:gridCol w="5699455"/>
              </a:tblGrid>
              <a:tr h="59436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Meiryo"/>
                        </a:defRPr>
                      </a:pPr>
                      <a:r>
                        <a:t>規格名</a:t>
                      </a:r>
                    </a:p>
                  </a:txBody>
                  <a:tcPr>
                    <a:solidFill>
                      <a:srgbClr val="005BA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Meiryo"/>
                        </a:defRPr>
                      </a:pPr>
                      <a:r>
                        <a:t>発表元</a:t>
                      </a:r>
                    </a:p>
                  </a:txBody>
                  <a:tcPr>
                    <a:solidFill>
                      <a:srgbClr val="005BA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Meiryo"/>
                        </a:defRPr>
                      </a:pPr>
                      <a:r>
                        <a:t>レイヤー</a:t>
                      </a:r>
                    </a:p>
                  </a:txBody>
                  <a:tcPr>
                    <a:solidFill>
                      <a:srgbClr val="005BA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Meiryo"/>
                        </a:defRPr>
                      </a:pPr>
                      <a:r>
                        <a:t>発表日</a:t>
                      </a:r>
                    </a:p>
                  </a:txBody>
                  <a:tcPr>
                    <a:solidFill>
                      <a:srgbClr val="005BA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Meiryo"/>
                        </a:defRPr>
                      </a:pPr>
                      <a:r>
                        <a:t>概要</a:t>
                      </a:r>
                    </a:p>
                  </a:txBody>
                  <a:tcPr>
                    <a:solidFill>
                      <a:srgbClr val="005BAB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05BAB"/>
                          </a:solidFill>
                          <a:latin typeface="Meiryo"/>
                        </a:defRPr>
                      </a:pPr>
                      <a:r>
                        <a:t>MCP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Anthropic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5BA4D9"/>
                          </a:solidFill>
                          <a:latin typeface="Meiryo"/>
                        </a:defRPr>
                      </a:pPr>
                      <a:r>
                        <a:t>Agent-Tool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6C757D"/>
                          </a:solidFill>
                          <a:latin typeface="Meiryo"/>
                        </a:defRPr>
                      </a:pPr>
                      <a:r>
                        <a:t>2024-11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AIモデルを外部データソース・ツールに接続するオープン標準。10,000以上のMCPサーバーが公開済み。OpenAI・Google・Microsoft等が採用。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05BAB"/>
                          </a:solidFill>
                          <a:latin typeface="Meiryo"/>
                        </a:defRPr>
                      </a:pPr>
                      <a:r>
                        <a:t>A2A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Google Cloud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5BA4D9"/>
                          </a:solidFill>
                          <a:latin typeface="Meiryo"/>
                        </a:defRPr>
                      </a:pPr>
                      <a:r>
                        <a:t>Agent-Agent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6C757D"/>
                          </a:solidFill>
                          <a:latin typeface="Meiryo"/>
                        </a:defRPr>
                      </a:pPr>
                      <a:r>
                        <a:t>2025-04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異なるプラットフォーム・ベンダー間でAIエージェント同士が通信・協働するオープンプロトコル。MCPの補完的位置づけ。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05BAB"/>
                          </a:solidFill>
                          <a:latin typeface="Meiryo"/>
                        </a:defRPr>
                      </a:pPr>
                      <a:r>
                        <a:t>Agent Skills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Anthropic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5BA4D9"/>
                          </a:solidFill>
                          <a:latin typeface="Meiryo"/>
                        </a:defRPr>
                      </a:pPr>
                      <a:r>
                        <a:t>Agent Capability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6C757D"/>
                          </a:solidFill>
                          <a:latin typeface="Meiryo"/>
                        </a:defRPr>
                      </a:pPr>
                      <a:r>
                        <a:t>2025-12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AIエージェントに再現可能なワークフローを教えるオープン標準。SKILL.mdベースのプログレッシブ・ディスクロージャー方式。Microsoft・OpenAI等が採用。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05BAB"/>
                          </a:solidFill>
                          <a:latin typeface="Meiryo"/>
                        </a:defRPr>
                      </a:pPr>
                      <a:r>
                        <a:t>UCP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Google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5BA4D9"/>
                          </a:solidFill>
                          <a:latin typeface="Meiryo"/>
                        </a:defRPr>
                      </a:pPr>
                      <a:r>
                        <a:t>Commerce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6C757D"/>
                          </a:solidFill>
                          <a:latin typeface="Meiryo"/>
                        </a:defRPr>
                      </a:pPr>
                      <a:r>
                        <a:t>2026-01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AIエージェント経由の商取引を標準化。A2A・MCP・AP2を統合オーケストレーションする上位プロトコル。Shopify・Walmart等が支持。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05BAB"/>
                          </a:solidFill>
                          <a:latin typeface="Meiryo"/>
                        </a:defRPr>
                      </a:pPr>
                      <a:r>
                        <a:t>ACP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OpenAI + Stripe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5BA4D9"/>
                          </a:solidFill>
                          <a:latin typeface="Meiryo"/>
                        </a:defRPr>
                      </a:pPr>
                      <a:r>
                        <a:t>Commerce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6C757D"/>
                          </a:solidFill>
                          <a:latin typeface="Meiryo"/>
                        </a:defRPr>
                      </a:pPr>
                      <a:r>
                        <a:t>2025-09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AIエージェント経由の商取引フローを実現するオープン標準。物理/デジタル商品、サブスクリプション対応。ChatGPTで実装済み。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05BAB"/>
                          </a:solidFill>
                          <a:latin typeface="Meiryo"/>
                        </a:defRPr>
                      </a:pPr>
                      <a:r>
                        <a:t>AGENTS.md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OpenAI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5BA4D9"/>
                          </a:solidFill>
                          <a:latin typeface="Meiryo"/>
                        </a:defRPr>
                      </a:pPr>
                      <a:r>
                        <a:t>Project Instruction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6C757D"/>
                          </a:solidFill>
                          <a:latin typeface="Meiryo"/>
                        </a:defRPr>
                      </a:pPr>
                      <a:r>
                        <a:t>2025-08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AIコーディングエージェントにプロジェクト固有のガイダンスを提供するMarkdownベース規約。Copilot・Cursor・Gemini CLI等が対応。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05BAB"/>
                          </a:solidFill>
                          <a:latin typeface="Meiryo"/>
                        </a:defRPr>
                      </a:pPr>
                      <a:r>
                        <a:t>ANP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ANP Community (中国移動/Huawei等)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5BA4D9"/>
                          </a:solidFill>
                          <a:latin typeface="Meiryo"/>
                        </a:defRPr>
                      </a:pPr>
                      <a:r>
                        <a:t>Network Discovery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6C757D"/>
                          </a:solidFill>
                          <a:latin typeface="Meiryo"/>
                        </a:defRPr>
                      </a:pPr>
                      <a:r>
                        <a:t>2025-10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数十億のエージェントのためのネットワークプロトコル。W3C DIDによるID認証、JSON-LDによる能力公開の3層アーキテクチャ。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897880"/>
            <a:ext cx="110944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C757D"/>
                </a:solidFill>
                <a:latin typeface="Meiryo"/>
              </a:defRPr>
            </a:pPr>
            <a:r>
              <a:t>※ キャッチアップ時に自動更新  |  各公式サイトで最新情報をご確認ください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Meiryo"/>
              </a:defRPr>
            </a:pPr>
            <a:r>
              <a:t>Data Dashboard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4415" cy="9144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C757D"/>
                </a:solidFill>
                <a:latin typeface="Meiryo"/>
              </a:defRPr>
            </a:pPr>
            <a:r>
              <a:t>AI News Daily Deck  |  2026-02-10  |  Page 8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005840"/>
            <a:ext cx="5394960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5BA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ompany_impor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051560"/>
            <a:ext cx="5303520" cy="246888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355080" y="1005840"/>
            <a:ext cx="5394960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5BA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heat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051560"/>
            <a:ext cx="5303520" cy="246888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94360" y="3657600"/>
            <a:ext cx="5394960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5BA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importance_donu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3703320"/>
            <a:ext cx="5303520" cy="246888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6355080" y="3657600"/>
            <a:ext cx="5394960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5BA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news_landscap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0" y="3703320"/>
            <a:ext cx="5303520" cy="246888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Meiryo"/>
              </a:defRPr>
            </a:pPr>
            <a:r>
              <a:t>Sources (引用元一覧)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4415" cy="9144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C757D"/>
                </a:solidFill>
                <a:latin typeface="Meiryo"/>
              </a:defRPr>
            </a:pPr>
            <a:r>
              <a:t>AI News Daily Deck  |  2026-02-10  |  Page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0120"/>
            <a:ext cx="5303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</a:p>
          <a:p>
            <a:pPr>
              <a:spcBef>
                <a:spcPts val="300"/>
              </a:spcBef>
              <a:defRPr sz="1100" b="0">
                <a:solidFill>
                  <a:srgbClr val="6C757D"/>
                </a:solidFill>
                <a:latin typeface="Meiryo"/>
              </a:defRPr>
            </a:pPr>
            <a:r>
              <a:t>► LLM Stats: https://llm-stats.com/llm-updates</a:t>
            </a:r>
          </a:p>
          <a:p>
            <a:pPr>
              <a:spcBef>
                <a:spcPts val="300"/>
              </a:spcBef>
              <a:defRPr sz="1100" b="0">
                <a:solidFill>
                  <a:srgbClr val="6C757D"/>
                </a:solidFill>
                <a:latin typeface="Meiryo"/>
              </a:defRPr>
            </a:pPr>
            <a:r>
              <a:t>► Tech Startups: https://techstartups.com/2026/02/05/top-startup-and-tech-funding-news-february-5-2025/</a:t>
            </a:r>
          </a:p>
          <a:p>
            <a:pPr>
              <a:spcBef>
                <a:spcPts val="300"/>
              </a:spcBef>
              <a:defRPr sz="1100" b="0">
                <a:solidFill>
                  <a:srgbClr val="6C757D"/>
                </a:solidFill>
                <a:latin typeface="Meiryo"/>
              </a:defRPr>
            </a:pPr>
            <a:r>
              <a:t>► MIT Technology Review: https://www.technologyreview.com/2026/01/05/1130662/whats-next-for-ai-in-2026/</a:t>
            </a:r>
          </a:p>
          <a:p>
            <a:pPr>
              <a:spcBef>
                <a:spcPts val="300"/>
              </a:spcBef>
              <a:defRPr sz="1100" b="0">
                <a:solidFill>
                  <a:srgbClr val="6C757D"/>
                </a:solidFill>
                <a:latin typeface="Meiryo"/>
              </a:defRPr>
            </a:pPr>
            <a:r>
              <a:t>► IBM: https://www.ibm.com/think/news/ai-tech-trends-predictions-2026</a:t>
            </a:r>
          </a:p>
          <a:p>
            <a:pPr>
              <a:spcBef>
                <a:spcPts val="300"/>
              </a:spcBef>
              <a:defRPr sz="1100" b="0">
                <a:solidFill>
                  <a:srgbClr val="6C757D"/>
                </a:solidFill>
                <a:latin typeface="Meiryo"/>
              </a:defRPr>
            </a:pPr>
            <a:r>
              <a:t>► MIT Sloan Management Review: https://sloanreview.mit.edu/article/five-trends-in-ai-and-data-science-for-2026/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56655" y="960120"/>
            <a:ext cx="5486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</a:p>
          <a:p>
            <a:pPr>
              <a:spcBef>
                <a:spcPts val="300"/>
              </a:spcBef>
              <a:defRPr sz="1100" b="0">
                <a:solidFill>
                  <a:srgbClr val="6C757D"/>
                </a:solidFill>
                <a:latin typeface="Meiryo"/>
              </a:defRPr>
            </a:pPr>
            <a:r>
              <a:t>► National Law Review: https://natlawreview.com/article/2026-outlook-artificial-intelligence</a:t>
            </a:r>
          </a:p>
          <a:p>
            <a:pPr>
              <a:spcBef>
                <a:spcPts val="300"/>
              </a:spcBef>
              <a:defRPr sz="1100" b="0">
                <a:solidFill>
                  <a:srgbClr val="6C757D"/>
                </a:solidFill>
                <a:latin typeface="Meiryo"/>
              </a:defRPr>
            </a:pPr>
            <a:r>
              <a:t>► TechCrunch: https://techcrunch.com/2026/02/05/openai-launches-new-agentic-coding-model-only-minutes-after-anthropic-drops-its-own/</a:t>
            </a:r>
          </a:p>
          <a:p>
            <a:pPr>
              <a:spcBef>
                <a:spcPts val="300"/>
              </a:spcBef>
              <a:defRPr sz="1100" b="0">
                <a:solidFill>
                  <a:srgbClr val="6C757D"/>
                </a:solidFill>
                <a:latin typeface="Meiryo"/>
              </a:defRPr>
            </a:pPr>
            <a:r>
              <a:t>► CNN Business: https://www.cnn.com/2026/02/05/tech/anthropic-opus-update-software-stocks</a:t>
            </a:r>
          </a:p>
          <a:p>
            <a:pPr>
              <a:spcBef>
                <a:spcPts val="300"/>
              </a:spcBef>
              <a:defRPr sz="1100" b="0">
                <a:solidFill>
                  <a:srgbClr val="6C757D"/>
                </a:solidFill>
                <a:latin typeface="Meiryo"/>
              </a:defRPr>
            </a:pPr>
            <a:r>
              <a:t>► MIT Technology Review: https://www.technologyreview.com/2026/01/12/1130027/generative-coding-ai-software-2026-breakthrough-technology</a:t>
            </a:r>
          </a:p>
          <a:p>
            <a:pPr>
              <a:spcBef>
                <a:spcPts val="300"/>
              </a:spcBef>
              <a:defRPr sz="1100" b="0">
                <a:solidFill>
                  <a:srgbClr val="6C757D"/>
                </a:solidFill>
                <a:latin typeface="Meiryo"/>
              </a:defRPr>
            </a:pPr>
            <a:r>
              <a:t>► Axios: https://www.axios.com/2026/02/06/amazon-microsoft-meta-ai-investment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6126480"/>
            <a:ext cx="103628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C757D"/>
                </a:solidFill>
                <a:latin typeface="Meiryo"/>
              </a:defRPr>
            </a:pPr>
            <a:r>
              <a:t>AI News Daily Deck - Generated by Claude Code | 情報の正確性は各ソースをご確認ください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