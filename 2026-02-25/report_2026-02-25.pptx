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05BAB"/>
                </a:solidFill>
                <a:latin typeface="Meiryo"/>
              </a:defRPr>
            </a:pPr>
            <a:r>
              <a:t>AI News Daily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00400"/>
            <a:ext cx="2743200" cy="45720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6C757D"/>
                </a:solidFill>
                <a:latin typeface="Meiryo"/>
              </a:defRPr>
            </a:pPr>
            <a:r>
              <a:t>2026-02-25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754880"/>
            <a:ext cx="2743200" cy="100584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4754880"/>
            <a:ext cx="2743200" cy="36576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864608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5BAB"/>
                </a:solidFill>
                <a:latin typeface="Meiryo"/>
              </a:rPr>
              <a:t>10</a:t>
            </a:r>
            <a:r>
              <a:rPr sz="1400">
                <a:solidFill>
                  <a:srgbClr val="6C757D"/>
                </a:solidFill>
                <a:latin typeface="Meiryo"/>
              </a:rPr>
              <a:t> 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394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Total News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4754880"/>
            <a:ext cx="2743200" cy="100584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0" y="4754880"/>
            <a:ext cx="2743200" cy="36576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4864608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5BAB"/>
                </a:solidFill>
                <a:latin typeface="Meiryo"/>
              </a:rPr>
              <a:t>7</a:t>
            </a:r>
            <a:r>
              <a:rPr sz="1400">
                <a:solidFill>
                  <a:srgbClr val="6C757D"/>
                </a:solidFill>
                <a:latin typeface="Meiryo"/>
              </a:rPr>
              <a:t> 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5394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High Impact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4754880"/>
            <a:ext cx="2743200" cy="100584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0" y="4754880"/>
            <a:ext cx="2743200" cy="36576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4864608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5BAB"/>
                </a:solidFill>
                <a:latin typeface="Meiryo"/>
              </a:rPr>
              <a:t>5</a:t>
            </a:r>
            <a:r>
              <a:rPr sz="1400">
                <a:solidFill>
                  <a:srgbClr val="6C757D"/>
                </a:solidFill>
                <a:latin typeface="Meiryo"/>
              </a:rPr>
              <a:t> 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5394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Companies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2026-02-25  |  Page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60120"/>
            <a:ext cx="2468880" cy="105156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960120"/>
            <a:ext cx="2468880" cy="36576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051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Total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075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5BAB"/>
                </a:solidFill>
                <a:latin typeface="Meiryo"/>
              </a:rPr>
              <a:t>10</a:t>
            </a:r>
            <a:r>
              <a:rPr sz="1400">
                <a:solidFill>
                  <a:srgbClr val="6C757D"/>
                </a:solidFill>
                <a:latin typeface="Meiryo"/>
              </a:rPr>
              <a:t> 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960120"/>
            <a:ext cx="2468880" cy="105156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960120"/>
            <a:ext cx="2468880" cy="36576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051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Top Company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3075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5BAB"/>
                </a:solidFill>
                <a:latin typeface="Meiryo"/>
              </a:rPr>
              <a:t>Other</a:t>
            </a:r>
            <a:r>
              <a:rPr sz="1400">
                <a:solidFill>
                  <a:srgbClr val="6C757D"/>
                </a:solidFill>
                <a:latin typeface="Meiryo"/>
              </a:rPr>
              <a:t> 4件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960120"/>
            <a:ext cx="2468880" cy="105156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960120"/>
            <a:ext cx="2468880" cy="36576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051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High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3075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5BAB"/>
                </a:solidFill>
                <a:latin typeface="Meiryo"/>
              </a:rPr>
              <a:t>7</a:t>
            </a:r>
            <a:r>
              <a:rPr sz="1400">
                <a:solidFill>
                  <a:srgbClr val="6C757D"/>
                </a:solidFill>
                <a:latin typeface="Meiryo"/>
              </a:rPr>
              <a:t> 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960120"/>
            <a:ext cx="2468880" cy="105156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69680" y="960120"/>
            <a:ext cx="2468880" cy="36576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1051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Companies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13075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5BAB"/>
                </a:solidFill>
                <a:latin typeface="Meiryo"/>
              </a:rPr>
              <a:t>5</a:t>
            </a:r>
            <a:r>
              <a:rPr sz="1400">
                <a:solidFill>
                  <a:srgbClr val="6C757D"/>
                </a:solidFill>
                <a:latin typeface="Meiryo"/>
              </a:rPr>
              <a:t> 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331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KEY TAKEAWAYS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624328"/>
            <a:ext cx="1828800" cy="18288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2743200"/>
            <a:ext cx="11094415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2743200"/>
            <a:ext cx="54864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5800" y="2852928"/>
            <a:ext cx="384048" cy="384048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285292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2816352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Meta、AMDから$100B（6ギガワット）のAIチップ調達を発表（2月24日）。ワラント経由でAMD株10%取得権を獲得し、NVIDIAへの依存を低減。2026年下半期から段階的な1GW展開開始により、2026-2027年にかけてインフラ支出は$135B超に達する見通し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520440"/>
            <a:ext cx="11094415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3520440"/>
            <a:ext cx="54864" cy="685800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5800" y="3630168"/>
            <a:ext cx="384048" cy="384048"/>
          </a:xfrm>
          <a:prstGeom prst="ellipse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63016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3593592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Google Gemini 3.1 Proが推論ベンチマーク（ARC-AGI-2）で77.1%を達成し、前世代31.1%から2.5倍のジャンプ。AnthropicはClaude Sonnet 4.6をOpus 4.6から12日後に投入し、Opus級性能を1/5価格で提供開始。モデル層での競争が二者対立から三社三様へ移行...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297680"/>
            <a:ext cx="11094415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4297680"/>
            <a:ext cx="54864" cy="685800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85800" y="4407408"/>
            <a:ext cx="384048" cy="384048"/>
          </a:xfrm>
          <a:prstGeom prst="ellipse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40740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4370832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ChatGPT Webシェアが1年で86.7%→64.5%に22ポイント低下。同期間Geminiは1月時点で21.5%に達成し初めて20%超を突破。Grokは2.1%→3.4%に上昇し、市場が『ChatGPT一強』から『複数大手並存』へ構造転換。デスクトップアプリ利用を含めた実利用シェアとの乖離に注意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074920"/>
            <a:ext cx="11094415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5074920"/>
            <a:ext cx="54864" cy="685800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85800" y="5184648"/>
            <a:ext cx="384048" cy="384048"/>
          </a:xfrm>
          <a:prstGeom prst="ellipse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18464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" y="5148072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米国防長官Hegseth とAnthropicのDario Amodei CEO が軍事AI活用巡る会談（2月25日予定）。Anthropicは分類軍事ネットワーク唯一の承認企業だが、Amodeiは自律型ドローンと大量監視に倫理的懸念を表明。政策と企業倫理の衝突が顕在化。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852160"/>
            <a:ext cx="11094415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852160"/>
            <a:ext cx="54864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85800" y="5961888"/>
            <a:ext cx="384048" cy="384048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596188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88720" y="5925312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日本、AI ガイドライン改訂で『人間の判断必須ルール』を明記。Society 5.0の『人間中心社会』構想と連動し、シリコンバレーの無監督エージェント開発とは異なる統制型アプローチを採用。2026年内の具体的ルール形成が焦点。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TODAY'S HIGHLIGHT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2026-02-25  |  Page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eiryo"/>
              </a:defRPr>
            </a:pPr>
            <a:r>
              <a:t>Meta、AMDから$100B規模のAIチップ調達で契約—6ギガワット展開、AMD株10%ワラント付き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Meiryo"/>
              </a:defRPr>
            </a:pPr>
            <a:r>
              <a:t>Meta  |  Infrastructure  |  ★★★★★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2743200" cy="109728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057400"/>
            <a:ext cx="2743200" cy="109728"/>
          </a:xfrm>
          <a:prstGeom prst="round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Meta Platforms は2月24日、Advanced Micro Devices (AMD) との多年契約を発表。最大$100B の AI チップ調達で 6 ギガワット（6GW）の計算能力を確保する。契約には業績連動型ワラントが含まれ、Meta は AMD 普通株式 160 万株（最大AMD の約10%）を行使価格 1 セント当たりで取得可能。初回 1GW 展開は 2026 年下半期から始まり、段階的に 6GW に拡張される予定。AMD の MI540 シリーズ GPU と最新世代 CP...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77640"/>
            <a:ext cx="530352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977640"/>
            <a:ext cx="54864" cy="82296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8368" y="4160520"/>
            <a:ext cx="365760" cy="36576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416052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023360"/>
            <a:ext cx="4617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206240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Meta のマルチベンダー戦略が確定することで、NVIDIA の独占的地位が相対化。AMD の市場評価は +8% 上昇し、市場予想では AMD の 2026 年売上が前年比 35-40% 増加を示唆。一方、NVIDIA にも競争刺激をもたら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937760"/>
            <a:ext cx="530352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937760"/>
            <a:ext cx="54864" cy="822960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8368" y="5120640"/>
            <a:ext cx="365760" cy="365760"/>
          </a:xfrm>
          <a:prstGeom prst="ellipse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12064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983480"/>
            <a:ext cx="4617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BA4D9"/>
                </a:solidFill>
                <a:latin typeface="Meiryo"/>
              </a:defRPr>
            </a:pPr>
            <a:r>
              <a:t>Outlook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166360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2026 年下半期から 2028 年にかけて、Meta は段階的に 6GW を展開し、総投資額は $100B に到達予定。同期間に OpenAI・Google・Microsoft も同規模の多元化投資を実行するため、業界全体の AI GPU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897880"/>
            <a:ext cx="530352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897880"/>
            <a:ext cx="54864" cy="822960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8368" y="6080760"/>
            <a:ext cx="365760" cy="365760"/>
          </a:xfrm>
          <a:prstGeom prst="ellipse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608076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943600"/>
            <a:ext cx="4617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61C"/>
                </a:solidFill>
                <a:latin typeface="Meiryo"/>
              </a:defRPr>
            </a:pPr>
            <a:r>
              <a:t>Risks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6126480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AMD の新型チップ MI540 は量産が始まったばかりで、大規模展開時の歩留まり低下リスク存在。Meta の全 6GW 調達が実現しない可能性も考慮（契約はオプション形式）。電力消費増加に伴い、米国電力網への負荷が深刻化し、2027 年夏</a:t>
            </a:r>
          </a:p>
        </p:txBody>
      </p:sp>
      <p:pic>
        <p:nvPicPr>
          <p:cNvPr id="29" name="Picture 28" descr="highligh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655" y="960120"/>
            <a:ext cx="5486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企業動向比較マトリクス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2026-02-25  |  Page 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960120"/>
          <a:ext cx="11094415" cy="4480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3474720"/>
                <a:gridCol w="914400"/>
                <a:gridCol w="3047695"/>
              </a:tblGrid>
              <a:tr h="64007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企業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注力分野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主要アクション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動向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強み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Google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推論性能と統合プラットフォーム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Gemini 3.1 Pro（ARC-AGI-2で77.1%達成）+ Workspace/NotebookLM 統合による業務環境シームレス化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7A33"/>
                          </a:solidFill>
                          <a:latin typeface="Meiryo"/>
                        </a:defRPr>
                      </a:pPr>
                      <a:r>
                        <a:t>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TPU ＋ Android ＋ Chrome ＋ Workspace による全レイヤー支配。検索連動型利用と実務ツール親和性の高さが市場支持を獲得。日本国内でも NotebookLM 週複数回利用層が増加中。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Anthropic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エージェント・コード生成と倫理アライメント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Claude Sonnet 4.6 即座投入＋軍事方針での倫理声明＋Claude Code Security 発表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7A33"/>
                          </a:solidFill>
                          <a:latin typeface="Meiryo"/>
                        </a:defRPr>
                      </a:pPr>
                      <a:r>
                        <a:t>▲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API 価格帯での高性能確保と開発者信頼度が両立。倫理方針の鮮明性が機関投資家・政府との関係構築に有利。ただし Webシェア 2.0% 前後と API 層での評価とギャップ存在。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OpenAI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AGI・前出資調達・モデル多様化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資金調達ラウンドで$100B超を目指す＋ OpenClaw 買収＋ Frontier platform 企業向け エージェント化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ChatGPT ユーザーベース圧倒的（Webトラフィック 64.5%）。デスクトップアプリ利用層の堅牢性高い。ただし Webシェア低下と新規競争参入により『一強支配』は過去形へ。CEO Altman のインド AI Summit 出席がグローバル影響力を示唆。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Meta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インフラスケール・自社モデル・エージェント化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AMD $100B 契約＋ NVIDIA マルチイヤー協力＋$135B 年間支出（Superintelligence Labs）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7A33"/>
                          </a:solidFill>
                          <a:latin typeface="Meiryo"/>
                        </a:defRPr>
                      </a:pPr>
                      <a:r>
                        <a:t>▲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マルチベンダー戦略により調達リスク低減。2026 年下半期から段階的な 1GW 展開により、2027 年中盤には 6GW 到達見通し。GPU 多元化は他社追従困難な競争優位となる可能性。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xAI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Grok・イノベーション・コンシューマー層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Grok 4.2 公開＋ Web シェア 2.1%→3.4%＋ 直近 12 週間トラフィック 52% 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7A33"/>
                          </a:solidFill>
                          <a:latin typeface="Meiryo"/>
                        </a:defRPr>
                      </a:pPr>
                      <a:r>
                        <a:t>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Elon Musk の影響力と X プラットフォーム統合による高い視認性。ただしGrok の性的画像生成問題（東南アジア提訴）により規制リスク顕在化。利用規約強化により悪用防止機能を 2026 年中に全展開予定。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Microsoft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企業向け AI・Copilot・Global South 展開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Global South 向け$50B 投資計画（2030 年までに実現）＋ Sovereign Cloud 拡充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◆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Office/Azure/Windows 統合で既存ユーザーへの浸透が確実。ただし Web シェア 1.1% 前後と API・エンタープライズ層での実力との大きなギャップ。Global South 投資は規制準拠・現地化への取り組みを示唆。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669279"/>
            <a:ext cx="2011680" cy="32004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669279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  Google  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5669279"/>
            <a:ext cx="2011680" cy="32004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5669279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  Anthropic  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5669279"/>
            <a:ext cx="2011680" cy="320040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5669279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  OpenAI  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5669279"/>
            <a:ext cx="2011680" cy="320040"/>
          </a:xfrm>
          <a:prstGeom prst="roundRect">
            <a:avLst/>
          </a:prstGeom>
          <a:solidFill>
            <a:srgbClr val="066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5669279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  Meta  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5669279"/>
            <a:ext cx="2011680" cy="32004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5669279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  xAI  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トレンドフロー分析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2026-02-25  |  Page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05840"/>
            <a:ext cx="5029200" cy="22860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115568"/>
            <a:ext cx="411480" cy="41148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11556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1430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AIインフラ投資の『ギガワット化』とチップ多元化戦略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544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Meta の$100B AMD 契約と同時期のNVIDIA数百億ドル契約により、大型テック企業がNVIDIA 単一依存から決別し、AMD/Intel/自社設計の多元調達へシフト。2026年のAI関連資本支出は、合算で$5兆超に到達する見通し。ただしGPU不足解消には数年要し、GPU価格は当面高止まり。電力消費は年 500-600 TWh に達し、米国電力需給をひっ迫させる構造的課題。冷却技術と再生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880360"/>
            <a:ext cx="1188720" cy="274320"/>
          </a:xfrm>
          <a:prstGeom prst="roundRect">
            <a:avLst/>
          </a:prstGeom>
          <a:solidFill>
            <a:srgbClr val="066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Meta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48840" y="28803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4884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NVIDIA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28803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AMD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2880360"/>
            <a:ext cx="1188720" cy="274320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OpenAI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005840"/>
            <a:ext cx="5029200" cy="22860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0" y="1115568"/>
            <a:ext cx="411480" cy="41148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11556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11430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LLM推論性能の『爆発的改善』と価格逆転現象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15544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Gemini 3.1 Pro の ARC-AGI-2 での77.1%達成と、Claude Sonnet 4.6 のOpus 級性能を低価格で実現する動きにより、『高価=高性能』の従来則が破壊。Sonnet 4.6は API 価格でSonnet 4.5 と同等ながら複雑な論理タスクでOpus上回る性能を確認。その結果、開発者層は用途ごとにモデルを使い分け始め、単一プロバイダー依存が低減。市場全体でプ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2880360"/>
            <a:ext cx="1188720" cy="27432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Anthropic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26680" y="2880360"/>
            <a:ext cx="1188720" cy="27432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668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Google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06840" y="2880360"/>
            <a:ext cx="1188720" cy="274320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0684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OpenAI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87000" y="28803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8700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xAI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3520440"/>
            <a:ext cx="5029200" cy="22860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2960" y="3630168"/>
            <a:ext cx="411480" cy="41148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363016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36576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米国・EU・アジアの『AI統制アプローチ』の多極化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40690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米国は『規制よりイノベーション優先』（Executive Order）により無監督エージェント開発を加速。欧州はEU AI Act で段階的規制を実施。一方、日本は『人間の判断必須化』で独自路線を採用し、中国の『国家統制強化』とは異なる自律的ガバナンス体制を模索。この多極化により、グローバル企業は国・地域ごとに異なるAI戦略を強いられ、ローカライゼーションコストが大幅増加。同時に規制枠組みの差異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8680" y="5394960"/>
            <a:ext cx="1188720" cy="27432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Anthropic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148840" y="5394960"/>
            <a:ext cx="1188720" cy="274320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4884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OpenAI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29000" y="5394960"/>
            <a:ext cx="1188720" cy="27432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2900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Google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09160" y="5394960"/>
            <a:ext cx="1188720" cy="274320"/>
          </a:xfrm>
          <a:prstGeom prst="roundRect">
            <a:avLst/>
          </a:prstGeom>
          <a:solidFill>
            <a:srgbClr val="066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0916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Meta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5760720" y="2011680"/>
            <a:ext cx="457200" cy="274320"/>
          </a:xfrm>
          <a:prstGeom prst="rightArrow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own Arrow 45"/>
          <p:cNvSpPr/>
          <p:nvPr/>
        </p:nvSpPr>
        <p:spPr>
          <a:xfrm>
            <a:off x="3063240" y="3300984"/>
            <a:ext cx="274320" cy="201168"/>
          </a:xfrm>
          <a:prstGeom prst="downArrow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Top News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2026-02-25  |  Page 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54864" cy="16459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097280"/>
            <a:ext cx="457200" cy="4572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125272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34440" y="1252728"/>
            <a:ext cx="1828800" cy="109728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10332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Google、Gemini 3.1 Pro で推論ベンチマーク 77.1% 達成—前世代から 2.5 倍の性能向上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46304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Google DeepMind は 2 月 19 日、最新 AI モデル『Gemini 3.1 Pro』をプレビュー公開した。推論ベンチマーク『ARC-AGI-2』で 77.1% の正解率を達成し、前世代 Gemini 3 Pro の 31...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37160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138988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1572768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Google の推論性能向上は、Anthropic・OpenAI に即座の対抗を余儀なくさせた。実際、Anthropic は 12 日後に Claude Sonnet 4.6 をリリース。Gemini...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3317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Google  |  LLM  |  チャエンチャンネル（日本）、Google公開情報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4320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743200"/>
            <a:ext cx="54864" cy="164592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2880360"/>
            <a:ext cx="457200" cy="45720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8803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" y="303580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234440" y="3035808"/>
            <a:ext cx="1828800" cy="109728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28163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Anthropic、Claude Sonnet 4.6 を 12 日後の投入—Opus 級性能を 1/5 価格で提供開始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24612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Anthropic は 2 月 17 日、最新モデル『Claude Sonnet 4.6』をリリース。同社が 2 月 5 日に投入した最高級版『Claude Opus 4.6』からわずか 12 日後の新モデル投入という異例の速度。Claud...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315468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317296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355848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Claude Sonnet 4.6 の登場により、OpenAI の ChatGPT Plus（月 $20）との価格競争が激化。Anthropic の Claude Pro（同 $20）はこれまで『高性...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114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Anthropic  |  LLM  |  Help Net Security, Anthropic公開情報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52628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526280"/>
            <a:ext cx="54864" cy="16459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5800" y="4663440"/>
            <a:ext cx="457200" cy="457200"/>
          </a:xfrm>
          <a:prstGeom prst="ellipse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6634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34440" y="481888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234440" y="4818888"/>
            <a:ext cx="1463040" cy="109728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34440" y="45994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ChatGPT Webシェア 22 ポイント低下（86.7%→64.5%）、Gemini が初めて 20% 超を突破—市場構造の『一強から多極化』へ転換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02920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Web トラフィック分析企業 Similarweb が 2026 年 1 月 2 日時点の『Global AI Tracker』調査結果を公開。生成 AI カテゴリ全体で、OpenAI の ChatGPT Webシェアが 86.7%（前年）...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0" y="493776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06640" y="495604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5138928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Webシェアの大幅転換は、投資家心理・広告主の選択・新規ユーザーの初期選択に大きな影響。ChatGPT 『一強』のイメージが崩壊し、『複数大手並存』の認識が定着。企業の『AI 導入時の選択肢検討』が進...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8978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OpenAI  |  Business  |  Yahoo!ニュース（日本）、Similarweb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Top News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2026-02-25  |  Page 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54864" cy="164592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097280"/>
            <a:ext cx="457200" cy="45720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125272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34440" y="1252728"/>
            <a:ext cx="1463040" cy="109728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10332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米防長官 Hegseth、Anthropic CEO Amodei と軍事 AI 活用巡る会談予定—倫理方針と政府方針が衝突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46304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米国防長官 Pete Hegseth は 2 月 25 日（火）、AI 企業 Anthropic の CEO Dario Amodei との会談を予定。Anthropic は Pentagon から分類軍事ネットワーク（classified...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37160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138988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1572768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Hegseth-Amodei 会談の結果は、米国の『AI 規制方向』を大きく左右。Anthropic が倫理方針を堅持すれば、米国防総省は OpenAI・Google に重心シフト。一方、Anthro...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3317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Anthropic  |  Policy  |  Defense News, Federal Times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4320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743200"/>
            <a:ext cx="54864" cy="164592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2880360"/>
            <a:ext cx="457200" cy="457200"/>
          </a:xfrm>
          <a:prstGeom prst="ellipse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8803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" y="303580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234440" y="3035808"/>
            <a:ext cx="1463040" cy="109728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28163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日本、AI ガイドライン改訂で『人間の判断必須ルール』明記—Society 5.0 との連動で統制型アプローチ採用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24612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日本は 2 月中旬、AI ガイドライン（AI Governance Guidelines）の改訂版を発表。主要な変更点として、『意思決定権を伴う AI エージェントの実行前に、人間の判断を必須要件とする』ルール化を明記。このアプローチは、シ...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315468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317296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355848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日本のガイドライン改訂は、グローバル企業の日本市場向け AI 戦略に大きな影響。Google・Meta・OpenAI など米国大手も、日本市場対応の『人間ループ統合』版を開発必須。同時に、日本国内の ...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114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Other  |  Policy  |  LinkedIn（James Jim Hoadley）、日本政府公開情報、Asia Nikkei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52628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526280"/>
            <a:ext cx="54864" cy="164592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5800" y="4663440"/>
            <a:ext cx="457200" cy="457200"/>
          </a:xfrm>
          <a:prstGeom prst="ellipse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6634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34440" y="481888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234440" y="4818888"/>
            <a:ext cx="1463040" cy="109728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34440" y="45994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Fei-Fei Li の World Labs、$1B 資金調達—Autodesk $200M 投資、空間インテリジェンス開発加速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02920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AI パイオニア Fei-Fei Li が CEO を務めるスタートアップ『World Labs』は、2 月 18 日、Series B ラウンドで$1B の資金調達を発表。Autodesk（設計ソフト大手）が戦略的投資として$200M を...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0" y="493776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06640" y="495604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5138928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『空間インテリジェンス』の商用化は、建築・建設・製造・ゲーム・VR 業界の設計プロセスを劇的に変革。従来は数週間要する詳細設計が数時間に短縮。同時に、『3D 環境生成 AI』は新しい『API ビジネス...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8978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Other  |  Business  |  Reuters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Global Market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2026-02-25  |  Page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2026年2月のグローバルAI市場は、三つの地政学的動向が同時進行：(1) 米国の『規制緩和・主権優先』戦略下での無監督エージェント開発加速、(2) 欧州のEU AI Act による段階的規制実施、(3) アジア（特に日本・インド）の『自律的ガバナンス』模索。インフラ投資面では、Meta・Google・Microsoft・OpenAI の$500B超の資本投下により、AI計算能力が指数関数的に拡大。同時に、GPU多元化（NVIDIA独占から AMD・Intel・自社チップへ）と電力消費危機が新たな競争軸に。モデル層では、Google Gemini 3.1 Pro の推論性能2.5倍向上とAnthropicのClaude Sonnet 4.6の即座投入により、『推論精度競争』が業界の焦点へ。ChatGPT Webシェア86.7%→64.5%の急落は、『一強支配の終焉』を示唆し、複数大手並存時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56655" y="960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KEY IMPACT POINTS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56655" y="1261872"/>
            <a:ext cx="1828800" cy="18288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56655" y="1417320"/>
            <a:ext cx="54864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56655" y="1417320"/>
            <a:ext cx="54864" cy="82296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266383" y="1600200"/>
            <a:ext cx="365760" cy="36576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6383" y="16002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5295" y="14904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eiryo"/>
              </a:defRPr>
            </a:pPr>
            <a:r>
              <a:t>米国の『規制緩和』戦略により、無監督エージェント開発がCIAレベルの国家安全保障戦略に統合。Pentagon との契約規模が拡大し、軍事AI技術の民間転用も加速。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6655" y="2331720"/>
            <a:ext cx="54864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56655" y="2331720"/>
            <a:ext cx="54864" cy="822960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6383" y="2514600"/>
            <a:ext cx="365760" cy="365760"/>
          </a:xfrm>
          <a:prstGeom prst="ellipse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6383" y="25146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5295" y="24048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eiryo"/>
              </a:defRPr>
            </a:pPr>
            <a:r>
              <a:t>欧州のEU AI Act適用により、グローバル企業の欧州市場向けAIサービスが『段階的規制対応版』へ分岐。開発・規制コスト二重化が不可避。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56655" y="3246120"/>
            <a:ext cx="54864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6655" y="3246120"/>
            <a:ext cx="54864" cy="822960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66383" y="3429000"/>
            <a:ext cx="365760" cy="365760"/>
          </a:xfrm>
          <a:prstGeom prst="ellipse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6383" y="34290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5295" y="33192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eiryo"/>
              </a:defRPr>
            </a:pPr>
            <a:r>
              <a:t>インドのAI市場成長（年2桁成長率）により、グローバル企業の投資が年$50-100B規模に拡大予想。同時に、Indiaのローカライゼーション需要が各社の技術開発ロードマップを再編。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56655" y="4160520"/>
            <a:ext cx="54864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56655" y="4160520"/>
            <a:ext cx="54864" cy="822960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266383" y="4343400"/>
            <a:ext cx="365760" cy="365760"/>
          </a:xfrm>
          <a:prstGeom prst="ellipse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6383" y="4343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5295" y="42336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eiryo"/>
              </a:defRPr>
            </a:pPr>
            <a:r>
              <a:t>GPU供給の多元化（NVIDIA 70-75%→AMD 20-25%）により、AIチップ市場の競争が激化。結果として、GPU価格の段階的低下とアクセス性向上が予想。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56655" y="5074920"/>
            <a:ext cx="54864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56655" y="5074920"/>
            <a:ext cx="54864" cy="82296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266383" y="5257800"/>
            <a:ext cx="365760" cy="36576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6383" y="52578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05295" y="51480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eiryo"/>
              </a:defRPr>
            </a:pPr>
            <a:r>
              <a:t>AI電力消費危機（年500-600TWh）が地政学的なエネルギー競争へ拡大。原発・再生可能エネルギー確保がAI国家戦略の中核に。中国・米国・EUのエネルギー覇権争いがAI産業構造に反映。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日本市場インパクト &amp; アクション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2026-02-25  |  Page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5BAB"/>
                </a:solidFill>
                <a:latin typeface="Meiryo"/>
              </a:defRPr>
            </a:pPr>
            <a:r>
              <a:t>日本市場への影響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61872"/>
            <a:ext cx="1371600" cy="18288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303520" cy="86868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54864" cy="86868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" y="1618488"/>
            <a:ext cx="384048" cy="384048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61848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490472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AI governance guideline の『人間判断必須化』により、日本企業のAI開発スピードが減速（2-3ヶ月/プロジェクト）。結果として、国際競争力低下懸念。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77440"/>
            <a:ext cx="5303520" cy="86868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377440"/>
            <a:ext cx="54864" cy="868680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8368" y="2578608"/>
            <a:ext cx="384048" cy="384048"/>
          </a:xfrm>
          <a:prstGeom prst="ellipse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57860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450592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Microsoft・Google・Anthropic による Japan 市場向けサービス拡充（多言語・ローカライゼーション）により、国内AI市場が『外国資本支配型』へ転換。日本企業の発言権相対化が不可避。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337560"/>
            <a:ext cx="5303520" cy="86868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337560"/>
            <a:ext cx="54864" cy="86868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8368" y="3538728"/>
            <a:ext cx="384048" cy="384048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53872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410712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電力供給制約により、大規模AI訓練センターの国内建設が限定。結果として、Japan企業のAIモデル自給化が困難化。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297680"/>
            <a:ext cx="5303520" cy="86868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297680"/>
            <a:ext cx="54864" cy="868680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8368" y="4498848"/>
            <a:ext cx="384048" cy="384048"/>
          </a:xfrm>
          <a:prstGeom prst="ellipse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49884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370832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高齢社会向けAI活用（介護・医療・独居高齢者支援）が Japan 特有の市場機会として浮上。医療AI・ロボット分野での Japan企業の優位性が確立される可能性。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257800"/>
            <a:ext cx="5303520" cy="86868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257800"/>
            <a:ext cx="54864" cy="86868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58368" y="5458968"/>
            <a:ext cx="384048" cy="384048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545896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5330952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日本のAIガバナンス『国際標準化戦略』により、東アジア・ASEAN市場での Japan型AI導入が加速。結果として、『ガバナンス・倫理ツール』の輸出産業化が浮上。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56655" y="960120"/>
            <a:ext cx="5486400" cy="548640"/>
          </a:xfrm>
          <a:prstGeom prst="round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9535" y="1051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eiryo"/>
              </a:defRPr>
            </a:pPr>
            <a:r>
              <a:t>■  ACTION ITEMS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56655" y="1645920"/>
            <a:ext cx="5486400" cy="9144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93815" y="1874520"/>
            <a:ext cx="320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6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93815" y="187452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961C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05295" y="1737360"/>
            <a:ext cx="480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【経済産業省・総務省】AI governance guideline の法令化ロードマップを2026年上半期までに確定。同時に、国際調和（EU AI Act・Singapore regulations との連携）を検討（担当者：AI戦略推進チーム、期限：2026年6月末）。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56655" y="2670048"/>
            <a:ext cx="5486400" cy="9144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293815" y="2898648"/>
            <a:ext cx="320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6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93815" y="2898648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961C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05295" y="2761488"/>
            <a:ext cx="480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【NTT・NEC・富士通など大手企業】『人間ループ統合型エージェント』の標準化仕様を業界で合意。複数企業による共同開発・ API互換性確保により、国内AI市場の分断を回避（期限：2026年9月末）。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56655" y="3694176"/>
            <a:ext cx="5486400" cy="9144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293815" y="3922776"/>
            <a:ext cx="320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6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93815" y="3922776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961C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05295" y="3785616"/>
            <a:ext cx="480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【経済産業省・環境省】AI訓練センターの電力確保計画を確定。北海道・福島・青森での再生可能エネルギー利用施設建設を加速。同時に、原発活用の検討も推進（期限：2026年12月末）。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56655" y="4718304"/>
            <a:ext cx="5486400" cy="9144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293815" y="4946904"/>
            <a:ext cx="320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6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93815" y="4946904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961C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05295" y="4809744"/>
            <a:ext cx="480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【大学・研究機関】AI倫理・ガバナンス研究の国際発信を強化。Japan型AI統治の理論的基盤構築とアジア各国への波及予備活動を開始（期限：2026年継続）。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56655" y="5742432"/>
            <a:ext cx="5486400" cy="9144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293815" y="5971032"/>
            <a:ext cx="320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6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93815" y="5971032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961C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05295" y="5833872"/>
            <a:ext cx="480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【厚生労働省・経済産業省】医療・介護分野へのAI活用ガイドラインを2026年下半期までに策定。Japan型高齢社会向けAI活用の国際標準化を目指す戦略を検討開始（期限：2026年9月末）。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AI業界標準規格 / プロトコル一覧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2026-02-25  |  Page 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960120"/>
          <a:ext cx="110944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45920"/>
                <a:gridCol w="1371600"/>
                <a:gridCol w="914400"/>
                <a:gridCol w="5699455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規格名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発表元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レイヤー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発表日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概要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UCP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Google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Commerce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2026-01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AIエージェント経由の商取引を標準化。A2A・MCP・AP2を統合オーケストレーションする上位プロトコル。Shopify・Walmart等が支持。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Agent Skills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Anthropic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Agent Capability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2025-12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AIエージェントに再現可能なワークフローを教えるオープン標準。SKILL.mdベースのプログレッシブ・ディスクロージャー方式。Microsoft・OpenAI等が採用。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ANP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ANP Community (中国移動/Huawei等)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Network Discovery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2025-10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数十億のエージェントのためのネットワークプロトコル。W3C DIDによるID認証、JSON-LDによる能力公開の3層アーキテクチャ。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ACP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OpenAI + Stripe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Commerce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2025-09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AIエージェント経由の商取引フローを実現するオープン標準。物理/デジタル商品、サブスクリプション対応。ChatGPTで実装済み。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AGENTS.md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OpenAI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Project Instruction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2025-08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AIコーディングエージェントにプロジェクト固有のガイダンスを提供するMarkdownベース規約。Copilot・Cursor・Gemini CLI等が対応。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A2A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Google Cloud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Agent-Agent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2025-04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異なるプラットフォーム・ベンダー間でAIエージェント同士が通信・協働するオープンプロトコル。MCPの補完的位置づけ。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MCP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Anthropic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Agent-Tool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2024-11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AIモデルを外部データソース・ツールに接続するオープン標準。10,000以上のMCPサーバーが公開済み。OpenAI・Google・Microsoft等が採用。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9788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Meiryo"/>
              </a:defRPr>
            </a:pPr>
            <a:r>
              <a:t>※ キャッチアップ時に自動更新  |  各公式サイトで最新情報をご確認ください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Data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2026-02-25  |  Page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0584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mpany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51560"/>
            <a:ext cx="5303520" cy="24688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55080" y="100584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051560"/>
            <a:ext cx="5303520" cy="24688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94360" y="365760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portance_don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703320"/>
            <a:ext cx="5303520" cy="24688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355080" y="365760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news_landscap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3703320"/>
            <a:ext cx="53035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Sources (引用元一覧)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2026-02-25  |  Page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Fortune: https://fortune.com/2026/02/19/ai-is-running-out-of-power-space-wont-be-an-escape-hatch-for-decades/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CNBC, Politico: https://www.cnbc.com/2026/02/19/openai-sam-altman-anthropic-dario-amodei-india-ai-summit.html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Help Net Security, Anthropic公開情報: https://www.helpnetsecurity.com/2026/02/18/anthropic-claude-sonnet-4-6-release/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Reuters: https://www.reuters.com/business/ai-pioneer-fei-fei-lis-world-labs-raises-1-billion-funding-2026-02-18/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チャエンチャンネル（日本）: https://note.com/chaen_channel/n/n8801f71cbcc6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56655" y="9601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LinkedIn（James Jim Hoadley）、日本政府公開情報、Asia Nikkei: https://www.linkedin.com/pulse/country-told-ai-ask-permission-james-jim-hoadley-wdble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Tom's Hardware, TechCrunch: https://www.tomshardware.com/tech-industry/artificial-intelligence/amd-meta-100-billion-deal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チャエンチャンネル（日本）、Google公開情報: https://note.com/chaen_channel/n/n8801f71cbcc6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Yahoo!ニュース（日本）、Similarweb: https://news.yahoo.co.jp/articles/c51f6ad0333b88e7421ebe5b0409bbacc8c97597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Defense News, Federal Times: https://www.defensenews.com/industry/techwatch/2026/02/24/hegseth-and-anthropic-ceo-set-to-meet-as-debate-intensifies-over-the-militarys-use-of-ai/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2648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C757D"/>
                </a:solidFill>
                <a:latin typeface="Meiryo"/>
              </a:defRPr>
            </a:pPr>
            <a:r>
              <a:t>AI News Daily Deck - Generated by Claude Code | 本レポートは生成AIにより自動作成されており、一部ハルシネーションを含む可能性があります。元記事URLから一次情報をご確認ください。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