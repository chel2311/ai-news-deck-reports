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097280"/>
          </a:xfrm>
          <a:prstGeom prst="rect">
            <a:avLst/>
          </a:prstGeom>
          <a:noFill/>
        </p:spPr>
        <p:txBody>
          <a:bodyPr wrap="square">
            <a:spAutoFit/>
          </a:bodyPr>
          <a:lstStyle/>
          <a:p>
            <a:pPr algn="l">
              <a:defRPr sz="5200" b="1">
                <a:solidFill>
                  <a:srgbClr val="005BAB"/>
                </a:solidFill>
                <a:latin typeface="Meiryo"/>
              </a:defRPr>
            </a:pPr>
            <a:r>
              <a:t>AI News Daily Deck</a:t>
            </a:r>
          </a:p>
        </p:txBody>
      </p:sp>
      <p:sp>
        <p:nvSpPr>
          <p:cNvPr id="4" name="Rectangle 3"/>
          <p:cNvSpPr/>
          <p:nvPr/>
        </p:nvSpPr>
        <p:spPr>
          <a:xfrm>
            <a:off x="914400" y="3200400"/>
            <a:ext cx="274320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474720"/>
            <a:ext cx="4572000" cy="640080"/>
          </a:xfrm>
          <a:prstGeom prst="rect">
            <a:avLst/>
          </a:prstGeom>
          <a:noFill/>
        </p:spPr>
        <p:txBody>
          <a:bodyPr wrap="square">
            <a:spAutoFit/>
          </a:bodyPr>
          <a:lstStyle/>
          <a:p>
            <a:pPr algn="l">
              <a:defRPr sz="2600" b="0">
                <a:solidFill>
                  <a:srgbClr val="6C757D"/>
                </a:solidFill>
                <a:latin typeface="Meiryo"/>
              </a:defRPr>
            </a:pPr>
            <a:r>
              <a:t>2026-02-14</a:t>
            </a:r>
          </a:p>
        </p:txBody>
      </p:sp>
      <p:sp>
        <p:nvSpPr>
          <p:cNvPr id="6" name="Rectangle 5"/>
          <p:cNvSpPr/>
          <p:nvPr/>
        </p:nvSpPr>
        <p:spPr>
          <a:xfrm>
            <a:off x="914400" y="4754880"/>
            <a:ext cx="2743200" cy="100584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4754880"/>
            <a:ext cx="2743200" cy="36576"/>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864608"/>
            <a:ext cx="2377440" cy="502920"/>
          </a:xfrm>
          <a:prstGeom prst="rect">
            <a:avLst/>
          </a:prstGeom>
          <a:noFill/>
        </p:spPr>
        <p:txBody>
          <a:bodyPr wrap="none">
            <a:spAutoFit/>
          </a:bodyPr>
          <a:lstStyle/>
          <a:p>
            <a:r>
              <a:rPr sz="3000" b="1">
                <a:solidFill>
                  <a:srgbClr val="005BAB"/>
                </a:solidFill>
                <a:latin typeface="Meiryo"/>
              </a:rPr>
              <a:t>6</a:t>
            </a:r>
            <a:r>
              <a:rPr sz="1400">
                <a:solidFill>
                  <a:srgbClr val="6C757D"/>
                </a:solidFill>
                <a:latin typeface="Meiryo"/>
              </a:rPr>
              <a:t> 件</a:t>
            </a:r>
          </a:p>
        </p:txBody>
      </p:sp>
      <p:sp>
        <p:nvSpPr>
          <p:cNvPr id="9" name="TextBox 8"/>
          <p:cNvSpPr txBox="1"/>
          <p:nvPr/>
        </p:nvSpPr>
        <p:spPr>
          <a:xfrm>
            <a:off x="1097280" y="5394960"/>
            <a:ext cx="2377440" cy="274320"/>
          </a:xfrm>
          <a:prstGeom prst="rect">
            <a:avLst/>
          </a:prstGeom>
          <a:noFill/>
        </p:spPr>
        <p:txBody>
          <a:bodyPr wrap="square">
            <a:spAutoFit/>
          </a:bodyPr>
          <a:lstStyle/>
          <a:p>
            <a:pPr algn="l">
              <a:defRPr sz="1100" b="0">
                <a:solidFill>
                  <a:srgbClr val="6C757D"/>
                </a:solidFill>
                <a:latin typeface="Meiryo"/>
              </a:defRPr>
            </a:pPr>
            <a:r>
              <a:t>Total News</a:t>
            </a:r>
          </a:p>
        </p:txBody>
      </p:sp>
      <p:sp>
        <p:nvSpPr>
          <p:cNvPr id="10" name="Rectangle 9"/>
          <p:cNvSpPr/>
          <p:nvPr/>
        </p:nvSpPr>
        <p:spPr>
          <a:xfrm>
            <a:off x="4023360" y="4754880"/>
            <a:ext cx="2743200" cy="100584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0" y="4754880"/>
            <a:ext cx="2743200" cy="36576"/>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4864608"/>
            <a:ext cx="2377440" cy="502920"/>
          </a:xfrm>
          <a:prstGeom prst="rect">
            <a:avLst/>
          </a:prstGeom>
          <a:noFill/>
        </p:spPr>
        <p:txBody>
          <a:bodyPr wrap="none">
            <a:spAutoFit/>
          </a:bodyPr>
          <a:lstStyle/>
          <a:p>
            <a:r>
              <a:rPr sz="3000" b="1">
                <a:solidFill>
                  <a:srgbClr val="005BAB"/>
                </a:solidFill>
                <a:latin typeface="Meiryo"/>
              </a:rPr>
              <a:t>5</a:t>
            </a:r>
            <a:r>
              <a:rPr sz="1400">
                <a:solidFill>
                  <a:srgbClr val="6C757D"/>
                </a:solidFill>
                <a:latin typeface="Meiryo"/>
              </a:rPr>
              <a:t> 件</a:t>
            </a:r>
          </a:p>
        </p:txBody>
      </p:sp>
      <p:sp>
        <p:nvSpPr>
          <p:cNvPr id="13" name="TextBox 12"/>
          <p:cNvSpPr txBox="1"/>
          <p:nvPr/>
        </p:nvSpPr>
        <p:spPr>
          <a:xfrm>
            <a:off x="4206240" y="5394960"/>
            <a:ext cx="2377440" cy="274320"/>
          </a:xfrm>
          <a:prstGeom prst="rect">
            <a:avLst/>
          </a:prstGeom>
          <a:noFill/>
        </p:spPr>
        <p:txBody>
          <a:bodyPr wrap="square">
            <a:spAutoFit/>
          </a:bodyPr>
          <a:lstStyle/>
          <a:p>
            <a:pPr algn="l">
              <a:defRPr sz="1100" b="0">
                <a:solidFill>
                  <a:srgbClr val="6C757D"/>
                </a:solidFill>
                <a:latin typeface="Meiryo"/>
              </a:defRPr>
            </a:pPr>
            <a:r>
              <a:t>High Impact</a:t>
            </a:r>
          </a:p>
        </p:txBody>
      </p:sp>
      <p:sp>
        <p:nvSpPr>
          <p:cNvPr id="14" name="Rectangle 13"/>
          <p:cNvSpPr/>
          <p:nvPr/>
        </p:nvSpPr>
        <p:spPr>
          <a:xfrm>
            <a:off x="7132320" y="4754880"/>
            <a:ext cx="2743200" cy="100584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0" y="4754880"/>
            <a:ext cx="2743200" cy="36576"/>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4864608"/>
            <a:ext cx="2377440" cy="502920"/>
          </a:xfrm>
          <a:prstGeom prst="rect">
            <a:avLst/>
          </a:prstGeom>
          <a:noFill/>
        </p:spPr>
        <p:txBody>
          <a:bodyPr wrap="none">
            <a:spAutoFit/>
          </a:bodyPr>
          <a:lstStyle/>
          <a:p>
            <a:r>
              <a:rPr sz="3000" b="1">
                <a:solidFill>
                  <a:srgbClr val="005BAB"/>
                </a:solidFill>
                <a:latin typeface="Meiryo"/>
              </a:rPr>
              <a:t>4</a:t>
            </a:r>
            <a:r>
              <a:rPr sz="1400">
                <a:solidFill>
                  <a:srgbClr val="6C757D"/>
                </a:solidFill>
                <a:latin typeface="Meiryo"/>
              </a:rPr>
              <a:t> 社</a:t>
            </a:r>
          </a:p>
        </p:txBody>
      </p:sp>
      <p:sp>
        <p:nvSpPr>
          <p:cNvPr id="17" name="TextBox 16"/>
          <p:cNvSpPr txBox="1"/>
          <p:nvPr/>
        </p:nvSpPr>
        <p:spPr>
          <a:xfrm>
            <a:off x="7315200" y="5394960"/>
            <a:ext cx="2377440" cy="274320"/>
          </a:xfrm>
          <a:prstGeom prst="rect">
            <a:avLst/>
          </a:prstGeom>
          <a:noFill/>
        </p:spPr>
        <p:txBody>
          <a:bodyPr wrap="square">
            <a:spAutoFit/>
          </a:bodyPr>
          <a:lstStyle/>
          <a:p>
            <a:pPr algn="l">
              <a:defRPr sz="1100" b="0">
                <a:solidFill>
                  <a:srgbClr val="6C757D"/>
                </a:solidFill>
                <a:latin typeface="Meiryo"/>
              </a:defRPr>
            </a:pPr>
            <a:r>
              <a:t>Companies</a:t>
            </a:r>
          </a:p>
        </p:txBody>
      </p:sp>
      <p:sp>
        <p:nvSpPr>
          <p:cNvPr id="18" name="Rectangle 17"/>
          <p:cNvSpPr/>
          <p:nvPr/>
        </p:nvSpPr>
        <p:spPr>
          <a:xfrm>
            <a:off x="0" y="6803136"/>
            <a:ext cx="12191695" cy="54864"/>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Executive Summary</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1</a:t>
            </a:r>
          </a:p>
        </p:txBody>
      </p:sp>
      <p:sp>
        <p:nvSpPr>
          <p:cNvPr id="6" name="Rounded Rectangle 5"/>
          <p:cNvSpPr/>
          <p:nvPr/>
        </p:nvSpPr>
        <p:spPr>
          <a:xfrm>
            <a:off x="6400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960120"/>
            <a:ext cx="2468880" cy="36576"/>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051560"/>
            <a:ext cx="2194560" cy="274320"/>
          </a:xfrm>
          <a:prstGeom prst="rect">
            <a:avLst/>
          </a:prstGeom>
          <a:noFill/>
        </p:spPr>
        <p:txBody>
          <a:bodyPr wrap="square">
            <a:spAutoFit/>
          </a:bodyPr>
          <a:lstStyle/>
          <a:p>
            <a:pPr algn="l">
              <a:defRPr sz="1100" b="0">
                <a:solidFill>
                  <a:srgbClr val="6C757D"/>
                </a:solidFill>
                <a:latin typeface="Meiryo"/>
              </a:defRPr>
            </a:pPr>
            <a:r>
              <a:t>Total</a:t>
            </a:r>
          </a:p>
        </p:txBody>
      </p:sp>
      <p:sp>
        <p:nvSpPr>
          <p:cNvPr id="9" name="TextBox 8"/>
          <p:cNvSpPr txBox="1"/>
          <p:nvPr/>
        </p:nvSpPr>
        <p:spPr>
          <a:xfrm>
            <a:off x="777240" y="1307592"/>
            <a:ext cx="2194560" cy="548640"/>
          </a:xfrm>
          <a:prstGeom prst="rect">
            <a:avLst/>
          </a:prstGeom>
          <a:noFill/>
        </p:spPr>
        <p:txBody>
          <a:bodyPr wrap="square">
            <a:spAutoFit/>
          </a:bodyPr>
          <a:lstStyle/>
          <a:p>
            <a:r>
              <a:rPr sz="2800" b="1">
                <a:solidFill>
                  <a:srgbClr val="005BAB"/>
                </a:solidFill>
                <a:latin typeface="Meiryo"/>
              </a:rPr>
              <a:t>6</a:t>
            </a:r>
            <a:r>
              <a:rPr sz="1400">
                <a:solidFill>
                  <a:srgbClr val="6C757D"/>
                </a:solidFill>
                <a:latin typeface="Meiryo"/>
              </a:rPr>
              <a:t> 件</a:t>
            </a:r>
          </a:p>
        </p:txBody>
      </p:sp>
      <p:sp>
        <p:nvSpPr>
          <p:cNvPr id="10" name="Rounded Rectangle 9"/>
          <p:cNvSpPr/>
          <p:nvPr/>
        </p:nvSpPr>
        <p:spPr>
          <a:xfrm>
            <a:off x="33832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83280" y="960120"/>
            <a:ext cx="2468880" cy="36576"/>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1051560"/>
            <a:ext cx="2194560" cy="274320"/>
          </a:xfrm>
          <a:prstGeom prst="rect">
            <a:avLst/>
          </a:prstGeom>
          <a:noFill/>
        </p:spPr>
        <p:txBody>
          <a:bodyPr wrap="square">
            <a:spAutoFit/>
          </a:bodyPr>
          <a:lstStyle/>
          <a:p>
            <a:pPr algn="l">
              <a:defRPr sz="1100" b="0">
                <a:solidFill>
                  <a:srgbClr val="6C757D"/>
                </a:solidFill>
                <a:latin typeface="Meiryo"/>
              </a:defRPr>
            </a:pPr>
            <a:r>
              <a:t>Top Company</a:t>
            </a:r>
          </a:p>
        </p:txBody>
      </p:sp>
      <p:sp>
        <p:nvSpPr>
          <p:cNvPr id="13" name="TextBox 12"/>
          <p:cNvSpPr txBox="1"/>
          <p:nvPr/>
        </p:nvSpPr>
        <p:spPr>
          <a:xfrm>
            <a:off x="3520440" y="1307592"/>
            <a:ext cx="2194560" cy="548640"/>
          </a:xfrm>
          <a:prstGeom prst="rect">
            <a:avLst/>
          </a:prstGeom>
          <a:noFill/>
        </p:spPr>
        <p:txBody>
          <a:bodyPr wrap="square">
            <a:spAutoFit/>
          </a:bodyPr>
          <a:lstStyle/>
          <a:p>
            <a:r>
              <a:rPr sz="2800" b="1">
                <a:solidFill>
                  <a:srgbClr val="005BAB"/>
                </a:solidFill>
                <a:latin typeface="Meiryo"/>
              </a:rPr>
              <a:t>Anthropic</a:t>
            </a:r>
            <a:r>
              <a:rPr sz="1400">
                <a:solidFill>
                  <a:srgbClr val="6C757D"/>
                </a:solidFill>
                <a:latin typeface="Meiryo"/>
              </a:rPr>
              <a:t> 2件</a:t>
            </a:r>
          </a:p>
        </p:txBody>
      </p:sp>
      <p:sp>
        <p:nvSpPr>
          <p:cNvPr id="14" name="Rounded Rectangle 13"/>
          <p:cNvSpPr/>
          <p:nvPr/>
        </p:nvSpPr>
        <p:spPr>
          <a:xfrm>
            <a:off x="61264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80" y="960120"/>
            <a:ext cx="2468880" cy="36576"/>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051560"/>
            <a:ext cx="2194560" cy="274320"/>
          </a:xfrm>
          <a:prstGeom prst="rect">
            <a:avLst/>
          </a:prstGeom>
          <a:noFill/>
        </p:spPr>
        <p:txBody>
          <a:bodyPr wrap="square">
            <a:spAutoFit/>
          </a:bodyPr>
          <a:lstStyle/>
          <a:p>
            <a:pPr algn="l">
              <a:defRPr sz="1100" b="0">
                <a:solidFill>
                  <a:srgbClr val="6C757D"/>
                </a:solidFill>
                <a:latin typeface="Meiryo"/>
              </a:defRPr>
            </a:pPr>
            <a:r>
              <a:t>High Impact</a:t>
            </a:r>
          </a:p>
        </p:txBody>
      </p:sp>
      <p:sp>
        <p:nvSpPr>
          <p:cNvPr id="17" name="TextBox 16"/>
          <p:cNvSpPr txBox="1"/>
          <p:nvPr/>
        </p:nvSpPr>
        <p:spPr>
          <a:xfrm>
            <a:off x="6263640" y="1307592"/>
            <a:ext cx="2194560" cy="548640"/>
          </a:xfrm>
          <a:prstGeom prst="rect">
            <a:avLst/>
          </a:prstGeom>
          <a:noFill/>
        </p:spPr>
        <p:txBody>
          <a:bodyPr wrap="square">
            <a:spAutoFit/>
          </a:bodyPr>
          <a:lstStyle/>
          <a:p>
            <a:r>
              <a:rPr sz="2800" b="1">
                <a:solidFill>
                  <a:srgbClr val="005BAB"/>
                </a:solidFill>
                <a:latin typeface="Meiryo"/>
              </a:rPr>
              <a:t>5</a:t>
            </a:r>
            <a:r>
              <a:rPr sz="1400">
                <a:solidFill>
                  <a:srgbClr val="6C757D"/>
                </a:solidFill>
                <a:latin typeface="Meiryo"/>
              </a:rPr>
              <a:t> 件</a:t>
            </a:r>
          </a:p>
        </p:txBody>
      </p:sp>
      <p:sp>
        <p:nvSpPr>
          <p:cNvPr id="18" name="Rounded Rectangle 17"/>
          <p:cNvSpPr/>
          <p:nvPr/>
        </p:nvSpPr>
        <p:spPr>
          <a:xfrm>
            <a:off x="88696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869680" y="960120"/>
            <a:ext cx="2468880" cy="36576"/>
          </a:xfrm>
          <a:prstGeom prst="rect">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06840" y="1051560"/>
            <a:ext cx="2194560" cy="274320"/>
          </a:xfrm>
          <a:prstGeom prst="rect">
            <a:avLst/>
          </a:prstGeom>
          <a:noFill/>
        </p:spPr>
        <p:txBody>
          <a:bodyPr wrap="square">
            <a:spAutoFit/>
          </a:bodyPr>
          <a:lstStyle/>
          <a:p>
            <a:pPr algn="l">
              <a:defRPr sz="1100" b="0">
                <a:solidFill>
                  <a:srgbClr val="6C757D"/>
                </a:solidFill>
                <a:latin typeface="Meiryo"/>
              </a:defRPr>
            </a:pPr>
            <a:r>
              <a:t>Companies</a:t>
            </a:r>
          </a:p>
        </p:txBody>
      </p:sp>
      <p:sp>
        <p:nvSpPr>
          <p:cNvPr id="21" name="TextBox 20"/>
          <p:cNvSpPr txBox="1"/>
          <p:nvPr/>
        </p:nvSpPr>
        <p:spPr>
          <a:xfrm>
            <a:off x="9006840" y="1307592"/>
            <a:ext cx="2194560" cy="548640"/>
          </a:xfrm>
          <a:prstGeom prst="rect">
            <a:avLst/>
          </a:prstGeom>
          <a:noFill/>
        </p:spPr>
        <p:txBody>
          <a:bodyPr wrap="square">
            <a:spAutoFit/>
          </a:bodyPr>
          <a:lstStyle/>
          <a:p>
            <a:r>
              <a:rPr sz="2800" b="1">
                <a:solidFill>
                  <a:srgbClr val="005BAB"/>
                </a:solidFill>
                <a:latin typeface="Meiryo"/>
              </a:rPr>
              <a:t>4</a:t>
            </a:r>
            <a:r>
              <a:rPr sz="1400">
                <a:solidFill>
                  <a:srgbClr val="6C757D"/>
                </a:solidFill>
                <a:latin typeface="Meiryo"/>
              </a:rPr>
              <a:t> 社</a:t>
            </a:r>
          </a:p>
        </p:txBody>
      </p:sp>
      <p:sp>
        <p:nvSpPr>
          <p:cNvPr id="22" name="TextBox 21"/>
          <p:cNvSpPr txBox="1"/>
          <p:nvPr/>
        </p:nvSpPr>
        <p:spPr>
          <a:xfrm>
            <a:off x="548640" y="2331720"/>
            <a:ext cx="2743200" cy="320040"/>
          </a:xfrm>
          <a:prstGeom prst="rect">
            <a:avLst/>
          </a:prstGeom>
          <a:noFill/>
        </p:spPr>
        <p:txBody>
          <a:bodyPr wrap="square">
            <a:spAutoFit/>
          </a:bodyPr>
          <a:lstStyle/>
          <a:p>
            <a:pPr algn="l">
              <a:defRPr sz="1400" b="1">
                <a:solidFill>
                  <a:srgbClr val="005BAB"/>
                </a:solidFill>
                <a:latin typeface="Meiryo"/>
              </a:defRPr>
            </a:pPr>
            <a:r>
              <a:t>KEY TAKEAWAYS</a:t>
            </a:r>
          </a:p>
        </p:txBody>
      </p:sp>
      <p:sp>
        <p:nvSpPr>
          <p:cNvPr id="23" name="Rectangle 22"/>
          <p:cNvSpPr/>
          <p:nvPr/>
        </p:nvSpPr>
        <p:spPr>
          <a:xfrm>
            <a:off x="548640" y="2624328"/>
            <a:ext cx="1828800" cy="18288"/>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274320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2743200"/>
            <a:ext cx="54864"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 y="285292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2852928"/>
            <a:ext cx="384048" cy="384048"/>
          </a:xfrm>
          <a:prstGeom prst="rect">
            <a:avLst/>
          </a:prstGeom>
          <a:noFill/>
        </p:spPr>
        <p:txBody>
          <a:bodyPr wrap="square" anchor="ctr">
            <a:spAutoFit/>
          </a:bodyPr>
          <a:lstStyle/>
          <a:p>
            <a:pPr algn="ctr">
              <a:defRPr sz="1400" b="1">
                <a:solidFill>
                  <a:srgbClr val="FFFFFF"/>
                </a:solidFill>
                <a:latin typeface="Meiryo"/>
              </a:defRPr>
            </a:pPr>
            <a:r>
              <a:t>1</a:t>
            </a:r>
          </a:p>
        </p:txBody>
      </p:sp>
      <p:sp>
        <p:nvSpPr>
          <p:cNvPr id="28" name="TextBox 27"/>
          <p:cNvSpPr txBox="1"/>
          <p:nvPr/>
        </p:nvSpPr>
        <p:spPr>
          <a:xfrm>
            <a:off x="1188720" y="2816352"/>
            <a:ext cx="10271455" cy="548640"/>
          </a:xfrm>
          <a:prstGeom prst="rect">
            <a:avLst/>
          </a:prstGeom>
          <a:noFill/>
        </p:spPr>
        <p:txBody>
          <a:bodyPr wrap="square">
            <a:spAutoFit/>
          </a:bodyPr>
          <a:lstStyle/>
          <a:p>
            <a:pPr algn="l">
              <a:defRPr sz="1200" b="0">
                <a:solidFill>
                  <a:srgbClr val="1A1A2E"/>
                </a:solidFill>
                <a:latin typeface="Meiryo"/>
              </a:defRPr>
            </a:pPr>
            <a:r>
              <a:t>Anthropicが300億ドルのSeries G資金調達をクローズ、評価額3800億ドルに到達。Claude Codeの年間売上が25億ドルを突破し、Fortune 10の8社が顧客に。エンタープライズ市場での支配力が急加速中（確信度95%）</a:t>
            </a:r>
          </a:p>
        </p:txBody>
      </p:sp>
      <p:sp>
        <p:nvSpPr>
          <p:cNvPr id="29" name="Rectangle 28"/>
          <p:cNvSpPr/>
          <p:nvPr/>
        </p:nvSpPr>
        <p:spPr>
          <a:xfrm>
            <a:off x="548640" y="352044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3520440"/>
            <a:ext cx="54864" cy="68580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85800" y="3630168"/>
            <a:ext cx="384048" cy="384048"/>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3630168"/>
            <a:ext cx="384048" cy="384048"/>
          </a:xfrm>
          <a:prstGeom prst="rect">
            <a:avLst/>
          </a:prstGeom>
          <a:noFill/>
        </p:spPr>
        <p:txBody>
          <a:bodyPr wrap="square" anchor="ctr">
            <a:spAutoFit/>
          </a:bodyPr>
          <a:lstStyle/>
          <a:p>
            <a:pPr algn="ctr">
              <a:defRPr sz="1400" b="1">
                <a:solidFill>
                  <a:srgbClr val="FFFFFF"/>
                </a:solidFill>
                <a:latin typeface="Meiryo"/>
              </a:defRPr>
            </a:pPr>
            <a:r>
              <a:t>2</a:t>
            </a:r>
          </a:p>
        </p:txBody>
      </p:sp>
      <p:sp>
        <p:nvSpPr>
          <p:cNvPr id="33" name="TextBox 32"/>
          <p:cNvSpPr txBox="1"/>
          <p:nvPr/>
        </p:nvSpPr>
        <p:spPr>
          <a:xfrm>
            <a:off x="1188720" y="3593592"/>
            <a:ext cx="10271455" cy="548640"/>
          </a:xfrm>
          <a:prstGeom prst="rect">
            <a:avLst/>
          </a:prstGeom>
          <a:noFill/>
        </p:spPr>
        <p:txBody>
          <a:bodyPr wrap="square">
            <a:spAutoFit/>
          </a:bodyPr>
          <a:lstStyle/>
          <a:p>
            <a:pPr algn="l">
              <a:defRPr sz="1200" b="0">
                <a:solidFill>
                  <a:srgbClr val="1A1A2E"/>
                </a:solidFill>
                <a:latin typeface="Meiryo"/>
              </a:defRPr>
            </a:pPr>
            <a:r>
              <a:t>AI安全性研究者の相次ぐ退職が業界に波紋。OpenAI・Anthropic両社の安全研究チーム解体・人員流出に伴い、AGI実現への危機感が技術者レベルで高まっている（確信度85%）</a:t>
            </a:r>
          </a:p>
        </p:txBody>
      </p:sp>
      <p:sp>
        <p:nvSpPr>
          <p:cNvPr id="34" name="Rectangle 33"/>
          <p:cNvSpPr/>
          <p:nvPr/>
        </p:nvSpPr>
        <p:spPr>
          <a:xfrm>
            <a:off x="548640" y="429768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 y="4297680"/>
            <a:ext cx="54864" cy="68580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5800" y="4407408"/>
            <a:ext cx="384048" cy="384048"/>
          </a:xfrm>
          <a:prstGeom prst="ellipse">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4407408"/>
            <a:ext cx="384048" cy="384048"/>
          </a:xfrm>
          <a:prstGeom prst="rect">
            <a:avLst/>
          </a:prstGeom>
          <a:noFill/>
        </p:spPr>
        <p:txBody>
          <a:bodyPr wrap="square" anchor="ctr">
            <a:spAutoFit/>
          </a:bodyPr>
          <a:lstStyle/>
          <a:p>
            <a:pPr algn="ctr">
              <a:defRPr sz="1400" b="1">
                <a:solidFill>
                  <a:srgbClr val="FFFFFF"/>
                </a:solidFill>
                <a:latin typeface="Meiryo"/>
              </a:defRPr>
            </a:pPr>
            <a:r>
              <a:t>3</a:t>
            </a:r>
          </a:p>
        </p:txBody>
      </p:sp>
      <p:sp>
        <p:nvSpPr>
          <p:cNvPr id="38" name="TextBox 37"/>
          <p:cNvSpPr txBox="1"/>
          <p:nvPr/>
        </p:nvSpPr>
        <p:spPr>
          <a:xfrm>
            <a:off x="1188720" y="4370832"/>
            <a:ext cx="10271455" cy="548640"/>
          </a:xfrm>
          <a:prstGeom prst="rect">
            <a:avLst/>
          </a:prstGeom>
          <a:noFill/>
        </p:spPr>
        <p:txBody>
          <a:bodyPr wrap="square">
            <a:spAutoFit/>
          </a:bodyPr>
          <a:lstStyle/>
          <a:p>
            <a:pPr algn="l">
              <a:defRPr sz="1200" b="0">
                <a:solidFill>
                  <a:srgbClr val="1A1A2E"/>
                </a:solidFill>
                <a:latin typeface="Meiryo"/>
              </a:defRPr>
            </a:pPr>
            <a:r>
              <a:t>Big Tech 4社（Microsoft・Google・Amazon・Meta）が2026年に650-700億ドルのAI投資を計画し、前年比60%増加。電力グリッド危機が深刻化し、データセンター建設が電力供給可能地域に制限される傾向（確信度90%）</a:t>
            </a:r>
          </a:p>
        </p:txBody>
      </p:sp>
      <p:sp>
        <p:nvSpPr>
          <p:cNvPr id="39" name="Rectangle 38"/>
          <p:cNvSpPr/>
          <p:nvPr/>
        </p:nvSpPr>
        <p:spPr>
          <a:xfrm>
            <a:off x="548640" y="507492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48640" y="5074920"/>
            <a:ext cx="54864" cy="685800"/>
          </a:xfrm>
          <a:prstGeom prst="rect">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85800" y="5184648"/>
            <a:ext cx="384048" cy="384048"/>
          </a:xfrm>
          <a:prstGeom prst="ellipse">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184648"/>
            <a:ext cx="384048" cy="384048"/>
          </a:xfrm>
          <a:prstGeom prst="rect">
            <a:avLst/>
          </a:prstGeom>
          <a:noFill/>
        </p:spPr>
        <p:txBody>
          <a:bodyPr wrap="square" anchor="ctr">
            <a:spAutoFit/>
          </a:bodyPr>
          <a:lstStyle/>
          <a:p>
            <a:pPr algn="ctr">
              <a:defRPr sz="1400" b="1">
                <a:solidFill>
                  <a:srgbClr val="FFFFFF"/>
                </a:solidFill>
                <a:latin typeface="Meiryo"/>
              </a:defRPr>
            </a:pPr>
            <a:r>
              <a:t>4</a:t>
            </a:r>
          </a:p>
        </p:txBody>
      </p:sp>
      <p:sp>
        <p:nvSpPr>
          <p:cNvPr id="43" name="TextBox 42"/>
          <p:cNvSpPr txBox="1"/>
          <p:nvPr/>
        </p:nvSpPr>
        <p:spPr>
          <a:xfrm>
            <a:off x="1188720" y="5148072"/>
            <a:ext cx="10271455" cy="548640"/>
          </a:xfrm>
          <a:prstGeom prst="rect">
            <a:avLst/>
          </a:prstGeom>
          <a:noFill/>
        </p:spPr>
        <p:txBody>
          <a:bodyPr wrap="square">
            <a:spAutoFit/>
          </a:bodyPr>
          <a:lstStyle/>
          <a:p>
            <a:pPr algn="l">
              <a:defRPr sz="1200" b="0">
                <a:solidFill>
                  <a:srgbClr val="1A1A2E"/>
                </a:solidFill>
                <a:latin typeface="Meiryo"/>
              </a:defRPr>
            </a:pPr>
            <a:r>
              <a:t>Anthropicがスーパーボウル広告でOpenAIを攻撃、訪問者11%増・DAU11%増を達成。Sam Altmanが広告を『虚偽』と非難、公開対立が本格化。両社とも2026年内IPO計画中（確信度80%）</a:t>
            </a:r>
          </a:p>
        </p:txBody>
      </p:sp>
      <p:sp>
        <p:nvSpPr>
          <p:cNvPr id="44" name="Rectangle 43"/>
          <p:cNvSpPr/>
          <p:nvPr/>
        </p:nvSpPr>
        <p:spPr>
          <a:xfrm>
            <a:off x="548640" y="585216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48640" y="5852160"/>
            <a:ext cx="54864"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85800" y="596188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85800" y="5961888"/>
            <a:ext cx="384048" cy="384048"/>
          </a:xfrm>
          <a:prstGeom prst="rect">
            <a:avLst/>
          </a:prstGeom>
          <a:noFill/>
        </p:spPr>
        <p:txBody>
          <a:bodyPr wrap="square" anchor="ctr">
            <a:spAutoFit/>
          </a:bodyPr>
          <a:lstStyle/>
          <a:p>
            <a:pPr algn="ctr">
              <a:defRPr sz="1400" b="1">
                <a:solidFill>
                  <a:srgbClr val="FFFFFF"/>
                </a:solidFill>
                <a:latin typeface="Meiryo"/>
              </a:defRPr>
            </a:pPr>
            <a:r>
              <a:t>5</a:t>
            </a:r>
          </a:p>
        </p:txBody>
      </p:sp>
      <p:sp>
        <p:nvSpPr>
          <p:cNvPr id="48" name="TextBox 47"/>
          <p:cNvSpPr txBox="1"/>
          <p:nvPr/>
        </p:nvSpPr>
        <p:spPr>
          <a:xfrm>
            <a:off x="1188720" y="5925312"/>
            <a:ext cx="10271455" cy="548640"/>
          </a:xfrm>
          <a:prstGeom prst="rect">
            <a:avLst/>
          </a:prstGeom>
          <a:noFill/>
        </p:spPr>
        <p:txBody>
          <a:bodyPr wrap="square">
            <a:spAutoFit/>
          </a:bodyPr>
          <a:lstStyle/>
          <a:p>
            <a:pPr algn="l">
              <a:defRPr sz="1200" b="0">
                <a:solidFill>
                  <a:srgbClr val="1A1A2E"/>
                </a:solidFill>
                <a:latin typeface="Meiryo"/>
              </a:defRPr>
            </a:pPr>
            <a:r>
              <a:t>VCの投資基準が多元化。OpenAIとAnthropicへの重複投資が常態化し、従来の『競合他社への同時投資タブー』が破られた。AI企業への投資が全体の80%以上を占める異常な市場構造（確信度88%）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TODAY'S HIGHLIGHT</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2</a:t>
            </a:r>
          </a:p>
        </p:txBody>
      </p:sp>
      <p:sp>
        <p:nvSpPr>
          <p:cNvPr id="6" name="TextBox 5"/>
          <p:cNvSpPr txBox="1"/>
          <p:nvPr/>
        </p:nvSpPr>
        <p:spPr>
          <a:xfrm>
            <a:off x="548640" y="960120"/>
            <a:ext cx="5303520" cy="731520"/>
          </a:xfrm>
          <a:prstGeom prst="rect">
            <a:avLst/>
          </a:prstGeom>
          <a:noFill/>
        </p:spPr>
        <p:txBody>
          <a:bodyPr wrap="square">
            <a:spAutoFit/>
          </a:bodyPr>
          <a:lstStyle/>
          <a:p>
            <a:pPr algn="l">
              <a:defRPr sz="2200" b="1">
                <a:solidFill>
                  <a:srgbClr val="1A1A2E"/>
                </a:solidFill>
                <a:latin typeface="Meiryo"/>
              </a:defRPr>
            </a:pPr>
            <a:r>
              <a:t>AnthropicがスーパーボウルLX広告でOpenAIを攻撃　ウェブ訪問者11%増・DAU11%増を達成、Claude アプリがApp Store Top 10入り</a:t>
            </a:r>
          </a:p>
        </p:txBody>
      </p:sp>
      <p:sp>
        <p:nvSpPr>
          <p:cNvPr id="7" name="TextBox 6"/>
          <p:cNvSpPr txBox="1"/>
          <p:nvPr/>
        </p:nvSpPr>
        <p:spPr>
          <a:xfrm>
            <a:off x="548640" y="1737360"/>
            <a:ext cx="5303520" cy="320040"/>
          </a:xfrm>
          <a:prstGeom prst="rect">
            <a:avLst/>
          </a:prstGeom>
          <a:noFill/>
        </p:spPr>
        <p:txBody>
          <a:bodyPr wrap="square">
            <a:spAutoFit/>
          </a:bodyPr>
          <a:lstStyle/>
          <a:p>
            <a:pPr algn="l">
              <a:defRPr sz="1200" b="0">
                <a:solidFill>
                  <a:srgbClr val="6C757D"/>
                </a:solidFill>
                <a:latin typeface="Meiryo"/>
              </a:defRPr>
            </a:pPr>
            <a:r>
              <a:t>Anthropic  |  Business  |  ★★★★★</a:t>
            </a:r>
          </a:p>
        </p:txBody>
      </p:sp>
      <p:sp>
        <p:nvSpPr>
          <p:cNvPr id="8" name="Rounded Rectangle 7"/>
          <p:cNvSpPr/>
          <p:nvPr/>
        </p:nvSpPr>
        <p:spPr>
          <a:xfrm>
            <a:off x="548640" y="2057400"/>
            <a:ext cx="2743200" cy="109728"/>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057400"/>
            <a:ext cx="2743200" cy="109728"/>
          </a:xfrm>
          <a:prstGeom prst="round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331720"/>
            <a:ext cx="5303520" cy="1463040"/>
          </a:xfrm>
          <a:prstGeom prst="rect">
            <a:avLst/>
          </a:prstGeom>
          <a:noFill/>
        </p:spPr>
        <p:txBody>
          <a:bodyPr wrap="square">
            <a:spAutoFit/>
          </a:bodyPr>
          <a:lstStyle/>
          <a:p>
            <a:pPr algn="l">
              <a:defRPr sz="1300" b="0">
                <a:solidFill>
                  <a:srgbClr val="1A1A2E"/>
                </a:solidFill>
                <a:latin typeface="Meiryo"/>
              </a:defRPr>
            </a:pPr>
            <a:r>
              <a:t>Super Bowl LXを背景にした広告戦が激化。Anthropicが『AI広告のないClaudeの自由さ』をOpenAIの広告導入と対比する広告を放映。BNP Paribas分析によると、Anthropicのサイト訪問者が6.5%増加、DAUが11%増加（AI企業最大）。一方OpenAI ChatGPTはDAU 2.7%増、Google Geminiは1.4%増に留まった。広告効果でClaude アプリがApp Store ランキング41位から Top 10（推定5-8位）に上昇。OpenAI CEO Sam Altmanが直後にX上でAnthropicの広告を『虚偽かつ不誠実』と非難。これは業界内での経営陣による直接的な公開対立として初の例となり、メディア注目度が急上昇。年内IPO予定の両社が視線を集める。</a:t>
            </a:r>
          </a:p>
        </p:txBody>
      </p:sp>
      <p:sp>
        <p:nvSpPr>
          <p:cNvPr id="11" name="Rectangle 10"/>
          <p:cNvSpPr/>
          <p:nvPr/>
        </p:nvSpPr>
        <p:spPr>
          <a:xfrm>
            <a:off x="548640" y="3977640"/>
            <a:ext cx="530352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977640"/>
            <a:ext cx="54864"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160520"/>
            <a:ext cx="365760" cy="36576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160520"/>
            <a:ext cx="365760" cy="365760"/>
          </a:xfrm>
          <a:prstGeom prst="rect">
            <a:avLst/>
          </a:prstGeom>
          <a:noFill/>
        </p:spPr>
        <p:txBody>
          <a:bodyPr wrap="square" anchor="ctr">
            <a:spAutoFit/>
          </a:bodyPr>
          <a:lstStyle/>
          <a:p>
            <a:pPr algn="ctr">
              <a:defRPr sz="1300" b="1">
                <a:solidFill>
                  <a:srgbClr val="FFFFFF"/>
                </a:solidFill>
                <a:latin typeface="Meiryo"/>
              </a:defRPr>
            </a:pPr>
            <a:r>
              <a:t>I</a:t>
            </a:r>
          </a:p>
        </p:txBody>
      </p:sp>
      <p:sp>
        <p:nvSpPr>
          <p:cNvPr id="15" name="TextBox 14"/>
          <p:cNvSpPr txBox="1"/>
          <p:nvPr/>
        </p:nvSpPr>
        <p:spPr>
          <a:xfrm>
            <a:off x="1097280" y="4023360"/>
            <a:ext cx="4617720" cy="182880"/>
          </a:xfrm>
          <a:prstGeom prst="rect">
            <a:avLst/>
          </a:prstGeom>
          <a:noFill/>
        </p:spPr>
        <p:txBody>
          <a:bodyPr wrap="square">
            <a:spAutoFit/>
          </a:bodyPr>
          <a:lstStyle/>
          <a:p>
            <a:pPr algn="l">
              <a:defRPr sz="1000" b="1">
                <a:solidFill>
                  <a:srgbClr val="005BAB"/>
                </a:solidFill>
                <a:latin typeface="Meiryo"/>
              </a:defRPr>
            </a:pPr>
            <a:r>
              <a:t>Impact</a:t>
            </a:r>
          </a:p>
        </p:txBody>
      </p:sp>
      <p:sp>
        <p:nvSpPr>
          <p:cNvPr id="16" name="TextBox 15"/>
          <p:cNvSpPr txBox="1"/>
          <p:nvPr/>
        </p:nvSpPr>
        <p:spPr>
          <a:xfrm>
            <a:off x="1097280" y="4206240"/>
            <a:ext cx="4617720" cy="548640"/>
          </a:xfrm>
          <a:prstGeom prst="rect">
            <a:avLst/>
          </a:prstGeom>
          <a:noFill/>
        </p:spPr>
        <p:txBody>
          <a:bodyPr wrap="square">
            <a:spAutoFit/>
          </a:bodyPr>
          <a:lstStyle/>
          <a:p>
            <a:pPr algn="l">
              <a:defRPr sz="900" b="0">
                <a:solidFill>
                  <a:srgbClr val="1A1A2E"/>
                </a:solidFill>
                <a:latin typeface="Meiryo"/>
              </a:defRPr>
            </a:pPr>
            <a:r>
              <a:t>短期的に消費者向けClaudeの認知・ダウンロードが急増。App Store Top 10入りは『テック以外の層』への進出を示唆。ただしChatGPT総体利用者数（月3億人）に対しClaudeは3000万人程度で、20倍以上の差は維持。Su</a:t>
            </a:r>
          </a:p>
        </p:txBody>
      </p:sp>
      <p:sp>
        <p:nvSpPr>
          <p:cNvPr id="17" name="Rectangle 16"/>
          <p:cNvSpPr/>
          <p:nvPr/>
        </p:nvSpPr>
        <p:spPr>
          <a:xfrm>
            <a:off x="548640" y="4937760"/>
            <a:ext cx="530352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937760"/>
            <a:ext cx="54864" cy="82296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58368" y="5120640"/>
            <a:ext cx="365760" cy="365760"/>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5120640"/>
            <a:ext cx="365760" cy="365760"/>
          </a:xfrm>
          <a:prstGeom prst="rect">
            <a:avLst/>
          </a:prstGeom>
          <a:noFill/>
        </p:spPr>
        <p:txBody>
          <a:bodyPr wrap="square" anchor="ctr">
            <a:spAutoFit/>
          </a:bodyPr>
          <a:lstStyle/>
          <a:p>
            <a:pPr algn="ctr">
              <a:defRPr sz="1300" b="1">
                <a:solidFill>
                  <a:srgbClr val="FFFFFF"/>
                </a:solidFill>
                <a:latin typeface="Meiryo"/>
              </a:defRPr>
            </a:pPr>
            <a:r>
              <a:t>O</a:t>
            </a:r>
          </a:p>
        </p:txBody>
      </p:sp>
      <p:sp>
        <p:nvSpPr>
          <p:cNvPr id="21" name="TextBox 20"/>
          <p:cNvSpPr txBox="1"/>
          <p:nvPr/>
        </p:nvSpPr>
        <p:spPr>
          <a:xfrm>
            <a:off x="1097280" y="4983480"/>
            <a:ext cx="4617720" cy="182880"/>
          </a:xfrm>
          <a:prstGeom prst="rect">
            <a:avLst/>
          </a:prstGeom>
          <a:noFill/>
        </p:spPr>
        <p:txBody>
          <a:bodyPr wrap="square">
            <a:spAutoFit/>
          </a:bodyPr>
          <a:lstStyle/>
          <a:p>
            <a:pPr algn="l">
              <a:defRPr sz="1000" b="1">
                <a:solidFill>
                  <a:srgbClr val="5BA4D9"/>
                </a:solidFill>
                <a:latin typeface="Meiryo"/>
              </a:defRPr>
            </a:pPr>
            <a:r>
              <a:t>Outlook</a:t>
            </a:r>
          </a:p>
        </p:txBody>
      </p:sp>
      <p:sp>
        <p:nvSpPr>
          <p:cNvPr id="22" name="TextBox 21"/>
          <p:cNvSpPr txBox="1"/>
          <p:nvPr/>
        </p:nvSpPr>
        <p:spPr>
          <a:xfrm>
            <a:off x="1097280" y="5166360"/>
            <a:ext cx="4617720" cy="548640"/>
          </a:xfrm>
          <a:prstGeom prst="rect">
            <a:avLst/>
          </a:prstGeom>
          <a:noFill/>
        </p:spPr>
        <p:txBody>
          <a:bodyPr wrap="square">
            <a:spAutoFit/>
          </a:bodyPr>
          <a:lstStyle/>
          <a:p>
            <a:pPr algn="l">
              <a:defRPr sz="900" b="0">
                <a:solidFill>
                  <a:srgbClr val="1A1A2E"/>
                </a:solidFill>
                <a:latin typeface="Meiryo"/>
              </a:defRPr>
            </a:pPr>
            <a:r>
              <a:t>2026年Q2にも第2波の広告戦が想定。OpenAIがChatGPT有料版の『Ad-Free プラン』追加の可能性（月20-30ドルレンジ推定）。Anthropicがメディア露出増加で『安全性AI企業』のブランド構築に成功。IPO時のブラン</a:t>
            </a:r>
          </a:p>
        </p:txBody>
      </p:sp>
      <p:sp>
        <p:nvSpPr>
          <p:cNvPr id="23" name="Rectangle 22"/>
          <p:cNvSpPr/>
          <p:nvPr/>
        </p:nvSpPr>
        <p:spPr>
          <a:xfrm>
            <a:off x="548640" y="5897880"/>
            <a:ext cx="530352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54864" cy="82296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6080760"/>
            <a:ext cx="365760" cy="365760"/>
          </a:xfrm>
          <a:prstGeom prst="ellipse">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080760"/>
            <a:ext cx="365760" cy="365760"/>
          </a:xfrm>
          <a:prstGeom prst="rect">
            <a:avLst/>
          </a:prstGeom>
          <a:noFill/>
        </p:spPr>
        <p:txBody>
          <a:bodyPr wrap="square" anchor="ctr">
            <a:spAutoFit/>
          </a:bodyPr>
          <a:lstStyle/>
          <a:p>
            <a:pPr algn="ctr">
              <a:defRPr sz="1300" b="1">
                <a:solidFill>
                  <a:srgbClr val="FFFFFF"/>
                </a:solidFill>
                <a:latin typeface="Meiryo"/>
              </a:defRPr>
            </a:pPr>
            <a:r>
              <a:t>R</a:t>
            </a:r>
          </a:p>
        </p:txBody>
      </p:sp>
      <p:sp>
        <p:nvSpPr>
          <p:cNvPr id="27" name="TextBox 26"/>
          <p:cNvSpPr txBox="1"/>
          <p:nvPr/>
        </p:nvSpPr>
        <p:spPr>
          <a:xfrm>
            <a:off x="1097280" y="5943600"/>
            <a:ext cx="4617720" cy="182880"/>
          </a:xfrm>
          <a:prstGeom prst="rect">
            <a:avLst/>
          </a:prstGeom>
          <a:noFill/>
        </p:spPr>
        <p:txBody>
          <a:bodyPr wrap="square">
            <a:spAutoFit/>
          </a:bodyPr>
          <a:lstStyle/>
          <a:p>
            <a:pPr algn="l">
              <a:defRPr sz="1000" b="1">
                <a:solidFill>
                  <a:srgbClr val="FF961C"/>
                </a:solidFill>
                <a:latin typeface="Meiryo"/>
              </a:defRPr>
            </a:pPr>
            <a:r>
              <a:t>Risks</a:t>
            </a:r>
          </a:p>
        </p:txBody>
      </p:sp>
      <p:sp>
        <p:nvSpPr>
          <p:cNvPr id="28" name="TextBox 27"/>
          <p:cNvSpPr txBox="1"/>
          <p:nvPr/>
        </p:nvSpPr>
        <p:spPr>
          <a:xfrm>
            <a:off x="1097280" y="6126480"/>
            <a:ext cx="4617720" cy="548640"/>
          </a:xfrm>
          <a:prstGeom prst="rect">
            <a:avLst/>
          </a:prstGeom>
          <a:noFill/>
        </p:spPr>
        <p:txBody>
          <a:bodyPr wrap="square">
            <a:spAutoFit/>
          </a:bodyPr>
          <a:lstStyle/>
          <a:p>
            <a:pPr algn="l">
              <a:defRPr sz="900" b="0">
                <a:solidFill>
                  <a:srgbClr val="1A1A2E"/>
                </a:solidFill>
                <a:latin typeface="Meiryo"/>
              </a:defRPr>
            </a:pPr>
            <a:r>
              <a:t>①Altmanの『虚偽』発言が法的紛争に発展する可能性（広告基準委員会への不服申立等）、②消費者向けClaudeの利用拡大に伴うサポートコスト急増、③エンタープライズ営業リソースの消費者向け広告対応への流用による営業停滞。</a:t>
            </a:r>
          </a:p>
        </p:txBody>
      </p:sp>
      <p:pic>
        <p:nvPicPr>
          <p:cNvPr id="29" name="Picture 28" descr="highlight_diagram.png"/>
          <p:cNvPicPr>
            <a:picLocks noChangeAspect="1"/>
          </p:cNvPicPr>
          <p:nvPr/>
        </p:nvPicPr>
        <p:blipFill>
          <a:blip r:embed="rId2"/>
          <a:stretch>
            <a:fillRect/>
          </a:stretch>
        </p:blipFill>
        <p:spPr>
          <a:xfrm>
            <a:off x="6156655" y="960120"/>
            <a:ext cx="5486400" cy="4572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企業動向比較マトリクス</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3</a:t>
            </a:r>
          </a:p>
        </p:txBody>
      </p:sp>
      <p:graphicFrame>
        <p:nvGraphicFramePr>
          <p:cNvPr id="6" name="Table 5"/>
          <p:cNvGraphicFramePr>
            <a:graphicFrameLocks noGrp="1"/>
          </p:cNvGraphicFramePr>
          <p:nvPr/>
        </p:nvGraphicFramePr>
        <p:xfrm>
          <a:off x="548640" y="960120"/>
          <a:ext cx="11094415" cy="4480559"/>
        </p:xfrm>
        <a:graphic>
          <a:graphicData uri="http://schemas.openxmlformats.org/drawingml/2006/table">
            <a:tbl>
              <a:tblPr firstRow="1" bandRow="1">
                <a:tableStyleId>{5C22544A-7EE6-4342-B048-85BDC9FD1C3A}</a:tableStyleId>
              </a:tblPr>
              <a:tblGrid>
                <a:gridCol w="1645920"/>
                <a:gridCol w="2011680"/>
                <a:gridCol w="3474720"/>
                <a:gridCol w="914400"/>
                <a:gridCol w="3047695"/>
              </a:tblGrid>
              <a:tr h="640079">
                <a:tc>
                  <a:txBody>
                    <a:bodyPr/>
                    <a:lstStyle/>
                    <a:p>
                      <a:pPr algn="ctr">
                        <a:defRPr sz="1200" b="1">
                          <a:solidFill>
                            <a:srgbClr val="FFFFFF"/>
                          </a:solidFill>
                          <a:latin typeface="Meiryo"/>
                        </a:defRPr>
                      </a:pPr>
                      <a:r>
                        <a:t>企業</a:t>
                      </a:r>
                    </a:p>
                  </a:txBody>
                  <a:tcPr>
                    <a:solidFill>
                      <a:srgbClr val="005BAB"/>
                    </a:solidFill>
                  </a:tcPr>
                </a:tc>
                <a:tc>
                  <a:txBody>
                    <a:bodyPr/>
                    <a:lstStyle/>
                    <a:p>
                      <a:pPr algn="ctr">
                        <a:defRPr sz="1200" b="1">
                          <a:solidFill>
                            <a:srgbClr val="FFFFFF"/>
                          </a:solidFill>
                          <a:latin typeface="Meiryo"/>
                        </a:defRPr>
                      </a:pPr>
                      <a:r>
                        <a:t>注力分野</a:t>
                      </a:r>
                    </a:p>
                  </a:txBody>
                  <a:tcPr>
                    <a:solidFill>
                      <a:srgbClr val="005BAB"/>
                    </a:solidFill>
                  </a:tcPr>
                </a:tc>
                <a:tc>
                  <a:txBody>
                    <a:bodyPr/>
                    <a:lstStyle/>
                    <a:p>
                      <a:pPr algn="ctr">
                        <a:defRPr sz="1200" b="1">
                          <a:solidFill>
                            <a:srgbClr val="FFFFFF"/>
                          </a:solidFill>
                          <a:latin typeface="Meiryo"/>
                        </a:defRPr>
                      </a:pPr>
                      <a:r>
                        <a:t>主要アクション</a:t>
                      </a:r>
                    </a:p>
                  </a:txBody>
                  <a:tcPr>
                    <a:solidFill>
                      <a:srgbClr val="005BAB"/>
                    </a:solidFill>
                  </a:tcPr>
                </a:tc>
                <a:tc>
                  <a:txBody>
                    <a:bodyPr/>
                    <a:lstStyle/>
                    <a:p>
                      <a:pPr algn="ctr">
                        <a:defRPr sz="1200" b="1">
                          <a:solidFill>
                            <a:srgbClr val="FFFFFF"/>
                          </a:solidFill>
                          <a:latin typeface="Meiryo"/>
                        </a:defRPr>
                      </a:pPr>
                      <a:r>
                        <a:t>動向</a:t>
                      </a:r>
                    </a:p>
                  </a:txBody>
                  <a:tcPr>
                    <a:solidFill>
                      <a:srgbClr val="005BAB"/>
                    </a:solidFill>
                  </a:tcPr>
                </a:tc>
                <a:tc>
                  <a:txBody>
                    <a:bodyPr/>
                    <a:lstStyle/>
                    <a:p>
                      <a:pPr algn="ctr">
                        <a:defRPr sz="1200" b="1">
                          <a:solidFill>
                            <a:srgbClr val="FFFFFF"/>
                          </a:solidFill>
                          <a:latin typeface="Meiryo"/>
                        </a:defRPr>
                      </a:pPr>
                      <a:r>
                        <a:t>強み</a:t>
                      </a:r>
                    </a:p>
                  </a:txBody>
                  <a:tcPr>
                    <a:solidFill>
                      <a:srgbClr val="005BAB"/>
                    </a:solidFill>
                  </a:tcPr>
                </a:tc>
              </a:tr>
              <a:tr h="640079">
                <a:tc>
                  <a:txBody>
                    <a:bodyPr/>
                    <a:lstStyle/>
                    <a:p>
                      <a:pPr>
                        <a:defRPr sz="1100" b="1">
                          <a:solidFill>
                            <a:srgbClr val="1A1A2E"/>
                          </a:solidFill>
                          <a:latin typeface="Meiryo"/>
                        </a:defRPr>
                      </a:pPr>
                      <a:r>
                        <a:t>Anthropic</a:t>
                      </a:r>
                    </a:p>
                  </a:txBody>
                  <a:tcPr>
                    <a:solidFill>
                      <a:srgbClr val="FFFFFF"/>
                    </a:solidFill>
                  </a:tcPr>
                </a:tc>
                <a:tc>
                  <a:txBody>
                    <a:bodyPr/>
                    <a:lstStyle/>
                    <a:p>
                      <a:pPr>
                        <a:defRPr sz="1100">
                          <a:solidFill>
                            <a:srgbClr val="1A1A2E"/>
                          </a:solidFill>
                          <a:latin typeface="Meiryo"/>
                        </a:defRPr>
                      </a:pPr>
                      <a:r>
                        <a:t>エンタープライズAI・安全性研究</a:t>
                      </a:r>
                    </a:p>
                  </a:txBody>
                  <a:tcPr>
                    <a:solidFill>
                      <a:srgbClr val="FFFFFF"/>
                    </a:solidFill>
                  </a:tcPr>
                </a:tc>
                <a:tc>
                  <a:txBody>
                    <a:bodyPr/>
                    <a:lstStyle/>
                    <a:p>
                      <a:pPr>
                        <a:defRPr sz="1100">
                          <a:solidFill>
                            <a:srgbClr val="1A1A2E"/>
                          </a:solidFill>
                          <a:latin typeface="Meiryo"/>
                        </a:defRPr>
                      </a:pPr>
                      <a:r>
                        <a:t>Series G 300億ドル調達・Fortune 10中8社顧客化・Claude Code年売上25億ドル・Super Bowl広告でOpenAI攻撃</a:t>
                      </a:r>
                    </a:p>
                  </a:txBody>
                  <a:tcPr>
                    <a:solidFill>
                      <a:srgbClr val="FFFFFF"/>
                    </a:solidFill>
                  </a:tcPr>
                </a:tc>
                <a:tc>
                  <a:txBody>
                    <a:bodyPr/>
                    <a:lstStyle/>
                    <a:p>
                      <a:pPr algn="ctr">
                        <a:defRPr sz="1400" b="1">
                          <a:solidFill>
                            <a:srgbClr val="007A33"/>
                          </a:solidFill>
                          <a:latin typeface="Meiryo"/>
                        </a:defRPr>
                      </a:pPr>
                      <a:r>
                        <a:t>▲</a:t>
                      </a:r>
                    </a:p>
                  </a:txBody>
                  <a:tcPr>
                    <a:solidFill>
                      <a:srgbClr val="FFFFFF"/>
                    </a:solidFill>
                  </a:tcPr>
                </a:tc>
                <a:tc>
                  <a:txBody>
                    <a:bodyPr/>
                    <a:lstStyle/>
                    <a:p>
                      <a:pPr>
                        <a:defRPr sz="1100">
                          <a:solidFill>
                            <a:srgbClr val="1A1A2E"/>
                          </a:solidFill>
                          <a:latin typeface="Meiryo"/>
                        </a:defRPr>
                      </a:pPr>
                      <a:r>
                        <a:t>Fortune 500企業への圧倒的な採用率・エンタープライズ課金モデルの確立・安全性研究ポジショニング。ただし安全研究チーム流出のリスク増加</a:t>
                      </a:r>
                    </a:p>
                  </a:txBody>
                  <a:tcPr>
                    <a:solidFill>
                      <a:srgbClr val="FFFFFF"/>
                    </a:solidFill>
                  </a:tcPr>
                </a:tc>
              </a:tr>
              <a:tr h="640079">
                <a:tc>
                  <a:txBody>
                    <a:bodyPr/>
                    <a:lstStyle/>
                    <a:p>
                      <a:pPr>
                        <a:defRPr sz="1100" b="1">
                          <a:solidFill>
                            <a:srgbClr val="1A1A2E"/>
                          </a:solidFill>
                          <a:latin typeface="Meiryo"/>
                        </a:defRPr>
                      </a:pPr>
                      <a:r>
                        <a:t>OpenAI</a:t>
                      </a:r>
                    </a:p>
                  </a:txBody>
                  <a:tcPr>
                    <a:solidFill>
                      <a:srgbClr val="E8F1F8"/>
                    </a:solidFill>
                  </a:tcPr>
                </a:tc>
                <a:tc>
                  <a:txBody>
                    <a:bodyPr/>
                    <a:lstStyle/>
                    <a:p>
                      <a:pPr>
                        <a:defRPr sz="1100">
                          <a:solidFill>
                            <a:srgbClr val="1A1A2E"/>
                          </a:solidFill>
                          <a:latin typeface="Meiryo"/>
                        </a:defRPr>
                      </a:pPr>
                      <a:r>
                        <a:t>消費者向けLLM・GPT-5開発・AGI志向</a:t>
                      </a:r>
                    </a:p>
                  </a:txBody>
                  <a:tcPr>
                    <a:solidFill>
                      <a:srgbClr val="E8F1F8"/>
                    </a:solidFill>
                  </a:tcPr>
                </a:tc>
                <a:tc>
                  <a:txBody>
                    <a:bodyPr/>
                    <a:lstStyle/>
                    <a:p>
                      <a:pPr>
                        <a:defRPr sz="1100">
                          <a:solidFill>
                            <a:srgbClr val="1A1A2E"/>
                          </a:solidFill>
                          <a:latin typeface="Meiryo"/>
                        </a:defRPr>
                      </a:pPr>
                      <a:r>
                        <a:t>100億ドル資金調達目途・ChatGPT広告導入・安全研究チーム解体・Sam Altmanの攻撃的発言継続</a:t>
                      </a:r>
                    </a:p>
                  </a:txBody>
                  <a:tcPr>
                    <a:solidFill>
                      <a:srgbClr val="E8F1F8"/>
                    </a:solidFill>
                  </a:tcPr>
                </a:tc>
                <a:tc>
                  <a:txBody>
                    <a:bodyPr/>
                    <a:lstStyle/>
                    <a:p>
                      <a:pPr algn="ctr">
                        <a:defRPr sz="1400" b="1">
                          <a:solidFill>
                            <a:srgbClr val="6C757D"/>
                          </a:solidFill>
                          <a:latin typeface="Meiryo"/>
                        </a:defRPr>
                      </a:pPr>
                      <a:r>
                        <a:t>◆</a:t>
                      </a:r>
                    </a:p>
                  </a:txBody>
                  <a:tcPr>
                    <a:solidFill>
                      <a:srgbClr val="E8F1F8"/>
                    </a:solidFill>
                  </a:tcPr>
                </a:tc>
                <a:tc>
                  <a:txBody>
                    <a:bodyPr/>
                    <a:lstStyle/>
                    <a:p>
                      <a:pPr>
                        <a:defRPr sz="1100">
                          <a:solidFill>
                            <a:srgbClr val="1A1A2E"/>
                          </a:solidFill>
                          <a:latin typeface="Meiryo"/>
                        </a:defRPr>
                      </a:pPr>
                      <a:r>
                        <a:t>ブランド力・モデル性能・消費者基盤。ただし企業向けシェア喪失・規制リスク・人材流出のリスク</a:t>
                      </a:r>
                    </a:p>
                  </a:txBody>
                  <a:tcPr>
                    <a:solidFill>
                      <a:srgbClr val="E8F1F8"/>
                    </a:solidFill>
                  </a:tcPr>
                </a:tc>
              </a:tr>
              <a:tr h="640079">
                <a:tc>
                  <a:txBody>
                    <a:bodyPr/>
                    <a:lstStyle/>
                    <a:p>
                      <a:pPr>
                        <a:defRPr sz="1100" b="1">
                          <a:solidFill>
                            <a:srgbClr val="1A1A2E"/>
                          </a:solidFill>
                          <a:latin typeface="Meiryo"/>
                        </a:defRPr>
                      </a:pPr>
                      <a:r>
                        <a:t>Google</a:t>
                      </a:r>
                    </a:p>
                  </a:txBody>
                  <a:tcPr>
                    <a:solidFill>
                      <a:srgbClr val="FFFFFF"/>
                    </a:solidFill>
                  </a:tcPr>
                </a:tc>
                <a:tc>
                  <a:txBody>
                    <a:bodyPr/>
                    <a:lstStyle/>
                    <a:p>
                      <a:pPr>
                        <a:defRPr sz="1100">
                          <a:solidFill>
                            <a:srgbClr val="1A1A2E"/>
                          </a:solidFill>
                          <a:latin typeface="Meiryo"/>
                        </a:defRPr>
                      </a:pPr>
                      <a:r>
                        <a:t>検索AI・アジェンティックコマース・垂直統合</a:t>
                      </a:r>
                    </a:p>
                  </a:txBody>
                  <a:tcPr>
                    <a:solidFill>
                      <a:srgbClr val="FFFFFF"/>
                    </a:solidFill>
                  </a:tcPr>
                </a:tc>
                <a:tc>
                  <a:txBody>
                    <a:bodyPr/>
                    <a:lstStyle/>
                    <a:p>
                      <a:pPr>
                        <a:defRPr sz="1100">
                          <a:solidFill>
                            <a:srgbClr val="1A1A2E"/>
                          </a:solidFill>
                          <a:latin typeface="Meiryo"/>
                        </a:defRPr>
                      </a:pPr>
                      <a:r>
                        <a:t>広告フォーマット『再発明』・175-185億ドル capex・AI化されたGoogle検索推進</a:t>
                      </a:r>
                    </a:p>
                  </a:txBody>
                  <a:tcPr>
                    <a:solidFill>
                      <a:srgbClr val="FFFFFF"/>
                    </a:solidFill>
                  </a:tcPr>
                </a:tc>
                <a:tc>
                  <a:txBody>
                    <a:bodyPr/>
                    <a:lstStyle/>
                    <a:p>
                      <a:pPr algn="ctr">
                        <a:defRPr sz="1400" b="1">
                          <a:solidFill>
                            <a:srgbClr val="007A33"/>
                          </a:solidFill>
                          <a:latin typeface="Meiryo"/>
                        </a:defRPr>
                      </a:pPr>
                      <a:r>
                        <a:t>▲</a:t>
                      </a:r>
                    </a:p>
                  </a:txBody>
                  <a:tcPr>
                    <a:solidFill>
                      <a:srgbClr val="FFFFFF"/>
                    </a:solidFill>
                  </a:tcPr>
                </a:tc>
                <a:tc>
                  <a:txBody>
                    <a:bodyPr/>
                    <a:lstStyle/>
                    <a:p>
                      <a:pPr>
                        <a:defRPr sz="1100">
                          <a:solidFill>
                            <a:srgbClr val="1A1A2E"/>
                          </a:solidFill>
                          <a:latin typeface="Meiryo"/>
                        </a:defRPr>
                      </a:pPr>
                      <a:r>
                        <a:t>既存広告ビジネスとのシナジー・Geminiエンタープライズ採用・データセンター網。ただし消費者向けGeminiはClaudeに劣後</a:t>
                      </a:r>
                    </a:p>
                  </a:txBody>
                  <a:tcPr>
                    <a:solidFill>
                      <a:srgbClr val="FFFFFF"/>
                    </a:solidFill>
                  </a:tcPr>
                </a:tc>
              </a:tr>
              <a:tr h="640079">
                <a:tc>
                  <a:txBody>
                    <a:bodyPr/>
                    <a:lstStyle/>
                    <a:p>
                      <a:pPr>
                        <a:defRPr sz="1100" b="1">
                          <a:solidFill>
                            <a:srgbClr val="1A1A2E"/>
                          </a:solidFill>
                          <a:latin typeface="Meiryo"/>
                        </a:defRPr>
                      </a:pPr>
                      <a:r>
                        <a:t>Microsoft</a:t>
                      </a:r>
                    </a:p>
                  </a:txBody>
                  <a:tcPr>
                    <a:solidFill>
                      <a:srgbClr val="E8F1F8"/>
                    </a:solidFill>
                  </a:tcPr>
                </a:tc>
                <a:tc>
                  <a:txBody>
                    <a:bodyPr/>
                    <a:lstStyle/>
                    <a:p>
                      <a:pPr>
                        <a:defRPr sz="1100">
                          <a:solidFill>
                            <a:srgbClr val="1A1A2E"/>
                          </a:solidFill>
                          <a:latin typeface="Meiryo"/>
                        </a:defRPr>
                      </a:pPr>
                      <a:r>
                        <a:t>OpenAI統合・企業向けCopilot・AI自給自足</a:t>
                      </a:r>
                    </a:p>
                  </a:txBody>
                  <a:tcPr>
                    <a:solidFill>
                      <a:srgbClr val="E8F1F8"/>
                    </a:solidFill>
                  </a:tcPr>
                </a:tc>
                <a:tc>
                  <a:txBody>
                    <a:bodyPr/>
                    <a:lstStyle/>
                    <a:p>
                      <a:pPr>
                        <a:defRPr sz="1100">
                          <a:solidFill>
                            <a:srgbClr val="1A1A2E"/>
                          </a:solidFill>
                          <a:latin typeface="Meiryo"/>
                        </a:defRPr>
                      </a:pPr>
                      <a:r>
                        <a:t>『真の自給自足』宣言・Mustafa SuleymanのOpenAI依存脱却声明・175-185億ドルcapex・原発電力契約</a:t>
                      </a:r>
                    </a:p>
                  </a:txBody>
                  <a:tcPr>
                    <a:solidFill>
                      <a:srgbClr val="E8F1F8"/>
                    </a:solidFill>
                  </a:tcPr>
                </a:tc>
                <a:tc>
                  <a:txBody>
                    <a:bodyPr/>
                    <a:lstStyle/>
                    <a:p>
                      <a:pPr algn="ctr">
                        <a:defRPr sz="1400" b="1">
                          <a:solidFill>
                            <a:srgbClr val="007A33"/>
                          </a:solidFill>
                          <a:latin typeface="Meiryo"/>
                        </a:defRPr>
                      </a:pPr>
                      <a:r>
                        <a:t>▲</a:t>
                      </a:r>
                    </a:p>
                  </a:txBody>
                  <a:tcPr>
                    <a:solidFill>
                      <a:srgbClr val="E8F1F8"/>
                    </a:solidFill>
                  </a:tcPr>
                </a:tc>
                <a:tc>
                  <a:txBody>
                    <a:bodyPr/>
                    <a:lstStyle/>
                    <a:p>
                      <a:pPr>
                        <a:defRPr sz="1100">
                          <a:solidFill>
                            <a:srgbClr val="1A1A2E"/>
                          </a:solidFill>
                          <a:latin typeface="Meiryo"/>
                        </a:defRPr>
                      </a:pPr>
                      <a:r>
                        <a:t>既存企業顧客基盤・クラウド統合・電力確保戦略。OpenAI依存脱却へのシフトがリスク</a:t>
                      </a:r>
                    </a:p>
                  </a:txBody>
                  <a:tcPr>
                    <a:solidFill>
                      <a:srgbClr val="E8F1F8"/>
                    </a:solidFill>
                  </a:tcPr>
                </a:tc>
              </a:tr>
              <a:tr h="640079">
                <a:tc>
                  <a:txBody>
                    <a:bodyPr/>
                    <a:lstStyle/>
                    <a:p>
                      <a:pPr>
                        <a:defRPr sz="1100" b="1">
                          <a:solidFill>
                            <a:srgbClr val="1A1A2E"/>
                          </a:solidFill>
                          <a:latin typeface="Meiryo"/>
                        </a:defRPr>
                      </a:pPr>
                      <a:r>
                        <a:t>Meta</a:t>
                      </a:r>
                    </a:p>
                  </a:txBody>
                  <a:tcPr>
                    <a:solidFill>
                      <a:srgbClr val="FFFFFF"/>
                    </a:solidFill>
                  </a:tcPr>
                </a:tc>
                <a:tc>
                  <a:txBody>
                    <a:bodyPr/>
                    <a:lstStyle/>
                    <a:p>
                      <a:pPr>
                        <a:defRPr sz="1100">
                          <a:solidFill>
                            <a:srgbClr val="1A1A2E"/>
                          </a:solidFill>
                          <a:latin typeface="Meiryo"/>
                        </a:defRPr>
                      </a:pPr>
                      <a:r>
                        <a:t>広告主向けAI・Llama開発・Grok競合</a:t>
                      </a:r>
                    </a:p>
                  </a:txBody>
                  <a:tcPr>
                    <a:solidFill>
                      <a:srgbClr val="FFFFFF"/>
                    </a:solidFill>
                  </a:tcPr>
                </a:tc>
                <a:tc>
                  <a:txBody>
                    <a:bodyPr/>
                    <a:lstStyle/>
                    <a:p>
                      <a:pPr>
                        <a:defRPr sz="1100">
                          <a:solidFill>
                            <a:srgbClr val="1A1A2E"/>
                          </a:solidFill>
                          <a:latin typeface="Meiryo"/>
                        </a:defRPr>
                      </a:pPr>
                      <a:r>
                        <a:t>135-150億ドルcapex計画・30億ドルNVIDIA GPU購入・AI広告最適化</a:t>
                      </a:r>
                    </a:p>
                  </a:txBody>
                  <a:tcPr>
                    <a:solidFill>
                      <a:srgbClr val="FFFFFF"/>
                    </a:solidFill>
                  </a:tcPr>
                </a:tc>
                <a:tc>
                  <a:txBody>
                    <a:bodyPr/>
                    <a:lstStyle/>
                    <a:p>
                      <a:pPr algn="ctr">
                        <a:defRPr sz="1400" b="1">
                          <a:solidFill>
                            <a:srgbClr val="007A33"/>
                          </a:solidFill>
                          <a:latin typeface="Meiryo"/>
                        </a:defRPr>
                      </a:pPr>
                      <a:r>
                        <a:t>▲</a:t>
                      </a:r>
                    </a:p>
                  </a:txBody>
                  <a:tcPr>
                    <a:solidFill>
                      <a:srgbClr val="FFFFFF"/>
                    </a:solidFill>
                  </a:tcPr>
                </a:tc>
                <a:tc>
                  <a:txBody>
                    <a:bodyPr/>
                    <a:lstStyle/>
                    <a:p>
                      <a:pPr>
                        <a:defRPr sz="1100">
                          <a:solidFill>
                            <a:srgbClr val="1A1A2E"/>
                          </a:solidFill>
                          <a:latin typeface="Meiryo"/>
                        </a:defRPr>
                      </a:pPr>
                      <a:r>
                        <a:t>広告テック統合・GPU調達能力。ただし汎用LLMでは後発・エンタープライズ弱体</a:t>
                      </a:r>
                    </a:p>
                  </a:txBody>
                  <a:tcPr>
                    <a:solidFill>
                      <a:srgbClr val="FFFFFF"/>
                    </a:solidFill>
                  </a:tcPr>
                </a:tc>
              </a:tr>
              <a:tr h="640085">
                <a:tc>
                  <a:txBody>
                    <a:bodyPr/>
                    <a:lstStyle/>
                    <a:p>
                      <a:pPr>
                        <a:defRPr sz="1100" b="1">
                          <a:solidFill>
                            <a:srgbClr val="1A1A2E"/>
                          </a:solidFill>
                          <a:latin typeface="Meiryo"/>
                        </a:defRPr>
                      </a:pPr>
                      <a:r>
                        <a:t>xAI</a:t>
                      </a:r>
                    </a:p>
                  </a:txBody>
                  <a:tcPr>
                    <a:solidFill>
                      <a:srgbClr val="E8F1F8"/>
                    </a:solidFill>
                  </a:tcPr>
                </a:tc>
                <a:tc>
                  <a:txBody>
                    <a:bodyPr/>
                    <a:lstStyle/>
                    <a:p>
                      <a:pPr>
                        <a:defRPr sz="1100">
                          <a:solidFill>
                            <a:srgbClr val="1A1A2E"/>
                          </a:solidFill>
                          <a:latin typeface="Meiryo"/>
                        </a:defRPr>
                      </a:pPr>
                      <a:r>
                        <a:t>Grok開発・消費者向けチャットボット・SpaceX統合</a:t>
                      </a:r>
                    </a:p>
                  </a:txBody>
                  <a:tcPr>
                    <a:solidFill>
                      <a:srgbClr val="E8F1F8"/>
                    </a:solidFill>
                  </a:tcPr>
                </a:tc>
                <a:tc>
                  <a:txBody>
                    <a:bodyPr/>
                    <a:lstStyle/>
                    <a:p>
                      <a:pPr>
                        <a:defRPr sz="1100">
                          <a:solidFill>
                            <a:srgbClr val="1A1A2E"/>
                          </a:solidFill>
                          <a:latin typeface="Meiryo"/>
                        </a:defRPr>
                      </a:pPr>
                      <a:r>
                        <a:t>SpaceXとの合併予定・宇宙データセンター構想・Elon Muskの積極発言</a:t>
                      </a:r>
                    </a:p>
                  </a:txBody>
                  <a:tcPr>
                    <a:solidFill>
                      <a:srgbClr val="E8F1F8"/>
                    </a:solidFill>
                  </a:tcPr>
                </a:tc>
                <a:tc>
                  <a:txBody>
                    <a:bodyPr/>
                    <a:lstStyle/>
                    <a:p>
                      <a:pPr algn="ctr">
                        <a:defRPr sz="1400" b="1">
                          <a:solidFill>
                            <a:srgbClr val="6C757D"/>
                          </a:solidFill>
                          <a:latin typeface="Meiryo"/>
                        </a:defRPr>
                      </a:pPr>
                      <a:r>
                        <a:t>◆</a:t>
                      </a:r>
                    </a:p>
                  </a:txBody>
                  <a:tcPr>
                    <a:solidFill>
                      <a:srgbClr val="E8F1F8"/>
                    </a:solidFill>
                  </a:tcPr>
                </a:tc>
                <a:tc>
                  <a:txBody>
                    <a:bodyPr/>
                    <a:lstStyle/>
                    <a:p>
                      <a:pPr>
                        <a:defRPr sz="1100">
                          <a:solidFill>
                            <a:srgbClr val="1A1A2E"/>
                          </a:solidFill>
                          <a:latin typeface="Meiryo"/>
                        </a:defRPr>
                      </a:pPr>
                      <a:r>
                        <a:t>Muskのブランド力・SpaceX統合の潜在力。ただしAnthropic・OpenAI比較で企業採用劣後</a:t>
                      </a:r>
                    </a:p>
                  </a:txBody>
                  <a:tcPr>
                    <a:solidFill>
                      <a:srgbClr val="E8F1F8"/>
                    </a:solidFill>
                  </a:tcPr>
                </a:tc>
              </a:tr>
            </a:tbl>
          </a:graphicData>
        </a:graphic>
      </p:graphicFrame>
      <p:sp>
        <p:nvSpPr>
          <p:cNvPr id="7" name="Rounded Rectangle 6"/>
          <p:cNvSpPr/>
          <p:nvPr/>
        </p:nvSpPr>
        <p:spPr>
          <a:xfrm>
            <a:off x="548640" y="5669279"/>
            <a:ext cx="2011680" cy="320040"/>
          </a:xfrm>
          <a:prstGeom prst="round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5669279"/>
            <a:ext cx="2011680" cy="320040"/>
          </a:xfrm>
          <a:prstGeom prst="rect">
            <a:avLst/>
          </a:prstGeom>
          <a:noFill/>
        </p:spPr>
        <p:txBody>
          <a:bodyPr wrap="square" anchor="ctr">
            <a:spAutoFit/>
          </a:bodyPr>
          <a:lstStyle/>
          <a:p>
            <a:pPr algn="ctr">
              <a:defRPr sz="1100" b="1">
                <a:solidFill>
                  <a:srgbClr val="FFFFFF"/>
                </a:solidFill>
                <a:latin typeface="Meiryo"/>
              </a:defRPr>
            </a:pPr>
            <a:r>
              <a:t>  Anthropic  ▲</a:t>
            </a:r>
          </a:p>
        </p:txBody>
      </p:sp>
      <p:sp>
        <p:nvSpPr>
          <p:cNvPr id="9" name="Rounded Rectangle 8"/>
          <p:cNvSpPr/>
          <p:nvPr/>
        </p:nvSpPr>
        <p:spPr>
          <a:xfrm>
            <a:off x="2743200" y="5669279"/>
            <a:ext cx="2011680" cy="320040"/>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0" y="5669279"/>
            <a:ext cx="2011680" cy="320040"/>
          </a:xfrm>
          <a:prstGeom prst="rect">
            <a:avLst/>
          </a:prstGeom>
          <a:noFill/>
        </p:spPr>
        <p:txBody>
          <a:bodyPr wrap="square" anchor="ctr">
            <a:spAutoFit/>
          </a:bodyPr>
          <a:lstStyle/>
          <a:p>
            <a:pPr algn="ctr">
              <a:defRPr sz="1100" b="1">
                <a:solidFill>
                  <a:srgbClr val="FFFFFF"/>
                </a:solidFill>
                <a:latin typeface="Meiryo"/>
              </a:defRPr>
            </a:pPr>
            <a:r>
              <a:t>  OpenAI  ◆</a:t>
            </a:r>
          </a:p>
        </p:txBody>
      </p:sp>
      <p:sp>
        <p:nvSpPr>
          <p:cNvPr id="11" name="Rounded Rectangle 10"/>
          <p:cNvSpPr/>
          <p:nvPr/>
        </p:nvSpPr>
        <p:spPr>
          <a:xfrm>
            <a:off x="4937760" y="5669279"/>
            <a:ext cx="2011680" cy="32004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5669279"/>
            <a:ext cx="2011680" cy="320040"/>
          </a:xfrm>
          <a:prstGeom prst="rect">
            <a:avLst/>
          </a:prstGeom>
          <a:noFill/>
        </p:spPr>
        <p:txBody>
          <a:bodyPr wrap="square" anchor="ctr">
            <a:spAutoFit/>
          </a:bodyPr>
          <a:lstStyle/>
          <a:p>
            <a:pPr algn="ctr">
              <a:defRPr sz="1100" b="1">
                <a:solidFill>
                  <a:srgbClr val="FFFFFF"/>
                </a:solidFill>
                <a:latin typeface="Meiryo"/>
              </a:defRPr>
            </a:pPr>
            <a:r>
              <a:t>  Google  ▲</a:t>
            </a:r>
          </a:p>
        </p:txBody>
      </p:sp>
      <p:sp>
        <p:nvSpPr>
          <p:cNvPr id="13" name="Rounded Rectangle 12"/>
          <p:cNvSpPr/>
          <p:nvPr/>
        </p:nvSpPr>
        <p:spPr>
          <a:xfrm>
            <a:off x="7132320" y="5669279"/>
            <a:ext cx="2011680" cy="320040"/>
          </a:xfrm>
          <a:prstGeom prst="round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5669279"/>
            <a:ext cx="2011680" cy="320040"/>
          </a:xfrm>
          <a:prstGeom prst="rect">
            <a:avLst/>
          </a:prstGeom>
          <a:noFill/>
        </p:spPr>
        <p:txBody>
          <a:bodyPr wrap="square" anchor="ctr">
            <a:spAutoFit/>
          </a:bodyPr>
          <a:lstStyle/>
          <a:p>
            <a:pPr algn="ctr">
              <a:defRPr sz="1100" b="1">
                <a:solidFill>
                  <a:srgbClr val="FFFFFF"/>
                </a:solidFill>
                <a:latin typeface="Meiryo"/>
              </a:defRPr>
            </a:pPr>
            <a:r>
              <a:t>  Microsoft  ▲</a:t>
            </a:r>
          </a:p>
        </p:txBody>
      </p:sp>
      <p:sp>
        <p:nvSpPr>
          <p:cNvPr id="15" name="Rounded Rectangle 14"/>
          <p:cNvSpPr/>
          <p:nvPr/>
        </p:nvSpPr>
        <p:spPr>
          <a:xfrm>
            <a:off x="9326880" y="5669279"/>
            <a:ext cx="2011680" cy="320040"/>
          </a:xfrm>
          <a:prstGeom prst="round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5669279"/>
            <a:ext cx="2011680" cy="320040"/>
          </a:xfrm>
          <a:prstGeom prst="rect">
            <a:avLst/>
          </a:prstGeom>
          <a:noFill/>
        </p:spPr>
        <p:txBody>
          <a:bodyPr wrap="square" anchor="ctr">
            <a:spAutoFit/>
          </a:bodyPr>
          <a:lstStyle/>
          <a:p>
            <a:pPr algn="ctr">
              <a:defRPr sz="1100" b="1">
                <a:solidFill>
                  <a:srgbClr val="FFFFFF"/>
                </a:solidFill>
                <a:latin typeface="Meiryo"/>
              </a:defRPr>
            </a:pPr>
            <a:r>
              <a:t>  Meta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トレンドフロー分析</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4</a:t>
            </a:r>
          </a:p>
        </p:txBody>
      </p:sp>
      <p:sp>
        <p:nvSpPr>
          <p:cNvPr id="6" name="Rounded Rectangle 5"/>
          <p:cNvSpPr/>
          <p:nvPr/>
        </p:nvSpPr>
        <p:spPr>
          <a:xfrm>
            <a:off x="685800" y="1005840"/>
            <a:ext cx="5029200" cy="22860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11556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15568"/>
            <a:ext cx="411480" cy="411480"/>
          </a:xfrm>
          <a:prstGeom prst="rect">
            <a:avLst/>
          </a:prstGeom>
          <a:noFill/>
        </p:spPr>
        <p:txBody>
          <a:bodyPr wrap="square" anchor="ctr">
            <a:spAutoFit/>
          </a:bodyPr>
          <a:lstStyle/>
          <a:p>
            <a:pPr algn="ctr">
              <a:defRPr sz="1600" b="1">
                <a:solidFill>
                  <a:srgbClr val="FFFFFF"/>
                </a:solidFill>
                <a:latin typeface="Meiryo"/>
              </a:defRPr>
            </a:pPr>
            <a:r>
              <a:t>1</a:t>
            </a:r>
          </a:p>
        </p:txBody>
      </p:sp>
      <p:sp>
        <p:nvSpPr>
          <p:cNvPr id="9" name="TextBox 8"/>
          <p:cNvSpPr txBox="1"/>
          <p:nvPr/>
        </p:nvSpPr>
        <p:spPr>
          <a:xfrm>
            <a:off x="1325880" y="1143000"/>
            <a:ext cx="4206240" cy="365760"/>
          </a:xfrm>
          <a:prstGeom prst="rect">
            <a:avLst/>
          </a:prstGeom>
          <a:noFill/>
        </p:spPr>
        <p:txBody>
          <a:bodyPr wrap="square">
            <a:spAutoFit/>
          </a:bodyPr>
          <a:lstStyle/>
          <a:p>
            <a:pPr algn="l">
              <a:defRPr sz="1400" b="1">
                <a:solidFill>
                  <a:srgbClr val="005BAB"/>
                </a:solidFill>
                <a:latin typeface="Meiryo"/>
              </a:defRPr>
            </a:pPr>
            <a:r>
              <a:t>エンタープライズAIの支配的勢力図の形成</a:t>
            </a:r>
          </a:p>
        </p:txBody>
      </p:sp>
      <p:sp>
        <p:nvSpPr>
          <p:cNvPr id="10" name="TextBox 9"/>
          <p:cNvSpPr txBox="1"/>
          <p:nvPr/>
        </p:nvSpPr>
        <p:spPr>
          <a:xfrm>
            <a:off x="868680" y="1554480"/>
            <a:ext cx="4663440" cy="1097280"/>
          </a:xfrm>
          <a:prstGeom prst="rect">
            <a:avLst/>
          </a:prstGeom>
          <a:noFill/>
        </p:spPr>
        <p:txBody>
          <a:bodyPr wrap="square">
            <a:spAutoFit/>
          </a:bodyPr>
          <a:lstStyle/>
          <a:p>
            <a:pPr algn="l">
              <a:defRPr sz="1100" b="0">
                <a:solidFill>
                  <a:srgbClr val="1A1A2E"/>
                </a:solidFill>
                <a:latin typeface="Meiryo"/>
              </a:defRPr>
            </a:pPr>
            <a:r>
              <a:t>Anthropicのエンタープライズ戦略が鮮明になり、Fortune 10中8社を顧客化。年間支出100万ドル超の大型顧客が過去1年で7倍成長。GoogleやAnthropicはエンタープライズAI領域での支配力構築で優位との投資家評価が固まり、消費者向けのOpenAI・xAIとの差別化が明確化。この市場分断は2026年中盤まで続く見通し。Claude Codeの25億ドル売上は全体の18%を占め</a:t>
            </a:r>
          </a:p>
        </p:txBody>
      </p:sp>
      <p:sp>
        <p:nvSpPr>
          <p:cNvPr id="11" name="Rounded Rectangle 10"/>
          <p:cNvSpPr/>
          <p:nvPr/>
        </p:nvSpPr>
        <p:spPr>
          <a:xfrm>
            <a:off x="868680" y="2880360"/>
            <a:ext cx="1188720" cy="274320"/>
          </a:xfrm>
          <a:prstGeom prst="round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80360"/>
            <a:ext cx="1188720" cy="274320"/>
          </a:xfrm>
          <a:prstGeom prst="rect">
            <a:avLst/>
          </a:prstGeom>
          <a:noFill/>
        </p:spPr>
        <p:txBody>
          <a:bodyPr wrap="square" anchor="ctr">
            <a:spAutoFit/>
          </a:bodyPr>
          <a:lstStyle/>
          <a:p>
            <a:pPr algn="ctr">
              <a:defRPr sz="900" b="1">
                <a:solidFill>
                  <a:srgbClr val="FFFFFF"/>
                </a:solidFill>
                <a:latin typeface="Meiryo"/>
              </a:defRPr>
            </a:pPr>
            <a:r>
              <a:t>Anthropic</a:t>
            </a:r>
          </a:p>
        </p:txBody>
      </p:sp>
      <p:sp>
        <p:nvSpPr>
          <p:cNvPr id="13" name="Rounded Rectangle 12"/>
          <p:cNvSpPr/>
          <p:nvPr/>
        </p:nvSpPr>
        <p:spPr>
          <a:xfrm>
            <a:off x="2148840" y="2880360"/>
            <a:ext cx="1188720" cy="27432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48840" y="2880360"/>
            <a:ext cx="1188720" cy="274320"/>
          </a:xfrm>
          <a:prstGeom prst="rect">
            <a:avLst/>
          </a:prstGeom>
          <a:noFill/>
        </p:spPr>
        <p:txBody>
          <a:bodyPr wrap="square" anchor="ctr">
            <a:spAutoFit/>
          </a:bodyPr>
          <a:lstStyle/>
          <a:p>
            <a:pPr algn="ctr">
              <a:defRPr sz="900" b="1">
                <a:solidFill>
                  <a:srgbClr val="FFFFFF"/>
                </a:solidFill>
                <a:latin typeface="Meiryo"/>
              </a:defRPr>
            </a:pPr>
            <a:r>
              <a:t>Google</a:t>
            </a:r>
          </a:p>
        </p:txBody>
      </p:sp>
      <p:sp>
        <p:nvSpPr>
          <p:cNvPr id="15" name="Rounded Rectangle 14"/>
          <p:cNvSpPr/>
          <p:nvPr/>
        </p:nvSpPr>
        <p:spPr>
          <a:xfrm>
            <a:off x="3429000" y="2880360"/>
            <a:ext cx="1188720" cy="274320"/>
          </a:xfrm>
          <a:prstGeom prst="round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2880360"/>
            <a:ext cx="1188720" cy="274320"/>
          </a:xfrm>
          <a:prstGeom prst="rect">
            <a:avLst/>
          </a:prstGeom>
          <a:noFill/>
        </p:spPr>
        <p:txBody>
          <a:bodyPr wrap="square" anchor="ctr">
            <a:spAutoFit/>
          </a:bodyPr>
          <a:lstStyle/>
          <a:p>
            <a:pPr algn="ctr">
              <a:defRPr sz="900" b="1">
                <a:solidFill>
                  <a:srgbClr val="FFFFFF"/>
                </a:solidFill>
                <a:latin typeface="Meiryo"/>
              </a:defRPr>
            </a:pPr>
            <a:r>
              <a:t>Microsoft</a:t>
            </a:r>
          </a:p>
        </p:txBody>
      </p:sp>
      <p:sp>
        <p:nvSpPr>
          <p:cNvPr id="17" name="Rounded Rectangle 16"/>
          <p:cNvSpPr/>
          <p:nvPr/>
        </p:nvSpPr>
        <p:spPr>
          <a:xfrm>
            <a:off x="4709160" y="2880360"/>
            <a:ext cx="1188720" cy="274320"/>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2880360"/>
            <a:ext cx="1188720" cy="274320"/>
          </a:xfrm>
          <a:prstGeom prst="rect">
            <a:avLst/>
          </a:prstGeom>
          <a:noFill/>
        </p:spPr>
        <p:txBody>
          <a:bodyPr wrap="square" anchor="ctr">
            <a:spAutoFit/>
          </a:bodyPr>
          <a:lstStyle/>
          <a:p>
            <a:pPr algn="ctr">
              <a:defRPr sz="900" b="1">
                <a:solidFill>
                  <a:srgbClr val="FFFFFF"/>
                </a:solidFill>
                <a:latin typeface="Meiryo"/>
              </a:defRPr>
            </a:pPr>
            <a:r>
              <a:t>OpenAI</a:t>
            </a:r>
          </a:p>
        </p:txBody>
      </p:sp>
      <p:sp>
        <p:nvSpPr>
          <p:cNvPr id="19" name="Rounded Rectangle 18"/>
          <p:cNvSpPr/>
          <p:nvPr/>
        </p:nvSpPr>
        <p:spPr>
          <a:xfrm>
            <a:off x="6263640" y="1005840"/>
            <a:ext cx="5029200" cy="22860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0" y="111556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1115568"/>
            <a:ext cx="411480" cy="411480"/>
          </a:xfrm>
          <a:prstGeom prst="rect">
            <a:avLst/>
          </a:prstGeom>
          <a:noFill/>
        </p:spPr>
        <p:txBody>
          <a:bodyPr wrap="square" anchor="ctr">
            <a:spAutoFit/>
          </a:bodyPr>
          <a:lstStyle/>
          <a:p>
            <a:pPr algn="ctr">
              <a:defRPr sz="1600" b="1">
                <a:solidFill>
                  <a:srgbClr val="FFFFFF"/>
                </a:solidFill>
                <a:latin typeface="Meiryo"/>
              </a:defRPr>
            </a:pPr>
            <a:r>
              <a:t>2</a:t>
            </a:r>
          </a:p>
        </p:txBody>
      </p:sp>
      <p:sp>
        <p:nvSpPr>
          <p:cNvPr id="22" name="TextBox 21"/>
          <p:cNvSpPr txBox="1"/>
          <p:nvPr/>
        </p:nvSpPr>
        <p:spPr>
          <a:xfrm>
            <a:off x="6903720" y="1143000"/>
            <a:ext cx="4206240" cy="365760"/>
          </a:xfrm>
          <a:prstGeom prst="rect">
            <a:avLst/>
          </a:prstGeom>
          <a:noFill/>
        </p:spPr>
        <p:txBody>
          <a:bodyPr wrap="square">
            <a:spAutoFit/>
          </a:bodyPr>
          <a:lstStyle/>
          <a:p>
            <a:pPr algn="l">
              <a:defRPr sz="1400" b="1">
                <a:solidFill>
                  <a:srgbClr val="005BAB"/>
                </a:solidFill>
                <a:latin typeface="Meiryo"/>
              </a:defRPr>
            </a:pPr>
            <a:r>
              <a:t>AI安全性の危機的状況と業界内の告発圧力</a:t>
            </a:r>
          </a:p>
        </p:txBody>
      </p:sp>
      <p:sp>
        <p:nvSpPr>
          <p:cNvPr id="23" name="TextBox 22"/>
          <p:cNvSpPr txBox="1"/>
          <p:nvPr/>
        </p:nvSpPr>
        <p:spPr>
          <a:xfrm>
            <a:off x="6446520" y="1554480"/>
            <a:ext cx="4663440" cy="1097280"/>
          </a:xfrm>
          <a:prstGeom prst="rect">
            <a:avLst/>
          </a:prstGeom>
          <a:noFill/>
        </p:spPr>
        <p:txBody>
          <a:bodyPr wrap="square">
            <a:spAutoFit/>
          </a:bodyPr>
          <a:lstStyle/>
          <a:p>
            <a:pPr algn="l">
              <a:defRPr sz="1100" b="0">
                <a:solidFill>
                  <a:srgbClr val="1A1A2E"/>
                </a:solidFill>
                <a:latin typeface="Meiryo"/>
              </a:defRPr>
            </a:pPr>
            <a:r>
              <a:t>Anthropicの安全保障研究責任者が『世界は危機的状況にある』と公開辞表、OpenAI安全研究チームの解体報道、Hieu Phamら複数研究者の『存在的脅威』告発がX上で急拡散。Matt Shumerのパンデミック比較投稿が36時間で5600万ビュー。各企業の報告書では自社モデルが化学兵器製造に利用可能と明記するも、経営陣の安全性軽視方針との乖離が表面化。規制当局の対応遅れで業界内部告発の圧力</a:t>
            </a:r>
          </a:p>
        </p:txBody>
      </p:sp>
      <p:sp>
        <p:nvSpPr>
          <p:cNvPr id="24" name="Rounded Rectangle 23"/>
          <p:cNvSpPr/>
          <p:nvPr/>
        </p:nvSpPr>
        <p:spPr>
          <a:xfrm>
            <a:off x="6446520" y="2880360"/>
            <a:ext cx="1188720" cy="274320"/>
          </a:xfrm>
          <a:prstGeom prst="round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2880360"/>
            <a:ext cx="1188720" cy="274320"/>
          </a:xfrm>
          <a:prstGeom prst="rect">
            <a:avLst/>
          </a:prstGeom>
          <a:noFill/>
        </p:spPr>
        <p:txBody>
          <a:bodyPr wrap="square" anchor="ctr">
            <a:spAutoFit/>
          </a:bodyPr>
          <a:lstStyle/>
          <a:p>
            <a:pPr algn="ctr">
              <a:defRPr sz="900" b="1">
                <a:solidFill>
                  <a:srgbClr val="FFFFFF"/>
                </a:solidFill>
                <a:latin typeface="Meiryo"/>
              </a:defRPr>
            </a:pPr>
            <a:r>
              <a:t>Anthropic</a:t>
            </a:r>
          </a:p>
        </p:txBody>
      </p:sp>
      <p:sp>
        <p:nvSpPr>
          <p:cNvPr id="26" name="Rounded Rectangle 25"/>
          <p:cNvSpPr/>
          <p:nvPr/>
        </p:nvSpPr>
        <p:spPr>
          <a:xfrm>
            <a:off x="7726680" y="2880360"/>
            <a:ext cx="1188720" cy="274320"/>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0" y="2880360"/>
            <a:ext cx="1188720" cy="274320"/>
          </a:xfrm>
          <a:prstGeom prst="rect">
            <a:avLst/>
          </a:prstGeom>
          <a:noFill/>
        </p:spPr>
        <p:txBody>
          <a:bodyPr wrap="square" anchor="ctr">
            <a:spAutoFit/>
          </a:bodyPr>
          <a:lstStyle/>
          <a:p>
            <a:pPr algn="ctr">
              <a:defRPr sz="900" b="1">
                <a:solidFill>
                  <a:srgbClr val="FFFFFF"/>
                </a:solidFill>
                <a:latin typeface="Meiryo"/>
              </a:defRPr>
            </a:pPr>
            <a:r>
              <a:t>OpenAI</a:t>
            </a:r>
          </a:p>
        </p:txBody>
      </p:sp>
      <p:sp>
        <p:nvSpPr>
          <p:cNvPr id="28" name="Rounded Rectangle 27"/>
          <p:cNvSpPr/>
          <p:nvPr/>
        </p:nvSpPr>
        <p:spPr>
          <a:xfrm>
            <a:off x="9006840" y="2880360"/>
            <a:ext cx="1188720" cy="274320"/>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06840" y="2880360"/>
            <a:ext cx="1188720" cy="274320"/>
          </a:xfrm>
          <a:prstGeom prst="rect">
            <a:avLst/>
          </a:prstGeom>
          <a:noFill/>
        </p:spPr>
        <p:txBody>
          <a:bodyPr wrap="square" anchor="ctr">
            <a:spAutoFit/>
          </a:bodyPr>
          <a:lstStyle/>
          <a:p>
            <a:pPr algn="ctr">
              <a:defRPr sz="900" b="1">
                <a:solidFill>
                  <a:srgbClr val="FFFFFF"/>
                </a:solidFill>
                <a:latin typeface="Meiryo"/>
              </a:defRPr>
            </a:pPr>
            <a:r>
              <a:t>xAI</a:t>
            </a:r>
          </a:p>
        </p:txBody>
      </p:sp>
      <p:sp>
        <p:nvSpPr>
          <p:cNvPr id="30" name="Rounded Rectangle 29"/>
          <p:cNvSpPr/>
          <p:nvPr/>
        </p:nvSpPr>
        <p:spPr>
          <a:xfrm>
            <a:off x="685800" y="3520440"/>
            <a:ext cx="5029200" cy="22860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2960" y="363016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3630168"/>
            <a:ext cx="411480" cy="411480"/>
          </a:xfrm>
          <a:prstGeom prst="rect">
            <a:avLst/>
          </a:prstGeom>
          <a:noFill/>
        </p:spPr>
        <p:txBody>
          <a:bodyPr wrap="square" anchor="ctr">
            <a:spAutoFit/>
          </a:bodyPr>
          <a:lstStyle/>
          <a:p>
            <a:pPr algn="ctr">
              <a:defRPr sz="1600" b="1">
                <a:solidFill>
                  <a:srgbClr val="FFFFFF"/>
                </a:solidFill>
                <a:latin typeface="Meiryo"/>
              </a:defRPr>
            </a:pPr>
            <a:r>
              <a:t>3</a:t>
            </a:r>
          </a:p>
        </p:txBody>
      </p:sp>
      <p:sp>
        <p:nvSpPr>
          <p:cNvPr id="33" name="TextBox 32"/>
          <p:cNvSpPr txBox="1"/>
          <p:nvPr/>
        </p:nvSpPr>
        <p:spPr>
          <a:xfrm>
            <a:off x="1325880" y="3657600"/>
            <a:ext cx="4206240" cy="365760"/>
          </a:xfrm>
          <a:prstGeom prst="rect">
            <a:avLst/>
          </a:prstGeom>
          <a:noFill/>
        </p:spPr>
        <p:txBody>
          <a:bodyPr wrap="square">
            <a:spAutoFit/>
          </a:bodyPr>
          <a:lstStyle/>
          <a:p>
            <a:pPr algn="l">
              <a:defRPr sz="1400" b="1">
                <a:solidFill>
                  <a:srgbClr val="005BAB"/>
                </a:solidFill>
                <a:latin typeface="Meiryo"/>
              </a:defRPr>
            </a:pPr>
            <a:r>
              <a:t>インフラ電力制約がAI地政学を再編成</a:t>
            </a:r>
          </a:p>
        </p:txBody>
      </p:sp>
      <p:sp>
        <p:nvSpPr>
          <p:cNvPr id="34" name="TextBox 33"/>
          <p:cNvSpPr txBox="1"/>
          <p:nvPr/>
        </p:nvSpPr>
        <p:spPr>
          <a:xfrm>
            <a:off x="868680" y="4069080"/>
            <a:ext cx="4663440" cy="1097280"/>
          </a:xfrm>
          <a:prstGeom prst="rect">
            <a:avLst/>
          </a:prstGeom>
          <a:noFill/>
        </p:spPr>
        <p:txBody>
          <a:bodyPr wrap="square">
            <a:spAutoFit/>
          </a:bodyPr>
          <a:lstStyle/>
          <a:p>
            <a:pPr algn="l">
              <a:defRPr sz="1100" b="0">
                <a:solidFill>
                  <a:srgbClr val="1A1A2E"/>
                </a:solidFill>
                <a:latin typeface="Meiryo"/>
              </a:defRPr>
            </a:pPr>
            <a:r>
              <a:t>Big Tech 4社の650-700億ドル投資計画により、従来の低コスト地域優先から『電力供給可能地域優先』への戦略転換が鮮明化。Meta・Microsoft・Amazon・Googleが原発・再生可能エネルギー契約で競合。Amazon単独で2026年の営業キャッシュフロー-170-280億ドルと悪化し、投資回収モデルの持続可能性に疑問。データセンター建設が東部・中部の給電地域に集中し、西部テッ</a:t>
            </a:r>
          </a:p>
        </p:txBody>
      </p:sp>
      <p:sp>
        <p:nvSpPr>
          <p:cNvPr id="35" name="Rounded Rectangle 34"/>
          <p:cNvSpPr/>
          <p:nvPr/>
        </p:nvSpPr>
        <p:spPr>
          <a:xfrm>
            <a:off x="868680" y="5394960"/>
            <a:ext cx="1188720" cy="274320"/>
          </a:xfrm>
          <a:prstGeom prst="round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 y="5394960"/>
            <a:ext cx="1188720" cy="274320"/>
          </a:xfrm>
          <a:prstGeom prst="rect">
            <a:avLst/>
          </a:prstGeom>
          <a:noFill/>
        </p:spPr>
        <p:txBody>
          <a:bodyPr wrap="square" anchor="ctr">
            <a:spAutoFit/>
          </a:bodyPr>
          <a:lstStyle/>
          <a:p>
            <a:pPr algn="ctr">
              <a:defRPr sz="900" b="1">
                <a:solidFill>
                  <a:srgbClr val="FFFFFF"/>
                </a:solidFill>
                <a:latin typeface="Meiryo"/>
              </a:defRPr>
            </a:pPr>
            <a:r>
              <a:t>Microsoft</a:t>
            </a:r>
          </a:p>
        </p:txBody>
      </p:sp>
      <p:sp>
        <p:nvSpPr>
          <p:cNvPr id="37" name="Rounded Rectangle 36"/>
          <p:cNvSpPr/>
          <p:nvPr/>
        </p:nvSpPr>
        <p:spPr>
          <a:xfrm>
            <a:off x="2148840" y="5394960"/>
            <a:ext cx="1188720" cy="274320"/>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48840" y="5394960"/>
            <a:ext cx="1188720" cy="274320"/>
          </a:xfrm>
          <a:prstGeom prst="rect">
            <a:avLst/>
          </a:prstGeom>
          <a:noFill/>
        </p:spPr>
        <p:txBody>
          <a:bodyPr wrap="square" anchor="ctr">
            <a:spAutoFit/>
          </a:bodyPr>
          <a:lstStyle/>
          <a:p>
            <a:pPr algn="ctr">
              <a:defRPr sz="900" b="1">
                <a:solidFill>
                  <a:srgbClr val="FFFFFF"/>
                </a:solidFill>
                <a:latin typeface="Meiryo"/>
              </a:defRPr>
            </a:pPr>
            <a:r>
              <a:t>Amazon</a:t>
            </a:r>
          </a:p>
        </p:txBody>
      </p:sp>
      <p:sp>
        <p:nvSpPr>
          <p:cNvPr id="39" name="Rounded Rectangle 38"/>
          <p:cNvSpPr/>
          <p:nvPr/>
        </p:nvSpPr>
        <p:spPr>
          <a:xfrm>
            <a:off x="3429000" y="5394960"/>
            <a:ext cx="1188720" cy="27432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5394960"/>
            <a:ext cx="1188720" cy="274320"/>
          </a:xfrm>
          <a:prstGeom prst="rect">
            <a:avLst/>
          </a:prstGeom>
          <a:noFill/>
        </p:spPr>
        <p:txBody>
          <a:bodyPr wrap="square" anchor="ctr">
            <a:spAutoFit/>
          </a:bodyPr>
          <a:lstStyle/>
          <a:p>
            <a:pPr algn="ctr">
              <a:defRPr sz="900" b="1">
                <a:solidFill>
                  <a:srgbClr val="FFFFFF"/>
                </a:solidFill>
                <a:latin typeface="Meiryo"/>
              </a:defRPr>
            </a:pPr>
            <a:r>
              <a:t>Google</a:t>
            </a:r>
          </a:p>
        </p:txBody>
      </p:sp>
      <p:sp>
        <p:nvSpPr>
          <p:cNvPr id="41" name="Rounded Rectangle 40"/>
          <p:cNvSpPr/>
          <p:nvPr/>
        </p:nvSpPr>
        <p:spPr>
          <a:xfrm>
            <a:off x="4709160" y="5394960"/>
            <a:ext cx="1188720" cy="274320"/>
          </a:xfrm>
          <a:prstGeom prst="round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09160" y="5394960"/>
            <a:ext cx="1188720" cy="274320"/>
          </a:xfrm>
          <a:prstGeom prst="rect">
            <a:avLst/>
          </a:prstGeom>
          <a:noFill/>
        </p:spPr>
        <p:txBody>
          <a:bodyPr wrap="square" anchor="ctr">
            <a:spAutoFit/>
          </a:bodyPr>
          <a:lstStyle/>
          <a:p>
            <a:pPr algn="ctr">
              <a:defRPr sz="900" b="1">
                <a:solidFill>
                  <a:srgbClr val="FFFFFF"/>
                </a:solidFill>
                <a:latin typeface="Meiryo"/>
              </a:defRPr>
            </a:pPr>
            <a:r>
              <a:t>Meta</a:t>
            </a:r>
          </a:p>
        </p:txBody>
      </p:sp>
      <p:sp>
        <p:nvSpPr>
          <p:cNvPr id="43" name="Right Arrow 42"/>
          <p:cNvSpPr/>
          <p:nvPr/>
        </p:nvSpPr>
        <p:spPr>
          <a:xfrm>
            <a:off x="5760720" y="2011680"/>
            <a:ext cx="457200" cy="274320"/>
          </a:xfrm>
          <a:prstGeom prst="rightArrow">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wn Arrow 43"/>
          <p:cNvSpPr/>
          <p:nvPr/>
        </p:nvSpPr>
        <p:spPr>
          <a:xfrm>
            <a:off x="3063240" y="3300984"/>
            <a:ext cx="274320" cy="201168"/>
          </a:xfrm>
          <a:prstGeom prst="downArrow">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Top News (1/2)</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5</a:t>
            </a:r>
          </a:p>
        </p:txBody>
      </p:sp>
      <p:sp>
        <p:nvSpPr>
          <p:cNvPr id="6" name="Rectangle 5"/>
          <p:cNvSpPr/>
          <p:nvPr/>
        </p:nvSpPr>
        <p:spPr>
          <a:xfrm>
            <a:off x="548640" y="960120"/>
            <a:ext cx="11094415" cy="164592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960120"/>
            <a:ext cx="54864" cy="164592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097280"/>
            <a:ext cx="457200" cy="457200"/>
          </a:xfrm>
          <a:prstGeom prst="ellipse">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457200" cy="457200"/>
          </a:xfrm>
          <a:prstGeom prst="rect">
            <a:avLst/>
          </a:prstGeom>
          <a:noFill/>
        </p:spPr>
        <p:txBody>
          <a:bodyPr wrap="square" anchor="ctr">
            <a:spAutoFit/>
          </a:bodyPr>
          <a:lstStyle/>
          <a:p>
            <a:pPr algn="ctr">
              <a:defRPr sz="1800" b="1">
                <a:solidFill>
                  <a:srgbClr val="FFFFFF"/>
                </a:solidFill>
                <a:latin typeface="Meiryo"/>
              </a:defRPr>
            </a:pPr>
            <a:r>
              <a:t>5</a:t>
            </a:r>
          </a:p>
        </p:txBody>
      </p:sp>
      <p:sp>
        <p:nvSpPr>
          <p:cNvPr id="10" name="Rounded Rectangle 9"/>
          <p:cNvSpPr/>
          <p:nvPr/>
        </p:nvSpPr>
        <p:spPr>
          <a:xfrm>
            <a:off x="1234440" y="1252728"/>
            <a:ext cx="1828800" cy="1097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234440" y="1252728"/>
            <a:ext cx="1828800" cy="109728"/>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1033272"/>
            <a:ext cx="8229600" cy="274320"/>
          </a:xfrm>
          <a:prstGeom prst="rect">
            <a:avLst/>
          </a:prstGeom>
          <a:noFill/>
        </p:spPr>
        <p:txBody>
          <a:bodyPr wrap="square">
            <a:spAutoFit/>
          </a:bodyPr>
          <a:lstStyle/>
          <a:p>
            <a:pPr algn="l">
              <a:defRPr sz="1500" b="1">
                <a:solidFill>
                  <a:srgbClr val="1A1A2E"/>
                </a:solidFill>
                <a:latin typeface="Meiryo"/>
              </a:defRPr>
            </a:pPr>
            <a:r>
              <a:t>[UPDATE] AI安全性研究者の相次ぐ辞職が業界を揺るがす　OpenAI安全研究チーム解体報道、Anthropic責任者が『世界は危機的状況』と公開辞表</a:t>
            </a:r>
          </a:p>
        </p:txBody>
      </p:sp>
      <p:sp>
        <p:nvSpPr>
          <p:cNvPr id="13" name="TextBox 12"/>
          <p:cNvSpPr txBox="1"/>
          <p:nvPr/>
        </p:nvSpPr>
        <p:spPr>
          <a:xfrm>
            <a:off x="1234440" y="1307592"/>
            <a:ext cx="8229600" cy="182880"/>
          </a:xfrm>
          <a:prstGeom prst="rect">
            <a:avLst/>
          </a:prstGeom>
          <a:noFill/>
        </p:spPr>
        <p:txBody>
          <a:bodyPr wrap="square">
            <a:spAutoFit/>
          </a:bodyPr>
          <a:lstStyle/>
          <a:p>
            <a:pPr algn="l">
              <a:defRPr sz="1000" b="1">
                <a:solidFill>
                  <a:srgbClr val="FF961C"/>
                </a:solidFill>
                <a:latin typeface="Meiryo"/>
              </a:defRPr>
            </a:pPr>
            <a:r>
              <a:t>&gt;&gt; 前日は『AI安全性警告の一般的トレンド』の報道だったが、本日は Anthropic責任者の具体的な辞職・OpenAI安全チーム解体の具体的報道により、事態がより深刻化。Matt Shumerの『パンデミック前夜』比較が大規模拡散（36時間で5600万ビュー）し、業界内の危機感が『個別事象』から『業界全体の構造的問題』に認識転換。</a:t>
            </a:r>
          </a:p>
        </p:txBody>
      </p:sp>
      <p:sp>
        <p:nvSpPr>
          <p:cNvPr id="14" name="TextBox 13"/>
          <p:cNvSpPr txBox="1"/>
          <p:nvPr/>
        </p:nvSpPr>
        <p:spPr>
          <a:xfrm>
            <a:off x="731520" y="1508760"/>
            <a:ext cx="6675120" cy="731520"/>
          </a:xfrm>
          <a:prstGeom prst="rect">
            <a:avLst/>
          </a:prstGeom>
          <a:noFill/>
        </p:spPr>
        <p:txBody>
          <a:bodyPr wrap="square">
            <a:spAutoFit/>
          </a:bodyPr>
          <a:lstStyle/>
          <a:p>
            <a:pPr algn="l">
              <a:defRPr sz="1100" b="0">
                <a:solidFill>
                  <a:srgbClr val="1A1A2E"/>
                </a:solidFill>
                <a:latin typeface="Meiryo"/>
              </a:defRPr>
            </a:pPr>
            <a:r>
              <a:t>AI業界で安全性研究を担当する責任者・研究者の辞職が相次ぎ、業界内に危機感が広がっている。Anthropicの『Safeguards Research 責任者』が『世界は危機的状況にある』と述べて辞表。OpenAI研究者Hieu Phamが『AI存在的脅威を初めて実感』とX投稿。...</a:t>
            </a:r>
          </a:p>
        </p:txBody>
      </p:sp>
      <p:sp>
        <p:nvSpPr>
          <p:cNvPr id="15" name="Rounded Rectangle 14"/>
          <p:cNvSpPr/>
          <p:nvPr/>
        </p:nvSpPr>
        <p:spPr>
          <a:xfrm>
            <a:off x="7315200" y="1371600"/>
            <a:ext cx="4114800" cy="100584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1389888"/>
            <a:ext cx="3931920" cy="182880"/>
          </a:xfrm>
          <a:prstGeom prst="rect">
            <a:avLst/>
          </a:prstGeom>
          <a:noFill/>
        </p:spPr>
        <p:txBody>
          <a:bodyPr wrap="square">
            <a:spAutoFit/>
          </a:bodyPr>
          <a:lstStyle/>
          <a:p>
            <a:pPr algn="l">
              <a:defRPr sz="800" b="1">
                <a:solidFill>
                  <a:srgbClr val="005BAB"/>
                </a:solidFill>
                <a:latin typeface="Meiryo"/>
              </a:defRPr>
            </a:pPr>
            <a:r>
              <a:t>IMPACT</a:t>
            </a:r>
          </a:p>
        </p:txBody>
      </p:sp>
      <p:sp>
        <p:nvSpPr>
          <p:cNvPr id="17" name="TextBox 16"/>
          <p:cNvSpPr txBox="1"/>
          <p:nvPr/>
        </p:nvSpPr>
        <p:spPr>
          <a:xfrm>
            <a:off x="7406640" y="1572768"/>
            <a:ext cx="3931920" cy="731520"/>
          </a:xfrm>
          <a:prstGeom prst="rect">
            <a:avLst/>
          </a:prstGeom>
          <a:noFill/>
        </p:spPr>
        <p:txBody>
          <a:bodyPr wrap="square">
            <a:normAutofit/>
          </a:bodyPr>
          <a:lstStyle/>
          <a:p>
            <a:pPr algn="l">
              <a:defRPr sz="900" b="0">
                <a:solidFill>
                  <a:srgbClr val="1A1A2E"/>
                </a:solidFill>
                <a:latin typeface="Meiryo"/>
              </a:defRPr>
            </a:pPr>
            <a:r>
              <a:t>①規制当局への圧力増加（EU AI法の強化、米国でのAI規制提言に影響）、②投資家心理の悪化（ESG評価低下）、③人材流出の連鎖（大学での『AI安全』研究プログラム卒業生のシンクタンク・政策立案側への流出加速）。Anthropicが2000万ドルを AI安全規制推進団体『Public First Action』に寄付したのも、自社リスク管理の『ポーズ』との批判も出ている。</a:t>
            </a:r>
          </a:p>
        </p:txBody>
      </p:sp>
      <p:sp>
        <p:nvSpPr>
          <p:cNvPr id="18" name="TextBox 17"/>
          <p:cNvSpPr txBox="1"/>
          <p:nvPr/>
        </p:nvSpPr>
        <p:spPr>
          <a:xfrm>
            <a:off x="731520" y="2331720"/>
            <a:ext cx="5486400" cy="228600"/>
          </a:xfrm>
          <a:prstGeom prst="rect">
            <a:avLst/>
          </a:prstGeom>
          <a:noFill/>
        </p:spPr>
        <p:txBody>
          <a:bodyPr wrap="square">
            <a:spAutoFit/>
          </a:bodyPr>
          <a:lstStyle/>
          <a:p>
            <a:pPr algn="l">
              <a:defRPr sz="1000" b="0">
                <a:solidFill>
                  <a:srgbClr val="6C757D"/>
                </a:solidFill>
                <a:latin typeface="Meiryo"/>
              </a:defRPr>
            </a:pPr>
            <a:r>
              <a:t>OpenAI  |  Policy  |  Axios</a:t>
            </a:r>
          </a:p>
        </p:txBody>
      </p:sp>
      <p:sp>
        <p:nvSpPr>
          <p:cNvPr id="19" name="Rectangle 18"/>
          <p:cNvSpPr/>
          <p:nvPr/>
        </p:nvSpPr>
        <p:spPr>
          <a:xfrm>
            <a:off x="548640" y="2743200"/>
            <a:ext cx="11094415" cy="164592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2743200"/>
            <a:ext cx="54864" cy="1645920"/>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5800" y="2880360"/>
            <a:ext cx="457200" cy="457200"/>
          </a:xfrm>
          <a:prstGeom prst="ellipse">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2880360"/>
            <a:ext cx="457200" cy="457200"/>
          </a:xfrm>
          <a:prstGeom prst="rect">
            <a:avLst/>
          </a:prstGeom>
          <a:noFill/>
        </p:spPr>
        <p:txBody>
          <a:bodyPr wrap="square" anchor="ctr">
            <a:spAutoFit/>
          </a:bodyPr>
          <a:lstStyle/>
          <a:p>
            <a:pPr algn="ctr">
              <a:defRPr sz="1800" b="1">
                <a:solidFill>
                  <a:srgbClr val="FFFFFF"/>
                </a:solidFill>
                <a:latin typeface="Meiryo"/>
              </a:defRPr>
            </a:pPr>
            <a:r>
              <a:t>5</a:t>
            </a:r>
          </a:p>
        </p:txBody>
      </p:sp>
      <p:sp>
        <p:nvSpPr>
          <p:cNvPr id="23" name="Rounded Rectangle 22"/>
          <p:cNvSpPr/>
          <p:nvPr/>
        </p:nvSpPr>
        <p:spPr>
          <a:xfrm>
            <a:off x="1234440" y="3035808"/>
            <a:ext cx="1828800" cy="1097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234440" y="3035808"/>
            <a:ext cx="1828800" cy="109728"/>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34440" y="2816352"/>
            <a:ext cx="8229600" cy="274320"/>
          </a:xfrm>
          <a:prstGeom prst="rect">
            <a:avLst/>
          </a:prstGeom>
          <a:noFill/>
        </p:spPr>
        <p:txBody>
          <a:bodyPr wrap="square">
            <a:spAutoFit/>
          </a:bodyPr>
          <a:lstStyle/>
          <a:p>
            <a:pPr algn="l">
              <a:defRPr sz="1500" b="1">
                <a:solidFill>
                  <a:srgbClr val="1A1A2E"/>
                </a:solidFill>
                <a:latin typeface="Meiryo"/>
              </a:defRPr>
            </a:pPr>
            <a:r>
              <a:t>[UPDATE] Big Tech 4社（Microsoft・Google・Amazon・Meta）が2026年650-700億ドルのAI投資計画　前年比60%増加、電力グリッド危機が顕在化</a:t>
            </a:r>
          </a:p>
        </p:txBody>
      </p:sp>
      <p:sp>
        <p:nvSpPr>
          <p:cNvPr id="26" name="TextBox 25"/>
          <p:cNvSpPr txBox="1"/>
          <p:nvPr/>
        </p:nvSpPr>
        <p:spPr>
          <a:xfrm>
            <a:off x="1234440" y="3090672"/>
            <a:ext cx="8229600" cy="182880"/>
          </a:xfrm>
          <a:prstGeom prst="rect">
            <a:avLst/>
          </a:prstGeom>
          <a:noFill/>
        </p:spPr>
        <p:txBody>
          <a:bodyPr wrap="square">
            <a:spAutoFit/>
          </a:bodyPr>
          <a:lstStyle/>
          <a:p>
            <a:pPr algn="l">
              <a:defRPr sz="1000" b="1">
                <a:solidFill>
                  <a:srgbClr val="FF961C"/>
                </a:solidFill>
                <a:latin typeface="Meiryo"/>
              </a:defRPr>
            </a:pPr>
            <a:r>
              <a:t>&gt;&gt; 前日の『2026年650-700億ドルAI投資』に続き、本日はAmazonの200億ドル Capex公表により一層の詳細数字が確定。同時にキャッシュフロー悪化のより詳細な分析（Amazon -170～-280B、Google -90% CF減少、Meta -90% CF減少）が新規報道され、『投資の収益化モデル不透明性』が深刻化した認識が確立。</a:t>
            </a:r>
          </a:p>
        </p:txBody>
      </p:sp>
      <p:sp>
        <p:nvSpPr>
          <p:cNvPr id="27" name="TextBox 26"/>
          <p:cNvSpPr txBox="1"/>
          <p:nvPr/>
        </p:nvSpPr>
        <p:spPr>
          <a:xfrm>
            <a:off x="731520" y="3291840"/>
            <a:ext cx="6675120" cy="731520"/>
          </a:xfrm>
          <a:prstGeom prst="rect">
            <a:avLst/>
          </a:prstGeom>
          <a:noFill/>
        </p:spPr>
        <p:txBody>
          <a:bodyPr wrap="square">
            <a:spAutoFit/>
          </a:bodyPr>
          <a:lstStyle/>
          <a:p>
            <a:pPr algn="l">
              <a:defRPr sz="1100" b="0">
                <a:solidFill>
                  <a:srgbClr val="1A1A2E"/>
                </a:solidFill>
                <a:latin typeface="Meiryo"/>
              </a:defRPr>
            </a:pPr>
            <a:r>
              <a:t>Big Tech 4社（Microsoft・Google・Amazon・Meta）が2026年の資本支出を合計650-700億ドルに設定する見通しが明らかになった。前年2025年の410億ドルから60%増加。Amazon単独で200億ドル（前年比50%増）を公表。Google は...</a:t>
            </a:r>
          </a:p>
        </p:txBody>
      </p:sp>
      <p:sp>
        <p:nvSpPr>
          <p:cNvPr id="28" name="Rounded Rectangle 27"/>
          <p:cNvSpPr/>
          <p:nvPr/>
        </p:nvSpPr>
        <p:spPr>
          <a:xfrm>
            <a:off x="7315200" y="3154680"/>
            <a:ext cx="4114800" cy="100584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0" y="3172968"/>
            <a:ext cx="3931920" cy="182880"/>
          </a:xfrm>
          <a:prstGeom prst="rect">
            <a:avLst/>
          </a:prstGeom>
          <a:noFill/>
        </p:spPr>
        <p:txBody>
          <a:bodyPr wrap="square">
            <a:spAutoFit/>
          </a:bodyPr>
          <a:lstStyle/>
          <a:p>
            <a:pPr algn="l">
              <a:defRPr sz="800" b="1">
                <a:solidFill>
                  <a:srgbClr val="005BAB"/>
                </a:solidFill>
                <a:latin typeface="Meiryo"/>
              </a:defRPr>
            </a:pPr>
            <a:r>
              <a:t>IMPACT</a:t>
            </a:r>
          </a:p>
        </p:txBody>
      </p:sp>
      <p:sp>
        <p:nvSpPr>
          <p:cNvPr id="30" name="TextBox 29"/>
          <p:cNvSpPr txBox="1"/>
          <p:nvPr/>
        </p:nvSpPr>
        <p:spPr>
          <a:xfrm>
            <a:off x="7406640" y="3355848"/>
            <a:ext cx="3931920" cy="731520"/>
          </a:xfrm>
          <a:prstGeom prst="rect">
            <a:avLst/>
          </a:prstGeom>
          <a:noFill/>
        </p:spPr>
        <p:txBody>
          <a:bodyPr wrap="square">
            <a:normAutofit/>
          </a:bodyPr>
          <a:lstStyle/>
          <a:p>
            <a:pPr algn="l">
              <a:defRPr sz="900" b="0">
                <a:solidFill>
                  <a:srgbClr val="1A1A2E"/>
                </a:solidFill>
                <a:latin typeface="Meiryo"/>
              </a:defRPr>
            </a:pPr>
            <a:r>
              <a:t>①全米電力需要が2026年に前年比12-15%増加。特にテキサス・ノースカロライナ・インディアナ等のデータセンター集約地域でグリッド容量不足が顕在化、②Amazon 2026年キャッシュフロー赤字化による『借金依存度増加』。2026年末までに社債追加発行200-300億ドルが必須（株価下降圧力）、③GPU価格の『逆転傾向』。供給不足⇒高騰⇒過剰投資⇒供給過剰⇒暴落 のサイクルが2026年中盤に転換...</a:t>
            </a:r>
          </a:p>
        </p:txBody>
      </p:sp>
      <p:sp>
        <p:nvSpPr>
          <p:cNvPr id="31" name="TextBox 30"/>
          <p:cNvSpPr txBox="1"/>
          <p:nvPr/>
        </p:nvSpPr>
        <p:spPr>
          <a:xfrm>
            <a:off x="731520" y="4114800"/>
            <a:ext cx="5486400" cy="228600"/>
          </a:xfrm>
          <a:prstGeom prst="rect">
            <a:avLst/>
          </a:prstGeom>
          <a:noFill/>
        </p:spPr>
        <p:txBody>
          <a:bodyPr wrap="square">
            <a:spAutoFit/>
          </a:bodyPr>
          <a:lstStyle/>
          <a:p>
            <a:pPr algn="l">
              <a:defRPr sz="1000" b="0">
                <a:solidFill>
                  <a:srgbClr val="6C757D"/>
                </a:solidFill>
                <a:latin typeface="Meiryo"/>
              </a:defRPr>
            </a:pPr>
            <a:r>
              <a:t>Google  |  Infrastructure  |  CNBC</a:t>
            </a:r>
          </a:p>
        </p:txBody>
      </p:sp>
      <p:sp>
        <p:nvSpPr>
          <p:cNvPr id="32" name="Rectangle 31"/>
          <p:cNvSpPr/>
          <p:nvPr/>
        </p:nvSpPr>
        <p:spPr>
          <a:xfrm>
            <a:off x="548640" y="4526280"/>
            <a:ext cx="11094415" cy="164592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4526280"/>
            <a:ext cx="54864" cy="164592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5800" y="4663440"/>
            <a:ext cx="457200" cy="457200"/>
          </a:xfrm>
          <a:prstGeom prst="ellipse">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663440"/>
            <a:ext cx="457200" cy="457200"/>
          </a:xfrm>
          <a:prstGeom prst="rect">
            <a:avLst/>
          </a:prstGeom>
          <a:noFill/>
        </p:spPr>
        <p:txBody>
          <a:bodyPr wrap="square" anchor="ctr">
            <a:spAutoFit/>
          </a:bodyPr>
          <a:lstStyle/>
          <a:p>
            <a:pPr algn="ctr">
              <a:defRPr sz="1800" b="1">
                <a:solidFill>
                  <a:srgbClr val="FFFFFF"/>
                </a:solidFill>
                <a:latin typeface="Meiryo"/>
              </a:defRPr>
            </a:pPr>
            <a:r>
              <a:t>4</a:t>
            </a:r>
          </a:p>
        </p:txBody>
      </p:sp>
      <p:sp>
        <p:nvSpPr>
          <p:cNvPr id="36" name="Rounded Rectangle 35"/>
          <p:cNvSpPr/>
          <p:nvPr/>
        </p:nvSpPr>
        <p:spPr>
          <a:xfrm>
            <a:off x="1234440" y="4818888"/>
            <a:ext cx="1828800" cy="1097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234440" y="4818888"/>
            <a:ext cx="1463040" cy="109728"/>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34440" y="4599432"/>
            <a:ext cx="8229600" cy="274320"/>
          </a:xfrm>
          <a:prstGeom prst="rect">
            <a:avLst/>
          </a:prstGeom>
          <a:noFill/>
        </p:spPr>
        <p:txBody>
          <a:bodyPr wrap="square">
            <a:spAutoFit/>
          </a:bodyPr>
          <a:lstStyle/>
          <a:p>
            <a:pPr algn="l">
              <a:defRPr sz="1500" b="1">
                <a:solidFill>
                  <a:srgbClr val="1A1A2E"/>
                </a:solidFill>
                <a:latin typeface="Meiryo"/>
              </a:defRPr>
            </a:pPr>
            <a:r>
              <a:t>Cohere、2026年の年間売上240億ドルを達成　IPO準備加速、Anthropic・OpenAI・xAIと競合ポジション激化</a:t>
            </a:r>
          </a:p>
        </p:txBody>
      </p:sp>
      <p:sp>
        <p:nvSpPr>
          <p:cNvPr id="39" name="TextBox 38"/>
          <p:cNvSpPr txBox="1"/>
          <p:nvPr/>
        </p:nvSpPr>
        <p:spPr>
          <a:xfrm>
            <a:off x="731520" y="5029200"/>
            <a:ext cx="6675120" cy="731520"/>
          </a:xfrm>
          <a:prstGeom prst="rect">
            <a:avLst/>
          </a:prstGeom>
          <a:noFill/>
        </p:spPr>
        <p:txBody>
          <a:bodyPr wrap="square">
            <a:spAutoFit/>
          </a:bodyPr>
          <a:lstStyle/>
          <a:p>
            <a:pPr algn="l">
              <a:defRPr sz="1100" b="0">
                <a:solidFill>
                  <a:srgbClr val="1A1A2E"/>
                </a:solidFill>
                <a:latin typeface="Meiryo"/>
              </a:defRPr>
            </a:pPr>
            <a:r>
              <a:t>カナダのAIスタートアップ Cohereが2026年の年間売上を240億ドル達成する見通しを公表。企業向けAIの『軽量モデル』市場で独自ポジション構築。Cohere の Command family モデルは NVIDIA・AMD等の『制限されたGPU』でも実行可能な効率性を実現...</a:t>
            </a:r>
          </a:p>
        </p:txBody>
      </p:sp>
      <p:sp>
        <p:nvSpPr>
          <p:cNvPr id="40" name="Rounded Rectangle 39"/>
          <p:cNvSpPr/>
          <p:nvPr/>
        </p:nvSpPr>
        <p:spPr>
          <a:xfrm>
            <a:off x="7315200" y="4937760"/>
            <a:ext cx="4114800" cy="100584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0" y="4956048"/>
            <a:ext cx="3931920" cy="182880"/>
          </a:xfrm>
          <a:prstGeom prst="rect">
            <a:avLst/>
          </a:prstGeom>
          <a:noFill/>
        </p:spPr>
        <p:txBody>
          <a:bodyPr wrap="square">
            <a:spAutoFit/>
          </a:bodyPr>
          <a:lstStyle/>
          <a:p>
            <a:pPr algn="l">
              <a:defRPr sz="800" b="1">
                <a:solidFill>
                  <a:srgbClr val="005BAB"/>
                </a:solidFill>
                <a:latin typeface="Meiryo"/>
              </a:defRPr>
            </a:pPr>
            <a:r>
              <a:t>IMPACT</a:t>
            </a:r>
          </a:p>
        </p:txBody>
      </p:sp>
      <p:sp>
        <p:nvSpPr>
          <p:cNvPr id="42" name="TextBox 41"/>
          <p:cNvSpPr txBox="1"/>
          <p:nvPr/>
        </p:nvSpPr>
        <p:spPr>
          <a:xfrm>
            <a:off x="7406640" y="5138928"/>
            <a:ext cx="3931920" cy="731520"/>
          </a:xfrm>
          <a:prstGeom prst="rect">
            <a:avLst/>
          </a:prstGeom>
          <a:noFill/>
        </p:spPr>
        <p:txBody>
          <a:bodyPr wrap="square">
            <a:normAutofit/>
          </a:bodyPr>
          <a:lstStyle/>
          <a:p>
            <a:pPr algn="l">
              <a:defRPr sz="900" b="0">
                <a:solidFill>
                  <a:srgbClr val="1A1A2E"/>
                </a:solidFill>
                <a:latin typeface="Meiryo"/>
              </a:defRPr>
            </a:pPr>
            <a:r>
              <a:t>中堅企業（従業員100-5000社）のAI導入が急加速。従来は『AI導入 = 大企業の特権』だったが、Cohereの低コストモデルにより民主化。SaaS・ウェブサービス企業の『自社プロダクト + AI統合』が容易化。一方、Anthropic・OpenAIの『高精度 = 高価格』戦略との『市場分断』が加速。</a:t>
            </a:r>
          </a:p>
        </p:txBody>
      </p:sp>
      <p:sp>
        <p:nvSpPr>
          <p:cNvPr id="43" name="TextBox 42"/>
          <p:cNvSpPr txBox="1"/>
          <p:nvPr/>
        </p:nvSpPr>
        <p:spPr>
          <a:xfrm>
            <a:off x="731520" y="5897880"/>
            <a:ext cx="5486400" cy="228600"/>
          </a:xfrm>
          <a:prstGeom prst="rect">
            <a:avLst/>
          </a:prstGeom>
          <a:noFill/>
        </p:spPr>
        <p:txBody>
          <a:bodyPr wrap="square">
            <a:spAutoFit/>
          </a:bodyPr>
          <a:lstStyle/>
          <a:p>
            <a:pPr algn="l">
              <a:defRPr sz="1000" b="0">
                <a:solidFill>
                  <a:srgbClr val="6C757D"/>
                </a:solidFill>
                <a:latin typeface="Meiryo"/>
              </a:defRPr>
            </a:pPr>
            <a:r>
              <a:t>Other  |  Business  |  CNBC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Top News (2/2)</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6</a:t>
            </a:r>
          </a:p>
        </p:txBody>
      </p:sp>
      <p:sp>
        <p:nvSpPr>
          <p:cNvPr id="6" name="Rectangle 5"/>
          <p:cNvSpPr/>
          <p:nvPr/>
        </p:nvSpPr>
        <p:spPr>
          <a:xfrm>
            <a:off x="548640" y="960120"/>
            <a:ext cx="11094415" cy="164592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960120"/>
            <a:ext cx="54864" cy="164592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097280"/>
            <a:ext cx="457200" cy="457200"/>
          </a:xfrm>
          <a:prstGeom prst="ellipse">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457200" cy="457200"/>
          </a:xfrm>
          <a:prstGeom prst="rect">
            <a:avLst/>
          </a:prstGeom>
          <a:noFill/>
        </p:spPr>
        <p:txBody>
          <a:bodyPr wrap="square" anchor="ctr">
            <a:spAutoFit/>
          </a:bodyPr>
          <a:lstStyle/>
          <a:p>
            <a:pPr algn="ctr">
              <a:defRPr sz="1800" b="1">
                <a:solidFill>
                  <a:srgbClr val="FFFFFF"/>
                </a:solidFill>
                <a:latin typeface="Meiryo"/>
              </a:defRPr>
            </a:pPr>
            <a:r>
              <a:t>4</a:t>
            </a:r>
          </a:p>
        </p:txBody>
      </p:sp>
      <p:sp>
        <p:nvSpPr>
          <p:cNvPr id="10" name="Rounded Rectangle 9"/>
          <p:cNvSpPr/>
          <p:nvPr/>
        </p:nvSpPr>
        <p:spPr>
          <a:xfrm>
            <a:off x="1234440" y="1252728"/>
            <a:ext cx="1828800" cy="1097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234440" y="1252728"/>
            <a:ext cx="1463040" cy="109728"/>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1033272"/>
            <a:ext cx="8229600" cy="274320"/>
          </a:xfrm>
          <a:prstGeom prst="rect">
            <a:avLst/>
          </a:prstGeom>
          <a:noFill/>
        </p:spPr>
        <p:txBody>
          <a:bodyPr wrap="square">
            <a:spAutoFit/>
          </a:bodyPr>
          <a:lstStyle/>
          <a:p>
            <a:pPr algn="l">
              <a:defRPr sz="1500" b="1">
                <a:solidFill>
                  <a:srgbClr val="1A1A2E"/>
                </a:solidFill>
                <a:latin typeface="Meiryo"/>
              </a:defRPr>
            </a:pPr>
            <a:r>
              <a:t>xAI、社内カンファレンスで『惑星間AI計算野心』を公開　Grok・Imagine Video・Macrohard プロジェクトの新組織体制</a:t>
            </a:r>
          </a:p>
        </p:txBody>
      </p:sp>
      <p:sp>
        <p:nvSpPr>
          <p:cNvPr id="13" name="TextBox 12"/>
          <p:cNvSpPr txBox="1"/>
          <p:nvPr/>
        </p:nvSpPr>
        <p:spPr>
          <a:xfrm>
            <a:off x="731520" y="1463040"/>
            <a:ext cx="6675120" cy="731520"/>
          </a:xfrm>
          <a:prstGeom prst="rect">
            <a:avLst/>
          </a:prstGeom>
          <a:noFill/>
        </p:spPr>
        <p:txBody>
          <a:bodyPr wrap="square">
            <a:spAutoFit/>
          </a:bodyPr>
          <a:lstStyle/>
          <a:p>
            <a:pPr algn="l">
              <a:defRPr sz="1100" b="0">
                <a:solidFill>
                  <a:srgbClr val="1A1A2E"/>
                </a:solidFill>
                <a:latin typeface="Meiryo"/>
              </a:defRPr>
            </a:pPr>
            <a:r>
              <a:t>Elon Muskが xAI の社内カンファレンス（All-Hands Meeting）で公式に『Interplanetary AI Computing Vision』を発表。xAI 内を4つのチームに再編成：①Grok Chatbot &amp; Voice、②Coding Syste...</a:t>
            </a:r>
          </a:p>
        </p:txBody>
      </p:sp>
      <p:sp>
        <p:nvSpPr>
          <p:cNvPr id="14" name="Rounded Rectangle 13"/>
          <p:cNvSpPr/>
          <p:nvPr/>
        </p:nvSpPr>
        <p:spPr>
          <a:xfrm>
            <a:off x="7315200" y="1371600"/>
            <a:ext cx="4114800" cy="100584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1389888"/>
            <a:ext cx="3931920" cy="182880"/>
          </a:xfrm>
          <a:prstGeom prst="rect">
            <a:avLst/>
          </a:prstGeom>
          <a:noFill/>
        </p:spPr>
        <p:txBody>
          <a:bodyPr wrap="square">
            <a:spAutoFit/>
          </a:bodyPr>
          <a:lstStyle/>
          <a:p>
            <a:pPr algn="l">
              <a:defRPr sz="800" b="1">
                <a:solidFill>
                  <a:srgbClr val="005BAB"/>
                </a:solidFill>
                <a:latin typeface="Meiryo"/>
              </a:defRPr>
            </a:pPr>
            <a:r>
              <a:t>IMPACT</a:t>
            </a:r>
          </a:p>
        </p:txBody>
      </p:sp>
      <p:sp>
        <p:nvSpPr>
          <p:cNvPr id="16" name="TextBox 15"/>
          <p:cNvSpPr txBox="1"/>
          <p:nvPr/>
        </p:nvSpPr>
        <p:spPr>
          <a:xfrm>
            <a:off x="7406640" y="1572768"/>
            <a:ext cx="3931920" cy="731520"/>
          </a:xfrm>
          <a:prstGeom prst="rect">
            <a:avLst/>
          </a:prstGeom>
          <a:noFill/>
        </p:spPr>
        <p:txBody>
          <a:bodyPr wrap="square">
            <a:normAutofit/>
          </a:bodyPr>
          <a:lstStyle/>
          <a:p>
            <a:pPr algn="l">
              <a:defRPr sz="900" b="0">
                <a:solidFill>
                  <a:srgbClr val="1A1A2E"/>
                </a:solidFill>
                <a:latin typeface="Meiryo"/>
              </a:defRPr>
            </a:pPr>
            <a:r>
              <a:t>①xAI のビジネスモデルが『単一モデル販売』から『統合プラットフォーム』へシフト、②SpaceX との統合が『宇宙・地上ハイブリッド計算』を実現する場合、AI コスト構造が根本的に変化（地上データセンターの『廃止可能性』），③Twitter との統合を活用した『Grok を介した企業データ収集』が本格化（プライバシーリスク）。</a:t>
            </a:r>
          </a:p>
        </p:txBody>
      </p:sp>
      <p:sp>
        <p:nvSpPr>
          <p:cNvPr id="17" name="TextBox 16"/>
          <p:cNvSpPr txBox="1"/>
          <p:nvPr/>
        </p:nvSpPr>
        <p:spPr>
          <a:xfrm>
            <a:off x="731520" y="2331720"/>
            <a:ext cx="5486400" cy="228600"/>
          </a:xfrm>
          <a:prstGeom prst="rect">
            <a:avLst/>
          </a:prstGeom>
          <a:noFill/>
        </p:spPr>
        <p:txBody>
          <a:bodyPr wrap="square">
            <a:spAutoFit/>
          </a:bodyPr>
          <a:lstStyle/>
          <a:p>
            <a:pPr algn="l">
              <a:defRPr sz="1000" b="0">
                <a:solidFill>
                  <a:srgbClr val="6C757D"/>
                </a:solidFill>
                <a:latin typeface="Meiryo"/>
              </a:defRPr>
            </a:pPr>
            <a:r>
              <a:t>Other  |  Business  |  TechCrunch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Global Market Impact</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7</a:t>
            </a:r>
          </a:p>
        </p:txBody>
      </p:sp>
      <p:sp>
        <p:nvSpPr>
          <p:cNvPr id="6" name="TextBox 5"/>
          <p:cNvSpPr txBox="1"/>
          <p:nvPr/>
        </p:nvSpPr>
        <p:spPr>
          <a:xfrm>
            <a:off x="548640" y="960120"/>
            <a:ext cx="5303520" cy="4572000"/>
          </a:xfrm>
          <a:prstGeom prst="rect">
            <a:avLst/>
          </a:prstGeom>
          <a:noFill/>
        </p:spPr>
        <p:txBody>
          <a:bodyPr wrap="square">
            <a:spAutoFit/>
          </a:bodyPr>
          <a:lstStyle/>
          <a:p>
            <a:pPr algn="l">
              <a:defRPr sz="1200" b="0">
                <a:solidFill>
                  <a:srgbClr val="1A1A2E"/>
                </a:solidFill>
                <a:latin typeface="Meiryo"/>
              </a:defRPr>
            </a:pPr>
            <a:r>
              <a:t>2026年のグローバルAI市場は、米国『Big Tech 4社＋AI スタートアップ』による『資本 + 人材』の寡占化が確立する段階に入った。米国企業（OpenAI・Anthropic・Google・Microsoft）が650-700億ドルのAI インフラ投資により『計算リソース』を支配。欧州は『AI 規制強化』（EU AI Act 強化）により『米国後追い』の立場に。中国（Baidu・Alibaba 等）は『米国との技術格差』拡大により『独自路線（LLaMA オープンソース化等）』を模索。日本・韓国は『チップ製造』（TSMC・Samsung）における機能特化へのシフト。インド は『AI オフショアリング』（低コスト開発・テスト）で『AI 開発労働力』を提供するポジション。この『地政学的階層化』により、2026年中盤以降『Global AI Divide』（先進国 vs 発展国）が顕在化</a:t>
            </a:r>
          </a:p>
        </p:txBody>
      </p:sp>
      <p:sp>
        <p:nvSpPr>
          <p:cNvPr id="7" name="TextBox 6"/>
          <p:cNvSpPr txBox="1"/>
          <p:nvPr/>
        </p:nvSpPr>
        <p:spPr>
          <a:xfrm>
            <a:off x="6156655" y="960120"/>
            <a:ext cx="5486400" cy="320040"/>
          </a:xfrm>
          <a:prstGeom prst="rect">
            <a:avLst/>
          </a:prstGeom>
          <a:noFill/>
        </p:spPr>
        <p:txBody>
          <a:bodyPr wrap="square">
            <a:spAutoFit/>
          </a:bodyPr>
          <a:lstStyle/>
          <a:p>
            <a:pPr algn="l">
              <a:defRPr sz="1400" b="1">
                <a:solidFill>
                  <a:srgbClr val="005BAB"/>
                </a:solidFill>
                <a:latin typeface="Meiryo"/>
              </a:defRPr>
            </a:pPr>
            <a:r>
              <a:t>KEY IMPACT POINTS</a:t>
            </a:r>
          </a:p>
        </p:txBody>
      </p:sp>
      <p:sp>
        <p:nvSpPr>
          <p:cNvPr id="8" name="Rectangle 7"/>
          <p:cNvSpPr/>
          <p:nvPr/>
        </p:nvSpPr>
        <p:spPr>
          <a:xfrm>
            <a:off x="6156655" y="1261872"/>
            <a:ext cx="1828800" cy="18288"/>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56655" y="14173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56655" y="1417320"/>
            <a:ext cx="54864"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66383" y="1600200"/>
            <a:ext cx="365760" cy="36576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6383" y="1600200"/>
            <a:ext cx="365760" cy="365760"/>
          </a:xfrm>
          <a:prstGeom prst="rect">
            <a:avLst/>
          </a:prstGeom>
          <a:noFill/>
        </p:spPr>
        <p:txBody>
          <a:bodyPr wrap="square" anchor="ctr">
            <a:spAutoFit/>
          </a:bodyPr>
          <a:lstStyle/>
          <a:p>
            <a:pPr algn="ctr">
              <a:defRPr sz="1300" b="1">
                <a:solidFill>
                  <a:srgbClr val="FFFFFF"/>
                </a:solidFill>
                <a:latin typeface="Meiryo"/>
              </a:defRPr>
            </a:pPr>
            <a:r>
              <a:t>1</a:t>
            </a:r>
          </a:p>
        </p:txBody>
      </p:sp>
      <p:sp>
        <p:nvSpPr>
          <p:cNvPr id="13" name="TextBox 12"/>
          <p:cNvSpPr txBox="1"/>
          <p:nvPr/>
        </p:nvSpPr>
        <p:spPr>
          <a:xfrm>
            <a:off x="6705295" y="1490472"/>
            <a:ext cx="4800600" cy="685800"/>
          </a:xfrm>
          <a:prstGeom prst="rect">
            <a:avLst/>
          </a:prstGeom>
          <a:noFill/>
        </p:spPr>
        <p:txBody>
          <a:bodyPr wrap="square">
            <a:spAutoFit/>
          </a:bodyPr>
          <a:lstStyle/>
          <a:p>
            <a:pPr algn="l">
              <a:defRPr sz="1000" b="0">
                <a:solidFill>
                  <a:srgbClr val="1A1A2E"/>
                </a:solidFill>
                <a:latin typeface="Meiryo"/>
              </a:defRPr>
            </a:pPr>
            <a:r>
              <a:t>米国Big Tech 4社が650-700億ドルAI投資を実行し、AI計算インフラの『支配権強化』。電力グリッド危機が発生し、2026年Q3-Q4にAI投資効率の悪化が露呈する可能性（影響範囲：全テック企業の株価・投資戦略）</a:t>
            </a:r>
          </a:p>
        </p:txBody>
      </p:sp>
      <p:sp>
        <p:nvSpPr>
          <p:cNvPr id="14" name="Rectangle 13"/>
          <p:cNvSpPr/>
          <p:nvPr/>
        </p:nvSpPr>
        <p:spPr>
          <a:xfrm>
            <a:off x="6156655" y="23317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56655" y="2331720"/>
            <a:ext cx="54864" cy="82296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66383" y="2514600"/>
            <a:ext cx="365760" cy="365760"/>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6383" y="2514600"/>
            <a:ext cx="365760" cy="365760"/>
          </a:xfrm>
          <a:prstGeom prst="rect">
            <a:avLst/>
          </a:prstGeom>
          <a:noFill/>
        </p:spPr>
        <p:txBody>
          <a:bodyPr wrap="square" anchor="ctr">
            <a:spAutoFit/>
          </a:bodyPr>
          <a:lstStyle/>
          <a:p>
            <a:pPr algn="ctr">
              <a:defRPr sz="1300" b="1">
                <a:solidFill>
                  <a:srgbClr val="FFFFFF"/>
                </a:solidFill>
                <a:latin typeface="Meiryo"/>
              </a:defRPr>
            </a:pPr>
            <a:r>
              <a:t>2</a:t>
            </a:r>
          </a:p>
        </p:txBody>
      </p:sp>
      <p:sp>
        <p:nvSpPr>
          <p:cNvPr id="18" name="TextBox 17"/>
          <p:cNvSpPr txBox="1"/>
          <p:nvPr/>
        </p:nvSpPr>
        <p:spPr>
          <a:xfrm>
            <a:off x="6705295" y="2404872"/>
            <a:ext cx="4800600" cy="685800"/>
          </a:xfrm>
          <a:prstGeom prst="rect">
            <a:avLst/>
          </a:prstGeom>
          <a:noFill/>
        </p:spPr>
        <p:txBody>
          <a:bodyPr wrap="square">
            <a:spAutoFit/>
          </a:bodyPr>
          <a:lstStyle/>
          <a:p>
            <a:pPr algn="l">
              <a:defRPr sz="1000" b="0">
                <a:solidFill>
                  <a:srgbClr val="1A1A2E"/>
                </a:solidFill>
                <a:latin typeface="Meiryo"/>
              </a:defRPr>
            </a:pPr>
            <a:r>
              <a:t>OpenAI・Anthropic『IPO競争』が激化し、2026年内の複数企業公開により『テック IPO 市場』が2023年以来の活況化。ただしキャッシュフロー悪化が『上場後のパフォーマンス悪化』につながるリスク（影響：公開市場全体の『AI企業評価』基準の再構...</a:t>
            </a:r>
          </a:p>
        </p:txBody>
      </p:sp>
      <p:sp>
        <p:nvSpPr>
          <p:cNvPr id="19" name="Rectangle 18"/>
          <p:cNvSpPr/>
          <p:nvPr/>
        </p:nvSpPr>
        <p:spPr>
          <a:xfrm>
            <a:off x="6156655" y="32461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56655" y="3246120"/>
            <a:ext cx="54864" cy="82296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266383" y="3429000"/>
            <a:ext cx="365760" cy="365760"/>
          </a:xfrm>
          <a:prstGeom prst="ellipse">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6383" y="3429000"/>
            <a:ext cx="365760" cy="365760"/>
          </a:xfrm>
          <a:prstGeom prst="rect">
            <a:avLst/>
          </a:prstGeom>
          <a:noFill/>
        </p:spPr>
        <p:txBody>
          <a:bodyPr wrap="square" anchor="ctr">
            <a:spAutoFit/>
          </a:bodyPr>
          <a:lstStyle/>
          <a:p>
            <a:pPr algn="ctr">
              <a:defRPr sz="1300" b="1">
                <a:solidFill>
                  <a:srgbClr val="FFFFFF"/>
                </a:solidFill>
                <a:latin typeface="Meiryo"/>
              </a:defRPr>
            </a:pPr>
            <a:r>
              <a:t>3</a:t>
            </a:r>
          </a:p>
        </p:txBody>
      </p:sp>
      <p:sp>
        <p:nvSpPr>
          <p:cNvPr id="23" name="TextBox 22"/>
          <p:cNvSpPr txBox="1"/>
          <p:nvPr/>
        </p:nvSpPr>
        <p:spPr>
          <a:xfrm>
            <a:off x="6705295" y="3319272"/>
            <a:ext cx="4800600" cy="685800"/>
          </a:xfrm>
          <a:prstGeom prst="rect">
            <a:avLst/>
          </a:prstGeom>
          <a:noFill/>
        </p:spPr>
        <p:txBody>
          <a:bodyPr wrap="square">
            <a:spAutoFit/>
          </a:bodyPr>
          <a:lstStyle/>
          <a:p>
            <a:pPr algn="l">
              <a:defRPr sz="1000" b="0">
                <a:solidFill>
                  <a:srgbClr val="1A1A2E"/>
                </a:solidFill>
                <a:latin typeface="Meiryo"/>
              </a:defRPr>
            </a:pPr>
            <a:r>
              <a:t>AI安全性研究者の『大量流出』により、『業界内の倫理基準』が低下。各国規制当局による『安全性監視強化』が加速。EU・UK・カナダで『前段階AI監査制度』導入の可能性（影響：AI企業の開発コスト増加・商用化延期）</a:t>
            </a:r>
          </a:p>
        </p:txBody>
      </p:sp>
      <p:sp>
        <p:nvSpPr>
          <p:cNvPr id="24" name="Rectangle 23"/>
          <p:cNvSpPr/>
          <p:nvPr/>
        </p:nvSpPr>
        <p:spPr>
          <a:xfrm>
            <a:off x="6156655" y="41605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6655" y="4160520"/>
            <a:ext cx="54864" cy="822960"/>
          </a:xfrm>
          <a:prstGeom prst="rect">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66383" y="4343400"/>
            <a:ext cx="365760" cy="365760"/>
          </a:xfrm>
          <a:prstGeom prst="ellipse">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6383" y="4343400"/>
            <a:ext cx="365760" cy="365760"/>
          </a:xfrm>
          <a:prstGeom prst="rect">
            <a:avLst/>
          </a:prstGeom>
          <a:noFill/>
        </p:spPr>
        <p:txBody>
          <a:bodyPr wrap="square" anchor="ctr">
            <a:spAutoFit/>
          </a:bodyPr>
          <a:lstStyle/>
          <a:p>
            <a:pPr algn="ctr">
              <a:defRPr sz="1300" b="1">
                <a:solidFill>
                  <a:srgbClr val="FFFFFF"/>
                </a:solidFill>
                <a:latin typeface="Meiryo"/>
              </a:defRPr>
            </a:pPr>
            <a:r>
              <a:t>4</a:t>
            </a:r>
          </a:p>
        </p:txBody>
      </p:sp>
      <p:sp>
        <p:nvSpPr>
          <p:cNvPr id="28" name="TextBox 27"/>
          <p:cNvSpPr txBox="1"/>
          <p:nvPr/>
        </p:nvSpPr>
        <p:spPr>
          <a:xfrm>
            <a:off x="6705295" y="4233672"/>
            <a:ext cx="4800600" cy="685800"/>
          </a:xfrm>
          <a:prstGeom prst="rect">
            <a:avLst/>
          </a:prstGeom>
          <a:noFill/>
        </p:spPr>
        <p:txBody>
          <a:bodyPr wrap="square">
            <a:spAutoFit/>
          </a:bodyPr>
          <a:lstStyle/>
          <a:p>
            <a:pPr algn="l">
              <a:defRPr sz="1000" b="0">
                <a:solidFill>
                  <a:srgbClr val="1A1A2E"/>
                </a:solidFill>
                <a:latin typeface="Meiryo"/>
              </a:defRPr>
            </a:pPr>
            <a:r>
              <a:t>VC の『重複投資戦略』により『投資シグナル』としての意義低下。AI企業評価が『資本市場の相対取引』に依存し、『客観的パフォーマンス指標』の欠如が『AI バブル化』を加速（影響：次世代スタートアップ資金調達の困難化）</a:t>
            </a:r>
          </a:p>
        </p:txBody>
      </p:sp>
      <p:sp>
        <p:nvSpPr>
          <p:cNvPr id="29" name="Rectangle 28"/>
          <p:cNvSpPr/>
          <p:nvPr/>
        </p:nvSpPr>
        <p:spPr>
          <a:xfrm>
            <a:off x="6156655" y="50749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56655" y="5074920"/>
            <a:ext cx="54864"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266383" y="5257800"/>
            <a:ext cx="365760" cy="36576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6383" y="5257800"/>
            <a:ext cx="365760" cy="365760"/>
          </a:xfrm>
          <a:prstGeom prst="rect">
            <a:avLst/>
          </a:prstGeom>
          <a:noFill/>
        </p:spPr>
        <p:txBody>
          <a:bodyPr wrap="square" anchor="ctr">
            <a:spAutoFit/>
          </a:bodyPr>
          <a:lstStyle/>
          <a:p>
            <a:pPr algn="ctr">
              <a:defRPr sz="1300" b="1">
                <a:solidFill>
                  <a:srgbClr val="FFFFFF"/>
                </a:solidFill>
                <a:latin typeface="Meiryo"/>
              </a:defRPr>
            </a:pPr>
            <a:r>
              <a:t>5</a:t>
            </a:r>
          </a:p>
        </p:txBody>
      </p:sp>
      <p:sp>
        <p:nvSpPr>
          <p:cNvPr id="33" name="TextBox 32"/>
          <p:cNvSpPr txBox="1"/>
          <p:nvPr/>
        </p:nvSpPr>
        <p:spPr>
          <a:xfrm>
            <a:off x="6705295" y="5148072"/>
            <a:ext cx="4800600" cy="685800"/>
          </a:xfrm>
          <a:prstGeom prst="rect">
            <a:avLst/>
          </a:prstGeom>
          <a:noFill/>
        </p:spPr>
        <p:txBody>
          <a:bodyPr wrap="square">
            <a:spAutoFit/>
          </a:bodyPr>
          <a:lstStyle/>
          <a:p>
            <a:pPr algn="l">
              <a:defRPr sz="1000" b="0">
                <a:solidFill>
                  <a:srgbClr val="1A1A2E"/>
                </a:solidFill>
                <a:latin typeface="Meiryo"/>
              </a:defRPr>
            </a:pPr>
            <a:r>
              <a:t>中国・欧州とのAI 能力格差が2026年中盤に決定的に。米国のエンタープライズAI 市場支配（Anthropic・Microsoft・Google）により『非米国企業の選択肢喪失』。各国による『AI 主権』確保の動き加速（影響：ローカルAI ベンダーの台頭・規...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日本市場インパクト &amp; アクション</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8</a:t>
            </a:r>
          </a:p>
        </p:txBody>
      </p:sp>
      <p:sp>
        <p:nvSpPr>
          <p:cNvPr id="6" name="TextBox 5"/>
          <p:cNvSpPr txBox="1"/>
          <p:nvPr/>
        </p:nvSpPr>
        <p:spPr>
          <a:xfrm>
            <a:off x="548640" y="960120"/>
            <a:ext cx="5303520" cy="320040"/>
          </a:xfrm>
          <a:prstGeom prst="rect">
            <a:avLst/>
          </a:prstGeom>
          <a:noFill/>
        </p:spPr>
        <p:txBody>
          <a:bodyPr wrap="square">
            <a:spAutoFit/>
          </a:bodyPr>
          <a:lstStyle/>
          <a:p>
            <a:pPr algn="l">
              <a:defRPr sz="1500" b="1">
                <a:solidFill>
                  <a:srgbClr val="005BAB"/>
                </a:solidFill>
                <a:latin typeface="Meiryo"/>
              </a:defRPr>
            </a:pPr>
            <a:r>
              <a:t>日本市場への影響</a:t>
            </a:r>
          </a:p>
        </p:txBody>
      </p:sp>
      <p:sp>
        <p:nvSpPr>
          <p:cNvPr id="7" name="Rectangle 6"/>
          <p:cNvSpPr/>
          <p:nvPr/>
        </p:nvSpPr>
        <p:spPr>
          <a:xfrm>
            <a:off x="548640" y="1261872"/>
            <a:ext cx="1371600" cy="18288"/>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5303520" cy="86868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417320"/>
            <a:ext cx="54864" cy="86868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61848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618488"/>
            <a:ext cx="384048" cy="384048"/>
          </a:xfrm>
          <a:prstGeom prst="rect">
            <a:avLst/>
          </a:prstGeom>
          <a:noFill/>
        </p:spPr>
        <p:txBody>
          <a:bodyPr wrap="square" anchor="ctr">
            <a:spAutoFit/>
          </a:bodyPr>
          <a:lstStyle/>
          <a:p>
            <a:pPr algn="ctr">
              <a:defRPr sz="1400" b="1">
                <a:solidFill>
                  <a:srgbClr val="FFFFFF"/>
                </a:solidFill>
                <a:latin typeface="Meiryo"/>
              </a:defRPr>
            </a:pPr>
            <a:r>
              <a:t>1</a:t>
            </a:r>
          </a:p>
        </p:txBody>
      </p:sp>
      <p:sp>
        <p:nvSpPr>
          <p:cNvPr id="12" name="TextBox 11"/>
          <p:cNvSpPr txBox="1"/>
          <p:nvPr/>
        </p:nvSpPr>
        <p:spPr>
          <a:xfrm>
            <a:off x="1143000" y="1490472"/>
            <a:ext cx="4572000" cy="731520"/>
          </a:xfrm>
          <a:prstGeom prst="rect">
            <a:avLst/>
          </a:prstGeom>
          <a:noFill/>
        </p:spPr>
        <p:txBody>
          <a:bodyPr wrap="square">
            <a:spAutoFit/>
          </a:bodyPr>
          <a:lstStyle/>
          <a:p>
            <a:pPr algn="l">
              <a:defRPr sz="1100" b="0">
                <a:solidFill>
                  <a:srgbClr val="1A1A2E"/>
                </a:solidFill>
                <a:latin typeface="Meiryo"/>
              </a:defRPr>
            </a:pPr>
            <a:r>
              <a:t>金融・総合商社による『Claude for Enterprise』集約導入が2026年Q2-Q3で本格化。NTT・Sony・パナソニック等の『AI 導入予算』が国内ベンダーから『外資ベンダー』へ流出。国内AI企業の『人材流出』加速（優秀なエンジニアが外資系に転職）</a:t>
            </a:r>
          </a:p>
        </p:txBody>
      </p:sp>
      <p:sp>
        <p:nvSpPr>
          <p:cNvPr id="13" name="Rectangle 12"/>
          <p:cNvSpPr/>
          <p:nvPr/>
        </p:nvSpPr>
        <p:spPr>
          <a:xfrm>
            <a:off x="548640" y="2377440"/>
            <a:ext cx="5303520" cy="86868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377440"/>
            <a:ext cx="54864" cy="86868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8368" y="2578608"/>
            <a:ext cx="384048" cy="384048"/>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578608"/>
            <a:ext cx="384048" cy="384048"/>
          </a:xfrm>
          <a:prstGeom prst="rect">
            <a:avLst/>
          </a:prstGeom>
          <a:noFill/>
        </p:spPr>
        <p:txBody>
          <a:bodyPr wrap="square" anchor="ctr">
            <a:spAutoFit/>
          </a:bodyPr>
          <a:lstStyle/>
          <a:p>
            <a:pPr algn="ctr">
              <a:defRPr sz="1400" b="1">
                <a:solidFill>
                  <a:srgbClr val="FFFFFF"/>
                </a:solidFill>
                <a:latin typeface="Meiryo"/>
              </a:defRPr>
            </a:pPr>
            <a:r>
              <a:t>2</a:t>
            </a:r>
          </a:p>
        </p:txBody>
      </p:sp>
      <p:sp>
        <p:nvSpPr>
          <p:cNvPr id="17" name="TextBox 16"/>
          <p:cNvSpPr txBox="1"/>
          <p:nvPr/>
        </p:nvSpPr>
        <p:spPr>
          <a:xfrm>
            <a:off x="1143000" y="2450592"/>
            <a:ext cx="4572000" cy="731520"/>
          </a:xfrm>
          <a:prstGeom prst="rect">
            <a:avLst/>
          </a:prstGeom>
          <a:noFill/>
        </p:spPr>
        <p:txBody>
          <a:bodyPr wrap="square">
            <a:spAutoFit/>
          </a:bodyPr>
          <a:lstStyle/>
          <a:p>
            <a:pPr algn="l">
              <a:defRPr sz="1100" b="0">
                <a:solidFill>
                  <a:srgbClr val="1A1A2E"/>
                </a:solidFill>
                <a:latin typeface="Meiryo"/>
              </a:defRPr>
            </a:pPr>
            <a:r>
              <a:t>関西・東海地域の『電力供給逼迫』により、『国内データセンター新規建設』が事実上不可能に。データセンター拠点は米国（テキサス等）への一極集約化。日本企業のAI 計算は『外資クラウド依存度100%』化へ。</a:t>
            </a:r>
          </a:p>
        </p:txBody>
      </p:sp>
      <p:sp>
        <p:nvSpPr>
          <p:cNvPr id="18" name="Rectangle 17"/>
          <p:cNvSpPr/>
          <p:nvPr/>
        </p:nvSpPr>
        <p:spPr>
          <a:xfrm>
            <a:off x="548640" y="3337560"/>
            <a:ext cx="5303520" cy="86868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337560"/>
            <a:ext cx="54864" cy="86868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53872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38728"/>
            <a:ext cx="384048" cy="384048"/>
          </a:xfrm>
          <a:prstGeom prst="rect">
            <a:avLst/>
          </a:prstGeom>
          <a:noFill/>
        </p:spPr>
        <p:txBody>
          <a:bodyPr wrap="square" anchor="ctr">
            <a:spAutoFit/>
          </a:bodyPr>
          <a:lstStyle/>
          <a:p>
            <a:pPr algn="ctr">
              <a:defRPr sz="1400" b="1">
                <a:solidFill>
                  <a:srgbClr val="FFFFFF"/>
                </a:solidFill>
                <a:latin typeface="Meiryo"/>
              </a:defRPr>
            </a:pPr>
            <a:r>
              <a:t>3</a:t>
            </a:r>
          </a:p>
        </p:txBody>
      </p:sp>
      <p:sp>
        <p:nvSpPr>
          <p:cNvPr id="22" name="TextBox 21"/>
          <p:cNvSpPr txBox="1"/>
          <p:nvPr/>
        </p:nvSpPr>
        <p:spPr>
          <a:xfrm>
            <a:off x="1143000" y="3410712"/>
            <a:ext cx="4572000" cy="731520"/>
          </a:xfrm>
          <a:prstGeom prst="rect">
            <a:avLst/>
          </a:prstGeom>
          <a:noFill/>
        </p:spPr>
        <p:txBody>
          <a:bodyPr wrap="square">
            <a:spAutoFit/>
          </a:bodyPr>
          <a:lstStyle/>
          <a:p>
            <a:pPr algn="l">
              <a:defRPr sz="1100" b="0">
                <a:solidFill>
                  <a:srgbClr val="1A1A2E"/>
                </a:solidFill>
                <a:latin typeface="Meiryo"/>
              </a:defRPr>
            </a:pPr>
            <a:r>
              <a:t>『AI 人材育成』における日本の遅れが顕在化。大学のAI 研究室卒業生が『国内企業での雇用機会喪失』により、米国・カナダへの『人材流出』加速（2026年で年間500-1000人規模）。2027年以降、日本でのAI 研究開発が『外資系研究所（Google Japan等）』に事実上統...</a:t>
            </a:r>
          </a:p>
        </p:txBody>
      </p:sp>
      <p:sp>
        <p:nvSpPr>
          <p:cNvPr id="23" name="Rectangle 22"/>
          <p:cNvSpPr/>
          <p:nvPr/>
        </p:nvSpPr>
        <p:spPr>
          <a:xfrm>
            <a:off x="548640" y="4297680"/>
            <a:ext cx="5303520" cy="86868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297680"/>
            <a:ext cx="54864" cy="86868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4498848"/>
            <a:ext cx="384048" cy="384048"/>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498848"/>
            <a:ext cx="384048" cy="384048"/>
          </a:xfrm>
          <a:prstGeom prst="rect">
            <a:avLst/>
          </a:prstGeom>
          <a:noFill/>
        </p:spPr>
        <p:txBody>
          <a:bodyPr wrap="square" anchor="ctr">
            <a:spAutoFit/>
          </a:bodyPr>
          <a:lstStyle/>
          <a:p>
            <a:pPr algn="ctr">
              <a:defRPr sz="1400" b="1">
                <a:solidFill>
                  <a:srgbClr val="FFFFFF"/>
                </a:solidFill>
                <a:latin typeface="Meiryo"/>
              </a:defRPr>
            </a:pPr>
            <a:r>
              <a:t>4</a:t>
            </a:r>
          </a:p>
        </p:txBody>
      </p:sp>
      <p:sp>
        <p:nvSpPr>
          <p:cNvPr id="27" name="TextBox 26"/>
          <p:cNvSpPr txBox="1"/>
          <p:nvPr/>
        </p:nvSpPr>
        <p:spPr>
          <a:xfrm>
            <a:off x="1143000" y="4370832"/>
            <a:ext cx="4572000" cy="731520"/>
          </a:xfrm>
          <a:prstGeom prst="rect">
            <a:avLst/>
          </a:prstGeom>
          <a:noFill/>
        </p:spPr>
        <p:txBody>
          <a:bodyPr wrap="square">
            <a:spAutoFit/>
          </a:bodyPr>
          <a:lstStyle/>
          <a:p>
            <a:pPr algn="l">
              <a:defRPr sz="1100" b="0">
                <a:solidFill>
                  <a:srgbClr val="1A1A2E"/>
                </a:solidFill>
                <a:latin typeface="Meiryo"/>
              </a:defRPr>
            </a:pPr>
            <a:r>
              <a:t>金融規制（金融庁）によるAI 監査要件強化。銀行の『AI 導入コンプライアンス』が厳格化し、中堅企業の『AI 導入インセンティブ』が低下。IT 投資が『AI 以外』（サイバーセキュリティ等）へシフト。</a:t>
            </a:r>
          </a:p>
        </p:txBody>
      </p:sp>
      <p:sp>
        <p:nvSpPr>
          <p:cNvPr id="28" name="Rounded Rectangle 27"/>
          <p:cNvSpPr/>
          <p:nvPr/>
        </p:nvSpPr>
        <p:spPr>
          <a:xfrm>
            <a:off x="6156655" y="960120"/>
            <a:ext cx="5486400" cy="548640"/>
          </a:xfrm>
          <a:prstGeom prst="round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39535" y="1051560"/>
            <a:ext cx="5120640" cy="365760"/>
          </a:xfrm>
          <a:prstGeom prst="rect">
            <a:avLst/>
          </a:prstGeom>
          <a:noFill/>
        </p:spPr>
        <p:txBody>
          <a:bodyPr wrap="square">
            <a:spAutoFit/>
          </a:bodyPr>
          <a:lstStyle/>
          <a:p>
            <a:pPr algn="l">
              <a:defRPr sz="1600" b="1">
                <a:solidFill>
                  <a:srgbClr val="FFFFFF"/>
                </a:solidFill>
                <a:latin typeface="Meiryo"/>
              </a:defRPr>
            </a:pPr>
            <a:r>
              <a:t>■  ACTION ITEMS</a:t>
            </a:r>
          </a:p>
        </p:txBody>
      </p:sp>
      <p:sp>
        <p:nvSpPr>
          <p:cNvPr id="30" name="Rounded Rectangle 29"/>
          <p:cNvSpPr/>
          <p:nvPr/>
        </p:nvSpPr>
        <p:spPr>
          <a:xfrm>
            <a:off x="6156655" y="1645920"/>
            <a:ext cx="5486400" cy="9144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93815" y="1874520"/>
            <a:ext cx="320040" cy="320040"/>
          </a:xfrm>
          <a:prstGeom prst="roundRect">
            <a:avLst/>
          </a:prstGeom>
          <a:solidFill>
            <a:srgbClr val="FFFFFF"/>
          </a:solidFill>
          <a:ln w="25400">
            <a:solidFill>
              <a:srgbClr val="FF96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3815" y="1874520"/>
            <a:ext cx="320040" cy="320040"/>
          </a:xfrm>
          <a:prstGeom prst="rect">
            <a:avLst/>
          </a:prstGeom>
          <a:noFill/>
        </p:spPr>
        <p:txBody>
          <a:bodyPr wrap="square" anchor="ctr">
            <a:spAutoFit/>
          </a:bodyPr>
          <a:lstStyle/>
          <a:p>
            <a:pPr algn="ctr">
              <a:defRPr sz="1400" b="1">
                <a:solidFill>
                  <a:srgbClr val="FF961C"/>
                </a:solidFill>
                <a:latin typeface="Meiryo"/>
              </a:defRPr>
            </a:pPr>
            <a:r>
              <a:t>✓</a:t>
            </a:r>
          </a:p>
        </p:txBody>
      </p:sp>
      <p:sp>
        <p:nvSpPr>
          <p:cNvPr id="33" name="TextBox 32"/>
          <p:cNvSpPr txBox="1"/>
          <p:nvPr/>
        </p:nvSpPr>
        <p:spPr>
          <a:xfrm>
            <a:off x="6705295" y="1737360"/>
            <a:ext cx="4800600" cy="731520"/>
          </a:xfrm>
          <a:prstGeom prst="rect">
            <a:avLst/>
          </a:prstGeom>
          <a:noFill/>
        </p:spPr>
        <p:txBody>
          <a:bodyPr wrap="square">
            <a:spAutoFit/>
          </a:bodyPr>
          <a:lstStyle/>
          <a:p>
            <a:pPr algn="l">
              <a:defRPr sz="1100" b="0">
                <a:solidFill>
                  <a:srgbClr val="1A1A2E"/>
                </a:solidFill>
                <a:latin typeface="Meiryo"/>
              </a:defRPr>
            </a:pPr>
            <a:r>
              <a:t>【政府（経産省・総務省）】2026年Q1内に『AI 産業競争力確保法』立案。国内AI 企業への『直接補助金（年間500-1000億円規模）』や『税制優遇』を実施し、国内AI 人材の流出抑止。責任者：経産省大臣官房 AI・データ戦略推進室（期限：2026年3月31日）</a:t>
            </a:r>
          </a:p>
        </p:txBody>
      </p:sp>
      <p:sp>
        <p:nvSpPr>
          <p:cNvPr id="34" name="Rounded Rectangle 33"/>
          <p:cNvSpPr/>
          <p:nvPr/>
        </p:nvSpPr>
        <p:spPr>
          <a:xfrm>
            <a:off x="6156655" y="2670048"/>
            <a:ext cx="5486400" cy="9144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293815" y="2898648"/>
            <a:ext cx="320040" cy="320040"/>
          </a:xfrm>
          <a:prstGeom prst="roundRect">
            <a:avLst/>
          </a:prstGeom>
          <a:solidFill>
            <a:srgbClr val="FFFFFF"/>
          </a:solidFill>
          <a:ln w="25400">
            <a:solidFill>
              <a:srgbClr val="FF96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815" y="2898648"/>
            <a:ext cx="320040" cy="320040"/>
          </a:xfrm>
          <a:prstGeom prst="rect">
            <a:avLst/>
          </a:prstGeom>
          <a:noFill/>
        </p:spPr>
        <p:txBody>
          <a:bodyPr wrap="square" anchor="ctr">
            <a:spAutoFit/>
          </a:bodyPr>
          <a:lstStyle/>
          <a:p>
            <a:pPr algn="ctr">
              <a:defRPr sz="1400" b="1">
                <a:solidFill>
                  <a:srgbClr val="FF961C"/>
                </a:solidFill>
                <a:latin typeface="Meiryo"/>
              </a:defRPr>
            </a:pPr>
            <a:r>
              <a:t>✓</a:t>
            </a:r>
          </a:p>
        </p:txBody>
      </p:sp>
      <p:sp>
        <p:nvSpPr>
          <p:cNvPr id="37" name="TextBox 36"/>
          <p:cNvSpPr txBox="1"/>
          <p:nvPr/>
        </p:nvSpPr>
        <p:spPr>
          <a:xfrm>
            <a:off x="6705295" y="2761488"/>
            <a:ext cx="4800600" cy="731520"/>
          </a:xfrm>
          <a:prstGeom prst="rect">
            <a:avLst/>
          </a:prstGeom>
          <a:noFill/>
        </p:spPr>
        <p:txBody>
          <a:bodyPr wrap="square">
            <a:spAutoFit/>
          </a:bodyPr>
          <a:lstStyle/>
          <a:p>
            <a:pPr algn="l">
              <a:defRPr sz="1100" b="0">
                <a:solidFill>
                  <a:srgbClr val="1A1A2E"/>
                </a:solidFill>
                <a:latin typeface="Meiryo"/>
              </a:defRPr>
            </a:pPr>
            <a:r>
              <a:t>【金融機関（メガバンク・生保）】2026年Q2までに『Claude for Enterprise』の『企業向けパイロット導入』を展開。同時に『国産AI（Rinna等）』のハイブリッド活用モデルを構築し、『外資依存度を50%以下に維持』する契約形式を確立。責任者：各行のデジタル推進...</a:t>
            </a:r>
          </a:p>
        </p:txBody>
      </p:sp>
      <p:sp>
        <p:nvSpPr>
          <p:cNvPr id="38" name="Rounded Rectangle 37"/>
          <p:cNvSpPr/>
          <p:nvPr/>
        </p:nvSpPr>
        <p:spPr>
          <a:xfrm>
            <a:off x="6156655" y="3694176"/>
            <a:ext cx="5486400" cy="9144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293815" y="3922776"/>
            <a:ext cx="320040" cy="320040"/>
          </a:xfrm>
          <a:prstGeom prst="roundRect">
            <a:avLst/>
          </a:prstGeom>
          <a:solidFill>
            <a:srgbClr val="FFFFFF"/>
          </a:solidFill>
          <a:ln w="25400">
            <a:solidFill>
              <a:srgbClr val="FF96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3815" y="3922776"/>
            <a:ext cx="320040" cy="320040"/>
          </a:xfrm>
          <a:prstGeom prst="rect">
            <a:avLst/>
          </a:prstGeom>
          <a:noFill/>
        </p:spPr>
        <p:txBody>
          <a:bodyPr wrap="square" anchor="ctr">
            <a:spAutoFit/>
          </a:bodyPr>
          <a:lstStyle/>
          <a:p>
            <a:pPr algn="ctr">
              <a:defRPr sz="1400" b="1">
                <a:solidFill>
                  <a:srgbClr val="FF961C"/>
                </a:solidFill>
                <a:latin typeface="Meiryo"/>
              </a:defRPr>
            </a:pPr>
            <a:r>
              <a:t>✓</a:t>
            </a:r>
          </a:p>
        </p:txBody>
      </p:sp>
      <p:sp>
        <p:nvSpPr>
          <p:cNvPr id="41" name="TextBox 40"/>
          <p:cNvSpPr txBox="1"/>
          <p:nvPr/>
        </p:nvSpPr>
        <p:spPr>
          <a:xfrm>
            <a:off x="6705295" y="3785616"/>
            <a:ext cx="4800600" cy="731520"/>
          </a:xfrm>
          <a:prstGeom prst="rect">
            <a:avLst/>
          </a:prstGeom>
          <a:noFill/>
        </p:spPr>
        <p:txBody>
          <a:bodyPr wrap="square">
            <a:spAutoFit/>
          </a:bodyPr>
          <a:lstStyle/>
          <a:p>
            <a:pPr algn="l">
              <a:defRPr sz="1100" b="0">
                <a:solidFill>
                  <a:srgbClr val="1A1A2E"/>
                </a:solidFill>
                <a:latin typeface="Meiryo"/>
              </a:defRPr>
            </a:pPr>
            <a:r>
              <a:t>【大学・研究機関】2026年度予算でAI 研究センターを新設。PhD 人材の『国内定着インセンティブ』として『年間給与+研究費パッケージ』を設計し、米国流出を年間100人以下に抑止。責任者：文科省高等教育局 AI 研究推進室（期限：2026年4月1日）</a:t>
            </a:r>
          </a:p>
        </p:txBody>
      </p:sp>
      <p:sp>
        <p:nvSpPr>
          <p:cNvPr id="42" name="Rounded Rectangle 41"/>
          <p:cNvSpPr/>
          <p:nvPr/>
        </p:nvSpPr>
        <p:spPr>
          <a:xfrm>
            <a:off x="6156655" y="4718304"/>
            <a:ext cx="5486400" cy="9144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293815" y="4946904"/>
            <a:ext cx="320040" cy="320040"/>
          </a:xfrm>
          <a:prstGeom prst="roundRect">
            <a:avLst/>
          </a:prstGeom>
          <a:solidFill>
            <a:srgbClr val="FFFFFF"/>
          </a:solidFill>
          <a:ln w="25400">
            <a:solidFill>
              <a:srgbClr val="FF96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815" y="4946904"/>
            <a:ext cx="320040" cy="320040"/>
          </a:xfrm>
          <a:prstGeom prst="rect">
            <a:avLst/>
          </a:prstGeom>
          <a:noFill/>
        </p:spPr>
        <p:txBody>
          <a:bodyPr wrap="square" anchor="ctr">
            <a:spAutoFit/>
          </a:bodyPr>
          <a:lstStyle/>
          <a:p>
            <a:pPr algn="ctr">
              <a:defRPr sz="1400" b="1">
                <a:solidFill>
                  <a:srgbClr val="FF961C"/>
                </a:solidFill>
                <a:latin typeface="Meiryo"/>
              </a:defRPr>
            </a:pPr>
            <a:r>
              <a:t>✓</a:t>
            </a:r>
          </a:p>
        </p:txBody>
      </p:sp>
      <p:sp>
        <p:nvSpPr>
          <p:cNvPr id="45" name="TextBox 44"/>
          <p:cNvSpPr txBox="1"/>
          <p:nvPr/>
        </p:nvSpPr>
        <p:spPr>
          <a:xfrm>
            <a:off x="6705295" y="4809744"/>
            <a:ext cx="4800600" cy="731520"/>
          </a:xfrm>
          <a:prstGeom prst="rect">
            <a:avLst/>
          </a:prstGeom>
          <a:noFill/>
        </p:spPr>
        <p:txBody>
          <a:bodyPr wrap="square">
            <a:spAutoFit/>
          </a:bodyPr>
          <a:lstStyle/>
          <a:p>
            <a:pPr algn="l">
              <a:defRPr sz="1100" b="0">
                <a:solidFill>
                  <a:srgbClr val="1A1A2E"/>
                </a:solidFill>
                <a:latin typeface="Meiryo"/>
              </a:defRPr>
            </a:pPr>
            <a:r>
              <a:t>【IT企業（NTT・富士通・日立）】2026年度内に『国産LLM の商用化』を加速。Preferred Networks との『戦略的提携』または『合弁会社』を設立し、『企業向けAI プラットフォーム』の独立展開。責任者：各企業の AI 戦略推進部門（期限：2026年12月31日...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AI業界標準規格 / プロトコル一覧</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9</a:t>
            </a:r>
          </a:p>
        </p:txBody>
      </p:sp>
      <p:graphicFrame>
        <p:nvGraphicFramePr>
          <p:cNvPr id="6" name="Table 5"/>
          <p:cNvGraphicFramePr>
            <a:graphicFrameLocks noGrp="1"/>
          </p:cNvGraphicFramePr>
          <p:nvPr/>
        </p:nvGraphicFramePr>
        <p:xfrm>
          <a:off x="548640" y="960120"/>
          <a:ext cx="11094415" cy="4754880"/>
        </p:xfrm>
        <a:graphic>
          <a:graphicData uri="http://schemas.openxmlformats.org/drawingml/2006/table">
            <a:tbl>
              <a:tblPr firstRow="1" bandRow="1">
                <a:tableStyleId>{5C22544A-7EE6-4342-B048-85BDC9FD1C3A}</a:tableStyleId>
              </a:tblPr>
              <a:tblGrid>
                <a:gridCol w="1463040"/>
                <a:gridCol w="1645920"/>
                <a:gridCol w="1371600"/>
                <a:gridCol w="914400"/>
                <a:gridCol w="5699455"/>
              </a:tblGrid>
              <a:tr h="594360">
                <a:tc>
                  <a:txBody>
                    <a:bodyPr/>
                    <a:lstStyle/>
                    <a:p>
                      <a:pPr algn="ctr">
                        <a:defRPr sz="1100" b="1">
                          <a:solidFill>
                            <a:srgbClr val="FFFFFF"/>
                          </a:solidFill>
                          <a:latin typeface="Meiryo"/>
                        </a:defRPr>
                      </a:pPr>
                      <a:r>
                        <a:t>規格名</a:t>
                      </a:r>
                    </a:p>
                  </a:txBody>
                  <a:tcPr>
                    <a:solidFill>
                      <a:srgbClr val="005BAB"/>
                    </a:solidFill>
                  </a:tcPr>
                </a:tc>
                <a:tc>
                  <a:txBody>
                    <a:bodyPr/>
                    <a:lstStyle/>
                    <a:p>
                      <a:pPr algn="ctr">
                        <a:defRPr sz="1100" b="1">
                          <a:solidFill>
                            <a:srgbClr val="FFFFFF"/>
                          </a:solidFill>
                          <a:latin typeface="Meiryo"/>
                        </a:defRPr>
                      </a:pPr>
                      <a:r>
                        <a:t>発表元</a:t>
                      </a:r>
                    </a:p>
                  </a:txBody>
                  <a:tcPr>
                    <a:solidFill>
                      <a:srgbClr val="005BAB"/>
                    </a:solidFill>
                  </a:tcPr>
                </a:tc>
                <a:tc>
                  <a:txBody>
                    <a:bodyPr/>
                    <a:lstStyle/>
                    <a:p>
                      <a:pPr algn="ctr">
                        <a:defRPr sz="1100" b="1">
                          <a:solidFill>
                            <a:srgbClr val="FFFFFF"/>
                          </a:solidFill>
                          <a:latin typeface="Meiryo"/>
                        </a:defRPr>
                      </a:pPr>
                      <a:r>
                        <a:t>レイヤー</a:t>
                      </a:r>
                    </a:p>
                  </a:txBody>
                  <a:tcPr>
                    <a:solidFill>
                      <a:srgbClr val="005BAB"/>
                    </a:solidFill>
                  </a:tcPr>
                </a:tc>
                <a:tc>
                  <a:txBody>
                    <a:bodyPr/>
                    <a:lstStyle/>
                    <a:p>
                      <a:pPr algn="ctr">
                        <a:defRPr sz="1100" b="1">
                          <a:solidFill>
                            <a:srgbClr val="FFFFFF"/>
                          </a:solidFill>
                          <a:latin typeface="Meiryo"/>
                        </a:defRPr>
                      </a:pPr>
                      <a:r>
                        <a:t>発表日</a:t>
                      </a:r>
                    </a:p>
                  </a:txBody>
                  <a:tcPr>
                    <a:solidFill>
                      <a:srgbClr val="005BAB"/>
                    </a:solidFill>
                  </a:tcPr>
                </a:tc>
                <a:tc>
                  <a:txBody>
                    <a:bodyPr/>
                    <a:lstStyle/>
                    <a:p>
                      <a:pPr algn="ctr">
                        <a:defRPr sz="1100" b="1">
                          <a:solidFill>
                            <a:srgbClr val="FFFFFF"/>
                          </a:solidFill>
                          <a:latin typeface="Meiryo"/>
                        </a:defRPr>
                      </a:pPr>
                      <a:r>
                        <a:t>概要</a:t>
                      </a:r>
                    </a:p>
                  </a:txBody>
                  <a:tcPr>
                    <a:solidFill>
                      <a:srgbClr val="005BAB"/>
                    </a:solidFill>
                  </a:tcPr>
                </a:tc>
              </a:tr>
              <a:tr h="594360">
                <a:tc>
                  <a:txBody>
                    <a:bodyPr/>
                    <a:lstStyle/>
                    <a:p>
                      <a:pPr>
                        <a:defRPr sz="1000" b="1">
                          <a:solidFill>
                            <a:srgbClr val="005BAB"/>
                          </a:solidFill>
                          <a:latin typeface="Meiryo"/>
                        </a:defRPr>
                      </a:pPr>
                      <a:r>
                        <a:t>UCP</a:t>
                      </a:r>
                    </a:p>
                  </a:txBody>
                  <a:tcPr>
                    <a:solidFill>
                      <a:srgbClr val="FFFFFF"/>
                    </a:solidFill>
                  </a:tcPr>
                </a:tc>
                <a:tc>
                  <a:txBody>
                    <a:bodyPr/>
                    <a:lstStyle/>
                    <a:p>
                      <a:pPr>
                        <a:defRPr sz="1000">
                          <a:solidFill>
                            <a:srgbClr val="1A1A2E"/>
                          </a:solidFill>
                          <a:latin typeface="Meiryo"/>
                        </a:defRPr>
                      </a:pPr>
                      <a:r>
                        <a:t>Google</a:t>
                      </a:r>
                    </a:p>
                  </a:txBody>
                  <a:tcPr>
                    <a:solidFill>
                      <a:srgbClr val="FFFFFF"/>
                    </a:solidFill>
                  </a:tcPr>
                </a:tc>
                <a:tc>
                  <a:txBody>
                    <a:bodyPr/>
                    <a:lstStyle/>
                    <a:p>
                      <a:pPr algn="ctr">
                        <a:defRPr sz="1000" b="1">
                          <a:solidFill>
                            <a:srgbClr val="5BA4D9"/>
                          </a:solidFill>
                          <a:latin typeface="Meiryo"/>
                        </a:defRPr>
                      </a:pPr>
                      <a:r>
                        <a:t>Commerce</a:t>
                      </a:r>
                    </a:p>
                  </a:txBody>
                  <a:tcPr>
                    <a:solidFill>
                      <a:srgbClr val="FFFFFF"/>
                    </a:solidFill>
                  </a:tcPr>
                </a:tc>
                <a:tc>
                  <a:txBody>
                    <a:bodyPr/>
                    <a:lstStyle/>
                    <a:p>
                      <a:pPr algn="ctr">
                        <a:defRPr sz="1000">
                          <a:solidFill>
                            <a:srgbClr val="6C757D"/>
                          </a:solidFill>
                          <a:latin typeface="Meiryo"/>
                        </a:defRPr>
                      </a:pPr>
                      <a:r>
                        <a:t>2026-01</a:t>
                      </a:r>
                    </a:p>
                  </a:txBody>
                  <a:tcPr>
                    <a:solidFill>
                      <a:srgbClr val="FFFFFF"/>
                    </a:solidFill>
                  </a:tcPr>
                </a:tc>
                <a:tc>
                  <a:txBody>
                    <a:bodyPr/>
                    <a:lstStyle/>
                    <a:p>
                      <a:pPr>
                        <a:defRPr sz="1000">
                          <a:solidFill>
                            <a:srgbClr val="1A1A2E"/>
                          </a:solidFill>
                          <a:latin typeface="Meiryo"/>
                        </a:defRPr>
                      </a:pPr>
                      <a:r>
                        <a:t>AIエージェント経由の商取引を標準化。A2A・MCP・AP2を統合オーケストレーションする上位プロトコル。Shopify・Walmart等が支持。</a:t>
                      </a:r>
                    </a:p>
                  </a:txBody>
                  <a:tcPr>
                    <a:solidFill>
                      <a:srgbClr val="FFFFFF"/>
                    </a:solidFill>
                  </a:tcPr>
                </a:tc>
              </a:tr>
              <a:tr h="594360">
                <a:tc>
                  <a:txBody>
                    <a:bodyPr/>
                    <a:lstStyle/>
                    <a:p>
                      <a:pPr>
                        <a:defRPr sz="1000" b="1">
                          <a:solidFill>
                            <a:srgbClr val="005BAB"/>
                          </a:solidFill>
                          <a:latin typeface="Meiryo"/>
                        </a:defRPr>
                      </a:pPr>
                      <a:r>
                        <a:t>Agent Skills</a:t>
                      </a:r>
                    </a:p>
                  </a:txBody>
                  <a:tcPr>
                    <a:solidFill>
                      <a:srgbClr val="E8F1F8"/>
                    </a:solidFill>
                  </a:tcPr>
                </a:tc>
                <a:tc>
                  <a:txBody>
                    <a:bodyPr/>
                    <a:lstStyle/>
                    <a:p>
                      <a:pPr>
                        <a:defRPr sz="1000">
                          <a:solidFill>
                            <a:srgbClr val="1A1A2E"/>
                          </a:solidFill>
                          <a:latin typeface="Meiryo"/>
                        </a:defRPr>
                      </a:pPr>
                      <a:r>
                        <a:t>Anthropic</a:t>
                      </a:r>
                    </a:p>
                  </a:txBody>
                  <a:tcPr>
                    <a:solidFill>
                      <a:srgbClr val="E8F1F8"/>
                    </a:solidFill>
                  </a:tcPr>
                </a:tc>
                <a:tc>
                  <a:txBody>
                    <a:bodyPr/>
                    <a:lstStyle/>
                    <a:p>
                      <a:pPr algn="ctr">
                        <a:defRPr sz="1000" b="1">
                          <a:solidFill>
                            <a:srgbClr val="5BA4D9"/>
                          </a:solidFill>
                          <a:latin typeface="Meiryo"/>
                        </a:defRPr>
                      </a:pPr>
                      <a:r>
                        <a:t>Agent Capability</a:t>
                      </a:r>
                    </a:p>
                  </a:txBody>
                  <a:tcPr>
                    <a:solidFill>
                      <a:srgbClr val="E8F1F8"/>
                    </a:solidFill>
                  </a:tcPr>
                </a:tc>
                <a:tc>
                  <a:txBody>
                    <a:bodyPr/>
                    <a:lstStyle/>
                    <a:p>
                      <a:pPr algn="ctr">
                        <a:defRPr sz="1000">
                          <a:solidFill>
                            <a:srgbClr val="6C757D"/>
                          </a:solidFill>
                          <a:latin typeface="Meiryo"/>
                        </a:defRPr>
                      </a:pPr>
                      <a:r>
                        <a:t>2025-12</a:t>
                      </a:r>
                    </a:p>
                  </a:txBody>
                  <a:tcPr>
                    <a:solidFill>
                      <a:srgbClr val="E8F1F8"/>
                    </a:solidFill>
                  </a:tcPr>
                </a:tc>
                <a:tc>
                  <a:txBody>
                    <a:bodyPr/>
                    <a:lstStyle/>
                    <a:p>
                      <a:pPr>
                        <a:defRPr sz="1000">
                          <a:solidFill>
                            <a:srgbClr val="1A1A2E"/>
                          </a:solidFill>
                          <a:latin typeface="Meiryo"/>
                        </a:defRPr>
                      </a:pPr>
                      <a:r>
                        <a:t>AIエージェントに再現可能なワークフローを教えるオープン標準。SKILL.mdベースのプログレッシブ・ディスクロージャー方式。Microsoft・OpenAI等が採用。</a:t>
                      </a:r>
                    </a:p>
                  </a:txBody>
                  <a:tcPr>
                    <a:solidFill>
                      <a:srgbClr val="E8F1F8"/>
                    </a:solidFill>
                  </a:tcPr>
                </a:tc>
              </a:tr>
              <a:tr h="594360">
                <a:tc>
                  <a:txBody>
                    <a:bodyPr/>
                    <a:lstStyle/>
                    <a:p>
                      <a:pPr>
                        <a:defRPr sz="1000" b="1">
                          <a:solidFill>
                            <a:srgbClr val="005BAB"/>
                          </a:solidFill>
                          <a:latin typeface="Meiryo"/>
                        </a:defRPr>
                      </a:pPr>
                      <a:r>
                        <a:t>ANP</a:t>
                      </a:r>
                    </a:p>
                  </a:txBody>
                  <a:tcPr>
                    <a:solidFill>
                      <a:srgbClr val="FFFFFF"/>
                    </a:solidFill>
                  </a:tcPr>
                </a:tc>
                <a:tc>
                  <a:txBody>
                    <a:bodyPr/>
                    <a:lstStyle/>
                    <a:p>
                      <a:pPr>
                        <a:defRPr sz="1000">
                          <a:solidFill>
                            <a:srgbClr val="1A1A2E"/>
                          </a:solidFill>
                          <a:latin typeface="Meiryo"/>
                        </a:defRPr>
                      </a:pPr>
                      <a:r>
                        <a:t>ANP Community (中国移動/Huawei等)</a:t>
                      </a:r>
                    </a:p>
                  </a:txBody>
                  <a:tcPr>
                    <a:solidFill>
                      <a:srgbClr val="FFFFFF"/>
                    </a:solidFill>
                  </a:tcPr>
                </a:tc>
                <a:tc>
                  <a:txBody>
                    <a:bodyPr/>
                    <a:lstStyle/>
                    <a:p>
                      <a:pPr algn="ctr">
                        <a:defRPr sz="1000" b="1">
                          <a:solidFill>
                            <a:srgbClr val="5BA4D9"/>
                          </a:solidFill>
                          <a:latin typeface="Meiryo"/>
                        </a:defRPr>
                      </a:pPr>
                      <a:r>
                        <a:t>Network Discovery</a:t>
                      </a:r>
                    </a:p>
                  </a:txBody>
                  <a:tcPr>
                    <a:solidFill>
                      <a:srgbClr val="FFFFFF"/>
                    </a:solidFill>
                  </a:tcPr>
                </a:tc>
                <a:tc>
                  <a:txBody>
                    <a:bodyPr/>
                    <a:lstStyle/>
                    <a:p>
                      <a:pPr algn="ctr">
                        <a:defRPr sz="1000">
                          <a:solidFill>
                            <a:srgbClr val="6C757D"/>
                          </a:solidFill>
                          <a:latin typeface="Meiryo"/>
                        </a:defRPr>
                      </a:pPr>
                      <a:r>
                        <a:t>2025-10</a:t>
                      </a:r>
                    </a:p>
                  </a:txBody>
                  <a:tcPr>
                    <a:solidFill>
                      <a:srgbClr val="FFFFFF"/>
                    </a:solidFill>
                  </a:tcPr>
                </a:tc>
                <a:tc>
                  <a:txBody>
                    <a:bodyPr/>
                    <a:lstStyle/>
                    <a:p>
                      <a:pPr>
                        <a:defRPr sz="1000">
                          <a:solidFill>
                            <a:srgbClr val="1A1A2E"/>
                          </a:solidFill>
                          <a:latin typeface="Meiryo"/>
                        </a:defRPr>
                      </a:pPr>
                      <a:r>
                        <a:t>数十億のエージェントのためのネットワークプロトコル。W3C DIDによるID認証、JSON-LDによる能力公開の3層アーキテクチャ。</a:t>
                      </a:r>
                    </a:p>
                  </a:txBody>
                  <a:tcPr>
                    <a:solidFill>
                      <a:srgbClr val="FFFFFF"/>
                    </a:solidFill>
                  </a:tcPr>
                </a:tc>
              </a:tr>
              <a:tr h="594360">
                <a:tc>
                  <a:txBody>
                    <a:bodyPr/>
                    <a:lstStyle/>
                    <a:p>
                      <a:pPr>
                        <a:defRPr sz="1000" b="1">
                          <a:solidFill>
                            <a:srgbClr val="005BAB"/>
                          </a:solidFill>
                          <a:latin typeface="Meiryo"/>
                        </a:defRPr>
                      </a:pPr>
                      <a:r>
                        <a:t>ACP</a:t>
                      </a:r>
                    </a:p>
                  </a:txBody>
                  <a:tcPr>
                    <a:solidFill>
                      <a:srgbClr val="E8F1F8"/>
                    </a:solidFill>
                  </a:tcPr>
                </a:tc>
                <a:tc>
                  <a:txBody>
                    <a:bodyPr/>
                    <a:lstStyle/>
                    <a:p>
                      <a:pPr>
                        <a:defRPr sz="1000">
                          <a:solidFill>
                            <a:srgbClr val="1A1A2E"/>
                          </a:solidFill>
                          <a:latin typeface="Meiryo"/>
                        </a:defRPr>
                      </a:pPr>
                      <a:r>
                        <a:t>OpenAI + Stripe</a:t>
                      </a:r>
                    </a:p>
                  </a:txBody>
                  <a:tcPr>
                    <a:solidFill>
                      <a:srgbClr val="E8F1F8"/>
                    </a:solidFill>
                  </a:tcPr>
                </a:tc>
                <a:tc>
                  <a:txBody>
                    <a:bodyPr/>
                    <a:lstStyle/>
                    <a:p>
                      <a:pPr algn="ctr">
                        <a:defRPr sz="1000" b="1">
                          <a:solidFill>
                            <a:srgbClr val="5BA4D9"/>
                          </a:solidFill>
                          <a:latin typeface="Meiryo"/>
                        </a:defRPr>
                      </a:pPr>
                      <a:r>
                        <a:t>Commerce</a:t>
                      </a:r>
                    </a:p>
                  </a:txBody>
                  <a:tcPr>
                    <a:solidFill>
                      <a:srgbClr val="E8F1F8"/>
                    </a:solidFill>
                  </a:tcPr>
                </a:tc>
                <a:tc>
                  <a:txBody>
                    <a:bodyPr/>
                    <a:lstStyle/>
                    <a:p>
                      <a:pPr algn="ctr">
                        <a:defRPr sz="1000">
                          <a:solidFill>
                            <a:srgbClr val="6C757D"/>
                          </a:solidFill>
                          <a:latin typeface="Meiryo"/>
                        </a:defRPr>
                      </a:pPr>
                      <a:r>
                        <a:t>2025-09</a:t>
                      </a:r>
                    </a:p>
                  </a:txBody>
                  <a:tcPr>
                    <a:solidFill>
                      <a:srgbClr val="E8F1F8"/>
                    </a:solidFill>
                  </a:tcPr>
                </a:tc>
                <a:tc>
                  <a:txBody>
                    <a:bodyPr/>
                    <a:lstStyle/>
                    <a:p>
                      <a:pPr>
                        <a:defRPr sz="1000">
                          <a:solidFill>
                            <a:srgbClr val="1A1A2E"/>
                          </a:solidFill>
                          <a:latin typeface="Meiryo"/>
                        </a:defRPr>
                      </a:pPr>
                      <a:r>
                        <a:t>AIエージェント経由の商取引フローを実現するオープン標準。物理/デジタル商品、サブスクリプション対応。ChatGPTで実装済み。</a:t>
                      </a:r>
                    </a:p>
                  </a:txBody>
                  <a:tcPr>
                    <a:solidFill>
                      <a:srgbClr val="E8F1F8"/>
                    </a:solidFill>
                  </a:tcPr>
                </a:tc>
              </a:tr>
              <a:tr h="594360">
                <a:tc>
                  <a:txBody>
                    <a:bodyPr/>
                    <a:lstStyle/>
                    <a:p>
                      <a:pPr>
                        <a:defRPr sz="1000" b="1">
                          <a:solidFill>
                            <a:srgbClr val="005BAB"/>
                          </a:solidFill>
                          <a:latin typeface="Meiryo"/>
                        </a:defRPr>
                      </a:pPr>
                      <a:r>
                        <a:t>AGENTS.md</a:t>
                      </a:r>
                    </a:p>
                  </a:txBody>
                  <a:tcPr>
                    <a:solidFill>
                      <a:srgbClr val="FFFFFF"/>
                    </a:solidFill>
                  </a:tcPr>
                </a:tc>
                <a:tc>
                  <a:txBody>
                    <a:bodyPr/>
                    <a:lstStyle/>
                    <a:p>
                      <a:pPr>
                        <a:defRPr sz="1000">
                          <a:solidFill>
                            <a:srgbClr val="1A1A2E"/>
                          </a:solidFill>
                          <a:latin typeface="Meiryo"/>
                        </a:defRPr>
                      </a:pPr>
                      <a:r>
                        <a:t>OpenAI</a:t>
                      </a:r>
                    </a:p>
                  </a:txBody>
                  <a:tcPr>
                    <a:solidFill>
                      <a:srgbClr val="FFFFFF"/>
                    </a:solidFill>
                  </a:tcPr>
                </a:tc>
                <a:tc>
                  <a:txBody>
                    <a:bodyPr/>
                    <a:lstStyle/>
                    <a:p>
                      <a:pPr algn="ctr">
                        <a:defRPr sz="1000" b="1">
                          <a:solidFill>
                            <a:srgbClr val="5BA4D9"/>
                          </a:solidFill>
                          <a:latin typeface="Meiryo"/>
                        </a:defRPr>
                      </a:pPr>
                      <a:r>
                        <a:t>Project Instruction</a:t>
                      </a:r>
                    </a:p>
                  </a:txBody>
                  <a:tcPr>
                    <a:solidFill>
                      <a:srgbClr val="FFFFFF"/>
                    </a:solidFill>
                  </a:tcPr>
                </a:tc>
                <a:tc>
                  <a:txBody>
                    <a:bodyPr/>
                    <a:lstStyle/>
                    <a:p>
                      <a:pPr algn="ctr">
                        <a:defRPr sz="1000">
                          <a:solidFill>
                            <a:srgbClr val="6C757D"/>
                          </a:solidFill>
                          <a:latin typeface="Meiryo"/>
                        </a:defRPr>
                      </a:pPr>
                      <a:r>
                        <a:t>2025-08</a:t>
                      </a:r>
                    </a:p>
                  </a:txBody>
                  <a:tcPr>
                    <a:solidFill>
                      <a:srgbClr val="FFFFFF"/>
                    </a:solidFill>
                  </a:tcPr>
                </a:tc>
                <a:tc>
                  <a:txBody>
                    <a:bodyPr/>
                    <a:lstStyle/>
                    <a:p>
                      <a:pPr>
                        <a:defRPr sz="1000">
                          <a:solidFill>
                            <a:srgbClr val="1A1A2E"/>
                          </a:solidFill>
                          <a:latin typeface="Meiryo"/>
                        </a:defRPr>
                      </a:pPr>
                      <a:r>
                        <a:t>AIコーディングエージェントにプロジェクト固有のガイダンスを提供するMarkdownベース規約。Copilot・Cursor・Gemini CLI等が対応。</a:t>
                      </a:r>
                    </a:p>
                  </a:txBody>
                  <a:tcPr>
                    <a:solidFill>
                      <a:srgbClr val="FFFFFF"/>
                    </a:solidFill>
                  </a:tcPr>
                </a:tc>
              </a:tr>
              <a:tr h="594360">
                <a:tc>
                  <a:txBody>
                    <a:bodyPr/>
                    <a:lstStyle/>
                    <a:p>
                      <a:pPr>
                        <a:defRPr sz="1000" b="1">
                          <a:solidFill>
                            <a:srgbClr val="005BAB"/>
                          </a:solidFill>
                          <a:latin typeface="Meiryo"/>
                        </a:defRPr>
                      </a:pPr>
                      <a:r>
                        <a:t>A2A</a:t>
                      </a:r>
                    </a:p>
                  </a:txBody>
                  <a:tcPr>
                    <a:solidFill>
                      <a:srgbClr val="E8F1F8"/>
                    </a:solidFill>
                  </a:tcPr>
                </a:tc>
                <a:tc>
                  <a:txBody>
                    <a:bodyPr/>
                    <a:lstStyle/>
                    <a:p>
                      <a:pPr>
                        <a:defRPr sz="1000">
                          <a:solidFill>
                            <a:srgbClr val="1A1A2E"/>
                          </a:solidFill>
                          <a:latin typeface="Meiryo"/>
                        </a:defRPr>
                      </a:pPr>
                      <a:r>
                        <a:t>Google Cloud</a:t>
                      </a:r>
                    </a:p>
                  </a:txBody>
                  <a:tcPr>
                    <a:solidFill>
                      <a:srgbClr val="E8F1F8"/>
                    </a:solidFill>
                  </a:tcPr>
                </a:tc>
                <a:tc>
                  <a:txBody>
                    <a:bodyPr/>
                    <a:lstStyle/>
                    <a:p>
                      <a:pPr algn="ctr">
                        <a:defRPr sz="1000" b="1">
                          <a:solidFill>
                            <a:srgbClr val="5BA4D9"/>
                          </a:solidFill>
                          <a:latin typeface="Meiryo"/>
                        </a:defRPr>
                      </a:pPr>
                      <a:r>
                        <a:t>Agent-Agent</a:t>
                      </a:r>
                    </a:p>
                  </a:txBody>
                  <a:tcPr>
                    <a:solidFill>
                      <a:srgbClr val="E8F1F8"/>
                    </a:solidFill>
                  </a:tcPr>
                </a:tc>
                <a:tc>
                  <a:txBody>
                    <a:bodyPr/>
                    <a:lstStyle/>
                    <a:p>
                      <a:pPr algn="ctr">
                        <a:defRPr sz="1000">
                          <a:solidFill>
                            <a:srgbClr val="6C757D"/>
                          </a:solidFill>
                          <a:latin typeface="Meiryo"/>
                        </a:defRPr>
                      </a:pPr>
                      <a:r>
                        <a:t>2025-04</a:t>
                      </a:r>
                    </a:p>
                  </a:txBody>
                  <a:tcPr>
                    <a:solidFill>
                      <a:srgbClr val="E8F1F8"/>
                    </a:solidFill>
                  </a:tcPr>
                </a:tc>
                <a:tc>
                  <a:txBody>
                    <a:bodyPr/>
                    <a:lstStyle/>
                    <a:p>
                      <a:pPr>
                        <a:defRPr sz="1000">
                          <a:solidFill>
                            <a:srgbClr val="1A1A2E"/>
                          </a:solidFill>
                          <a:latin typeface="Meiryo"/>
                        </a:defRPr>
                      </a:pPr>
                      <a:r>
                        <a:t>異なるプラットフォーム・ベンダー間でAIエージェント同士が通信・協働するオープンプロトコル。MCPの補完的位置づけ。</a:t>
                      </a:r>
                    </a:p>
                  </a:txBody>
                  <a:tcPr>
                    <a:solidFill>
                      <a:srgbClr val="E8F1F8"/>
                    </a:solidFill>
                  </a:tcPr>
                </a:tc>
              </a:tr>
              <a:tr h="594360">
                <a:tc>
                  <a:txBody>
                    <a:bodyPr/>
                    <a:lstStyle/>
                    <a:p>
                      <a:pPr>
                        <a:defRPr sz="1000" b="1">
                          <a:solidFill>
                            <a:srgbClr val="005BAB"/>
                          </a:solidFill>
                          <a:latin typeface="Meiryo"/>
                        </a:defRPr>
                      </a:pPr>
                      <a:r>
                        <a:t>MCP</a:t>
                      </a:r>
                    </a:p>
                  </a:txBody>
                  <a:tcPr>
                    <a:solidFill>
                      <a:srgbClr val="FFFFFF"/>
                    </a:solidFill>
                  </a:tcPr>
                </a:tc>
                <a:tc>
                  <a:txBody>
                    <a:bodyPr/>
                    <a:lstStyle/>
                    <a:p>
                      <a:pPr>
                        <a:defRPr sz="1000">
                          <a:solidFill>
                            <a:srgbClr val="1A1A2E"/>
                          </a:solidFill>
                          <a:latin typeface="Meiryo"/>
                        </a:defRPr>
                      </a:pPr>
                      <a:r>
                        <a:t>Anthropic</a:t>
                      </a:r>
                    </a:p>
                  </a:txBody>
                  <a:tcPr>
                    <a:solidFill>
                      <a:srgbClr val="FFFFFF"/>
                    </a:solidFill>
                  </a:tcPr>
                </a:tc>
                <a:tc>
                  <a:txBody>
                    <a:bodyPr/>
                    <a:lstStyle/>
                    <a:p>
                      <a:pPr algn="ctr">
                        <a:defRPr sz="1000" b="1">
                          <a:solidFill>
                            <a:srgbClr val="5BA4D9"/>
                          </a:solidFill>
                          <a:latin typeface="Meiryo"/>
                        </a:defRPr>
                      </a:pPr>
                      <a:r>
                        <a:t>Agent-Tool</a:t>
                      </a:r>
                    </a:p>
                  </a:txBody>
                  <a:tcPr>
                    <a:solidFill>
                      <a:srgbClr val="FFFFFF"/>
                    </a:solidFill>
                  </a:tcPr>
                </a:tc>
                <a:tc>
                  <a:txBody>
                    <a:bodyPr/>
                    <a:lstStyle/>
                    <a:p>
                      <a:pPr algn="ctr">
                        <a:defRPr sz="1000">
                          <a:solidFill>
                            <a:srgbClr val="6C757D"/>
                          </a:solidFill>
                          <a:latin typeface="Meiryo"/>
                        </a:defRPr>
                      </a:pPr>
                      <a:r>
                        <a:t>2024-11</a:t>
                      </a:r>
                    </a:p>
                  </a:txBody>
                  <a:tcPr>
                    <a:solidFill>
                      <a:srgbClr val="FFFFFF"/>
                    </a:solidFill>
                  </a:tcPr>
                </a:tc>
                <a:tc>
                  <a:txBody>
                    <a:bodyPr/>
                    <a:lstStyle/>
                    <a:p>
                      <a:pPr>
                        <a:defRPr sz="1000">
                          <a:solidFill>
                            <a:srgbClr val="1A1A2E"/>
                          </a:solidFill>
                          <a:latin typeface="Meiryo"/>
                        </a:defRPr>
                      </a:pPr>
                      <a:r>
                        <a:t>AIモデルを外部データソース・ツールに接続するオープン標準。10,000以上のMCPサーバーが公開済み。OpenAI・Google・Microsoft等が採用。</a:t>
                      </a:r>
                    </a:p>
                  </a:txBody>
                  <a:tcPr>
                    <a:solidFill>
                      <a:srgbClr val="FFFFFF"/>
                    </a:solidFill>
                  </a:tcPr>
                </a:tc>
              </a:tr>
            </a:tbl>
          </a:graphicData>
        </a:graphic>
      </p:graphicFrame>
      <p:sp>
        <p:nvSpPr>
          <p:cNvPr id="7" name="TextBox 6"/>
          <p:cNvSpPr txBox="1"/>
          <p:nvPr/>
        </p:nvSpPr>
        <p:spPr>
          <a:xfrm>
            <a:off x="548640" y="5897880"/>
            <a:ext cx="11094415" cy="274320"/>
          </a:xfrm>
          <a:prstGeom prst="rect">
            <a:avLst/>
          </a:prstGeom>
          <a:noFill/>
        </p:spPr>
        <p:txBody>
          <a:bodyPr wrap="square">
            <a:spAutoFit/>
          </a:bodyPr>
          <a:lstStyle/>
          <a:p>
            <a:pPr algn="l">
              <a:defRPr sz="900" b="0">
                <a:solidFill>
                  <a:srgbClr val="6C757D"/>
                </a:solidFill>
                <a:latin typeface="Meiryo"/>
              </a:defRPr>
            </a:pPr>
            <a:r>
              <a:t>※ キャッチアップ時に自動更新  |  各公式サイトで最新情報をご確認ください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Data Dashboard</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10</a:t>
            </a:r>
          </a:p>
        </p:txBody>
      </p:sp>
      <p:sp>
        <p:nvSpPr>
          <p:cNvPr id="6" name="Rectangle 5"/>
          <p:cNvSpPr/>
          <p:nvPr/>
        </p:nvSpPr>
        <p:spPr>
          <a:xfrm>
            <a:off x="594360" y="100584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ny_importance.png"/>
          <p:cNvPicPr>
            <a:picLocks noChangeAspect="1"/>
          </p:cNvPicPr>
          <p:nvPr/>
        </p:nvPicPr>
        <p:blipFill>
          <a:blip r:embed="rId2"/>
          <a:stretch>
            <a:fillRect/>
          </a:stretch>
        </p:blipFill>
        <p:spPr>
          <a:xfrm>
            <a:off x="640080" y="1051560"/>
            <a:ext cx="5303520" cy="2468880"/>
          </a:xfrm>
          <a:prstGeom prst="rect">
            <a:avLst/>
          </a:prstGeom>
        </p:spPr>
      </p:pic>
      <p:sp>
        <p:nvSpPr>
          <p:cNvPr id="8" name="Rectangle 7"/>
          <p:cNvSpPr/>
          <p:nvPr/>
        </p:nvSpPr>
        <p:spPr>
          <a:xfrm>
            <a:off x="6355080" y="100584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atmap.png"/>
          <p:cNvPicPr>
            <a:picLocks noChangeAspect="1"/>
          </p:cNvPicPr>
          <p:nvPr/>
        </p:nvPicPr>
        <p:blipFill>
          <a:blip r:embed="rId3"/>
          <a:stretch>
            <a:fillRect/>
          </a:stretch>
        </p:blipFill>
        <p:spPr>
          <a:xfrm>
            <a:off x="6400800" y="1051560"/>
            <a:ext cx="5303520" cy="2468880"/>
          </a:xfrm>
          <a:prstGeom prst="rect">
            <a:avLst/>
          </a:prstGeom>
        </p:spPr>
      </p:pic>
      <p:sp>
        <p:nvSpPr>
          <p:cNvPr id="10" name="Rectangle 9"/>
          <p:cNvSpPr/>
          <p:nvPr/>
        </p:nvSpPr>
        <p:spPr>
          <a:xfrm>
            <a:off x="594360" y="365760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portance_donut.png"/>
          <p:cNvPicPr>
            <a:picLocks noChangeAspect="1"/>
          </p:cNvPicPr>
          <p:nvPr/>
        </p:nvPicPr>
        <p:blipFill>
          <a:blip r:embed="rId4"/>
          <a:stretch>
            <a:fillRect/>
          </a:stretch>
        </p:blipFill>
        <p:spPr>
          <a:xfrm>
            <a:off x="640080" y="3703320"/>
            <a:ext cx="5303520" cy="2468880"/>
          </a:xfrm>
          <a:prstGeom prst="rect">
            <a:avLst/>
          </a:prstGeom>
        </p:spPr>
      </p:pic>
      <p:sp>
        <p:nvSpPr>
          <p:cNvPr id="12" name="Rectangle 11"/>
          <p:cNvSpPr/>
          <p:nvPr/>
        </p:nvSpPr>
        <p:spPr>
          <a:xfrm>
            <a:off x="6355080" y="365760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news_landscape.png"/>
          <p:cNvPicPr>
            <a:picLocks noChangeAspect="1"/>
          </p:cNvPicPr>
          <p:nvPr/>
        </p:nvPicPr>
        <p:blipFill>
          <a:blip r:embed="rId5"/>
          <a:stretch>
            <a:fillRect/>
          </a:stretch>
        </p:blipFill>
        <p:spPr>
          <a:xfrm>
            <a:off x="6400800" y="3703320"/>
            <a:ext cx="5303520" cy="24688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Sources (引用元一覧)</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11</a:t>
            </a:r>
          </a:p>
        </p:txBody>
      </p:sp>
      <p:sp>
        <p:nvSpPr>
          <p:cNvPr id="6" name="TextBox 5"/>
          <p:cNvSpPr txBox="1"/>
          <p:nvPr/>
        </p:nvSpPr>
        <p:spPr>
          <a:xfrm>
            <a:off x="548640" y="960120"/>
            <a:ext cx="5303520" cy="5029200"/>
          </a:xfrm>
          <a:prstGeom prst="rect">
            <a:avLst/>
          </a:prstGeom>
          <a:noFill/>
        </p:spPr>
        <p:txBody>
          <a:bodyPr wrap="square">
            <a:spAutoFit/>
          </a:bodyPr>
          <a:lstStyle/>
          <a:p>
            <a:pPr algn="l">
              <a:defRPr sz="1100" b="0">
                <a:solidFill>
                  <a:srgbClr val="1A1A2E"/>
                </a:solidFill>
                <a:latin typeface="Meiryo"/>
              </a:defRPr>
            </a:pPr>
          </a:p>
          <a:p>
            <a:pPr>
              <a:spcBef>
                <a:spcPts val="300"/>
              </a:spcBef>
              <a:defRPr sz="1100" b="0">
                <a:solidFill>
                  <a:srgbClr val="6C757D"/>
                </a:solidFill>
                <a:latin typeface="Meiryo"/>
              </a:defRPr>
            </a:pPr>
            <a:r>
              <a:t>► TechCrunch: https://techcrunch.com/2026/02/11/xai-lays-out-interplanetary-ambitions-in-public-all-hands/</a:t>
            </a:r>
          </a:p>
          <a:p>
            <a:pPr>
              <a:spcBef>
                <a:spcPts val="300"/>
              </a:spcBef>
              <a:defRPr sz="1100" b="0">
                <a:solidFill>
                  <a:srgbClr val="6C757D"/>
                </a:solidFill>
                <a:latin typeface="Meiryo"/>
              </a:defRPr>
            </a:pPr>
            <a:r>
              <a:t>► CNBC: https://www.cnbc.com/2026/02/13/ai-startup-cohere-revenue-ipo.html</a:t>
            </a:r>
          </a:p>
          <a:p>
            <a:pPr>
              <a:spcBef>
                <a:spcPts val="300"/>
              </a:spcBef>
              <a:defRPr sz="1100" b="0">
                <a:solidFill>
                  <a:srgbClr val="6C757D"/>
                </a:solidFill>
                <a:latin typeface="Meiryo"/>
              </a:defRPr>
            </a:pPr>
            <a:r>
              <a:t>► Axios: https://www.axios.com/2026/02/12/ai-openai-agi-xai-doomsday-scenario</a:t>
            </a:r>
          </a:p>
        </p:txBody>
      </p:sp>
      <p:sp>
        <p:nvSpPr>
          <p:cNvPr id="7" name="TextBox 6"/>
          <p:cNvSpPr txBox="1"/>
          <p:nvPr/>
        </p:nvSpPr>
        <p:spPr>
          <a:xfrm>
            <a:off x="6156655" y="960120"/>
            <a:ext cx="5486400" cy="5029200"/>
          </a:xfrm>
          <a:prstGeom prst="rect">
            <a:avLst/>
          </a:prstGeom>
          <a:noFill/>
        </p:spPr>
        <p:txBody>
          <a:bodyPr wrap="square">
            <a:spAutoFit/>
          </a:bodyPr>
          <a:lstStyle/>
          <a:p>
            <a:pPr algn="l">
              <a:defRPr sz="1100" b="0">
                <a:solidFill>
                  <a:srgbClr val="1A1A2E"/>
                </a:solidFill>
                <a:latin typeface="Meiryo"/>
              </a:defRPr>
            </a:pPr>
          </a:p>
          <a:p>
            <a:pPr>
              <a:spcBef>
                <a:spcPts val="300"/>
              </a:spcBef>
              <a:defRPr sz="1100" b="0">
                <a:solidFill>
                  <a:srgbClr val="6C757D"/>
                </a:solidFill>
                <a:latin typeface="Meiryo"/>
              </a:defRPr>
            </a:pPr>
            <a:r>
              <a:t>► CNBC: https://www.cnbc.com/2026/02/06/google-microsoft-meta-amazon-ai-cash.html</a:t>
            </a:r>
          </a:p>
          <a:p>
            <a:pPr>
              <a:spcBef>
                <a:spcPts val="300"/>
              </a:spcBef>
              <a:defRPr sz="1100" b="0">
                <a:solidFill>
                  <a:srgbClr val="6C757D"/>
                </a:solidFill>
                <a:latin typeface="Meiryo"/>
              </a:defRPr>
            </a:pPr>
            <a:r>
              <a:t>► CNBC: https://www.cnbc.com/2026/02/13/anthropic-open-ai-super-bowl-ads.html</a:t>
            </a:r>
          </a:p>
          <a:p>
            <a:pPr>
              <a:spcBef>
                <a:spcPts val="300"/>
              </a:spcBef>
              <a:defRPr sz="1100" b="0">
                <a:solidFill>
                  <a:srgbClr val="6C757D"/>
                </a:solidFill>
                <a:latin typeface="Meiryo"/>
              </a:defRPr>
            </a:pPr>
            <a:r>
              <a:t>► CNBC: https://www.cnbc.com/2026/02/12/anthropic-gives-20-million-to-group-pushing-for-ai-regulations-.html</a:t>
            </a:r>
          </a:p>
        </p:txBody>
      </p:sp>
      <p:sp>
        <p:nvSpPr>
          <p:cNvPr id="8" name="TextBox 7"/>
          <p:cNvSpPr txBox="1"/>
          <p:nvPr/>
        </p:nvSpPr>
        <p:spPr>
          <a:xfrm>
            <a:off x="914400" y="6126480"/>
            <a:ext cx="10362895" cy="274320"/>
          </a:xfrm>
          <a:prstGeom prst="rect">
            <a:avLst/>
          </a:prstGeom>
          <a:noFill/>
        </p:spPr>
        <p:txBody>
          <a:bodyPr wrap="square">
            <a:spAutoFit/>
          </a:bodyPr>
          <a:lstStyle/>
          <a:p>
            <a:pPr algn="ctr">
              <a:defRPr sz="900" b="0">
                <a:solidFill>
                  <a:srgbClr val="6C757D"/>
                </a:solidFill>
                <a:latin typeface="Meiryo"/>
              </a:defRPr>
            </a:pPr>
            <a:r>
              <a:t>AI News Daily Deck - Generated by Claude Code | 本レポートは生成AIにより自動作成されており、一部ハルシネーションを含む可能性があります。元記事URLから一次情報をご確認ください。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