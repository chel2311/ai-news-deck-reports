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2026-04-10</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8</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8</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OpenAI</a:t>
            </a:r>
            <a:r>
              <a:rPr sz="1400">
                <a:solidFill>
                  <a:srgbClr val="6C757D"/>
                </a:solidFill>
                <a:latin typeface="Meiryo"/>
              </a:rPr>
              <a:t> 3件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Anthropicの月間収益が300億ドルを超え、わずか2ヶ月で大規模顧客が500社から1000社超に倍増。これはクラウド企業の成長速度の限界を示唆し、独立したインフラ投資の必要性を浮き彫りにしている。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OpenAIが3.5GWのTPU契約とともに、GoogleやBroadcomとのハードウェア多様化戦略を推し進め、単一チップ依存のリスク回避とコスト最適化を図る動きが業界標準化の兆候を示している。</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中国AI企業（DeepSeek、Moonshot、MiniMax）による敵対的蒸留攻撃に対し、OpenAI・Anthropic・Googleが初めて情報共有の枠組みを整備し、地政学的なAI競争が本格化している。</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データセンター建設が電力制約により約50%遅延・キャンセルされ、AIインフラの拡張が電力網の物理的限界に直面。短期橋渡し融資やトークン化信用などの新しい資金調達モデルが急速に成長。</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OpenAIが四日労働週間・ロボット税・国民基金構想を提唱し、AI利益の社会分配を積極的に主張。政策領域でのAI企業の影響力が従来のロビー活動から直接的な政策設計へシフト。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Anthropic、GoogleとBroadcomと3.5GWのTPUコントラクトを締結——月間収益300億ドル超を発表</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Anthropic  |  Business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Anthropicは4月6日、Google・Broadcomとの複数ギガワット規模の次世代TPU供給契約を発表。同時に月間収益が300億ドルを超えたことを開示し、2025年末の90億ドルから約3倍の成長を達成。100万ドル以上を年間使用する企業顧客は、わずか2ヶ月で500社から1000社超へ倍増。新計約の大多数は米国内での配置となり、2025年11月の500億ドル米国AI基盤投資公約の拡張。GoogleクラウドTPU、AWS Trainium、NVIDIA GPUの複数プラットフォーム対応戦略に...</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エンタープライズAI採用の加速化により、2026年後半までに主要業種（金融・医療・製造）でのClaude統合が標準化される見込み。GoogleのTPU供給契約獲得により、NVIDIA GPU供給への過度な依存がAI市場全体で低下し、複数チッ</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Anthropicはこの投資により、2026年Q4までに月間収益500億ドル超の達成可能性が70%以上。2027年には顧客数が3000社超、平均契約額が250万ドル/年まで拡大予測。GoogleはこのTPU契約によってクラウド市場全体でのA</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計約額の詳細（総額や価格条件）が未開示であり、単価変動や遅延時の追加コスト条件が不透明。电力接続のボトルネック（現在、計画DC の50%が電力制約により遅延）によって、TPU配備スケジュールがスリップするリスク40%。Googleとの深い統</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3</a:t>
            </a:r>
          </a:p>
        </p:txBody>
      </p:sp>
      <p:graphicFrame>
        <p:nvGraphicFramePr>
          <p:cNvPr id="6" name="Table 5"/>
          <p:cNvGraphicFramePr>
            <a:graphicFrameLocks noGrp="1"/>
          </p:cNvGraphicFramePr>
          <p:nvPr/>
        </p:nvGraphicFramePr>
        <p:xfrm>
          <a:off x="548640" y="960120"/>
          <a:ext cx="11094415" cy="448055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Anthropic</a:t>
                      </a:r>
                    </a:p>
                  </a:txBody>
                  <a:tcPr>
                    <a:solidFill>
                      <a:srgbClr val="FFFFFF"/>
                    </a:solidFill>
                  </a:tcPr>
                </a:tc>
                <a:tc>
                  <a:txBody>
                    <a:bodyPr/>
                    <a:lstStyle/>
                    <a:p>
                      <a:pPr>
                        <a:defRPr sz="1100">
                          <a:solidFill>
                            <a:srgbClr val="1A1A2E"/>
                          </a:solidFill>
                          <a:latin typeface="Meiryo"/>
                        </a:defRPr>
                      </a:pPr>
                      <a:r>
                        <a:t>企業向けAIと防衛基盤</a:t>
                      </a:r>
                    </a:p>
                  </a:txBody>
                  <a:tcPr>
                    <a:solidFill>
                      <a:srgbClr val="FFFFFF"/>
                    </a:solidFill>
                  </a:tcPr>
                </a:tc>
                <a:tc>
                  <a:txBody>
                    <a:bodyPr/>
                    <a:lstStyle/>
                    <a:p>
                      <a:pPr>
                        <a:defRPr sz="1100">
                          <a:solidFill>
                            <a:srgbClr val="1A1A2E"/>
                          </a:solidFill>
                          <a:latin typeface="Meiryo"/>
                        </a:defRPr>
                      </a:pPr>
                      <a:r>
                        <a:t>月間収益300億ドル超を達成。1000社超の百万ドル級顧客。GoogleとBroadcomと3.5GWのTPU契約。Claude Mythosで脆弱性自動発見・防御基盤の構築。</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急速な顧客基盤拡張、ハードウェア多様化への先制対応、セキュリティ領域での技術リーダーシップ確立</a:t>
                      </a:r>
                    </a:p>
                  </a:txBody>
                  <a:tcPr>
                    <a:solidFill>
                      <a:srgbClr val="FFFFFF"/>
                    </a:solidFill>
                  </a:tcPr>
                </a:tc>
              </a:tr>
              <a:tr h="640079">
                <a:tc>
                  <a:txBody>
                    <a:bodyPr/>
                    <a:lstStyle/>
                    <a:p>
                      <a:pPr>
                        <a:defRPr sz="1100" b="1">
                          <a:solidFill>
                            <a:srgbClr val="1A1A2E"/>
                          </a:solidFill>
                          <a:latin typeface="Meiryo"/>
                        </a:defRPr>
                      </a:pPr>
                      <a:r>
                        <a:t>OpenAI</a:t>
                      </a:r>
                    </a:p>
                  </a:txBody>
                  <a:tcPr>
                    <a:solidFill>
                      <a:srgbClr val="E8F1F8"/>
                    </a:solidFill>
                  </a:tcPr>
                </a:tc>
                <a:tc>
                  <a:txBody>
                    <a:bodyPr/>
                    <a:lstStyle/>
                    <a:p>
                      <a:pPr>
                        <a:defRPr sz="1100">
                          <a:solidFill>
                            <a:srgbClr val="1A1A2E"/>
                          </a:solidFill>
                          <a:latin typeface="Meiryo"/>
                        </a:defRPr>
                      </a:pPr>
                      <a:r>
                        <a:t>汎用エージェント化と政策影響</a:t>
                      </a:r>
                    </a:p>
                  </a:txBody>
                  <a:tcPr>
                    <a:solidFill>
                      <a:srgbClr val="E8F1F8"/>
                    </a:solidFill>
                  </a:tcPr>
                </a:tc>
                <a:tc>
                  <a:txBody>
                    <a:bodyPr/>
                    <a:lstStyle/>
                    <a:p>
                      <a:pPr>
                        <a:defRPr sz="1100">
                          <a:solidFill>
                            <a:srgbClr val="1A1A2E"/>
                          </a:solidFill>
                          <a:latin typeface="Meiryo"/>
                        </a:defRPr>
                      </a:pPr>
                      <a:r>
                        <a:t>GPT-5.4にコンピュータ操作機能を搭載。CoreWeaveとの11.9B融資契約。政策提言『インテリジェンス時代の産業政策』で四日労働週間・ロボット税・国民基金を提唱。</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政策立案への影響力強化、大規模融資獲得、エージェント能力の急速拡張。一方で中国蒸留攻撃への対抗では協調姿勢へシフト</a:t>
                      </a:r>
                    </a:p>
                  </a:txBody>
                  <a:tcPr>
                    <a:solidFill>
                      <a:srgbClr val="E8F1F8"/>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ハードウェア生態系とインフラ統合</a:t>
                      </a:r>
                    </a:p>
                  </a:txBody>
                  <a:tcPr>
                    <a:solidFill>
                      <a:srgbClr val="FFFFFF"/>
                    </a:solidFill>
                  </a:tcPr>
                </a:tc>
                <a:tc>
                  <a:txBody>
                    <a:bodyPr/>
                    <a:lstStyle/>
                    <a:p>
                      <a:pPr>
                        <a:defRPr sz="1100">
                          <a:solidFill>
                            <a:srgbClr val="1A1A2E"/>
                          </a:solidFill>
                          <a:latin typeface="Meiryo"/>
                        </a:defRPr>
                      </a:pPr>
                      <a:r>
                        <a:t>Anthropic向けTPU3.5GW供給契約を確保。Gemini 3.1 Flash-Lite（低コスト・最速）とGemma 4（オープンソース）で市場層別対応。Broadcomとの協業によるTPU供給強化。</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クラウドプロバイダーとしてのポジション強化、TPUカスタムシリコン戦略の成功、エコシステム統合でNVIDIA依存低減</a:t>
                      </a:r>
                    </a:p>
                  </a:txBody>
                  <a:tcPr>
                    <a:solidFill>
                      <a:srgbClr val="FFFFFF"/>
                    </a:solidFill>
                  </a:tcPr>
                </a:tc>
              </a:tr>
              <a:tr h="640079">
                <a:tc>
                  <a:txBody>
                    <a:bodyPr/>
                    <a:lstStyle/>
                    <a:p>
                      <a:pPr>
                        <a:defRPr sz="1100" b="1">
                          <a:solidFill>
                            <a:srgbClr val="1A1A2E"/>
                          </a:solidFill>
                          <a:latin typeface="Meiryo"/>
                        </a:defRPr>
                      </a:pPr>
                      <a:r>
                        <a:t>Meta</a:t>
                      </a:r>
                    </a:p>
                  </a:txBody>
                  <a:tcPr>
                    <a:solidFill>
                      <a:srgbClr val="E8F1F8"/>
                    </a:solidFill>
                  </a:tcPr>
                </a:tc>
                <a:tc>
                  <a:txBody>
                    <a:bodyPr/>
                    <a:lstStyle/>
                    <a:p>
                      <a:pPr>
                        <a:defRPr sz="1100">
                          <a:solidFill>
                            <a:srgbClr val="1A1A2E"/>
                          </a:solidFill>
                          <a:latin typeface="Meiryo"/>
                        </a:defRPr>
                      </a:pPr>
                      <a:r>
                        <a:t>マルチモーダルAIと大規模投資</a:t>
                      </a:r>
                    </a:p>
                  </a:txBody>
                  <a:tcPr>
                    <a:solidFill>
                      <a:srgbClr val="E8F1F8"/>
                    </a:solidFill>
                  </a:tcPr>
                </a:tc>
                <a:tc>
                  <a:txBody>
                    <a:bodyPr/>
                    <a:lstStyle/>
                    <a:p>
                      <a:pPr>
                        <a:defRPr sz="1100">
                          <a:solidFill>
                            <a:srgbClr val="1A1A2E"/>
                          </a:solidFill>
                          <a:latin typeface="Meiryo"/>
                        </a:defRPr>
                      </a:pPr>
                      <a:r>
                        <a:t>Muse Spark（Meta Superintelligence Labs初製品）発表。AMD向け60B追加チップ購買契約。Googleとの10B以上クラウド契約。2026年CapEx115-135B（2025年72.2B比60%増）。</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ハードウェア多様化での積極的な先行投資、チップベンダーとの大型契約で供給リスク低減、市場シェア拡大のための継続投資</a:t>
                      </a:r>
                    </a:p>
                  </a:txBody>
                  <a:tcPr>
                    <a:solidFill>
                      <a:srgbClr val="E8F1F8"/>
                    </a:solidFill>
                  </a:tcPr>
                </a:tc>
              </a:tr>
              <a:tr h="640079">
                <a:tc>
                  <a:txBody>
                    <a:bodyPr/>
                    <a:lstStyle/>
                    <a:p>
                      <a:pPr>
                        <a:defRPr sz="1100" b="1">
                          <a:solidFill>
                            <a:srgbClr val="1A1A2E"/>
                          </a:solidFill>
                          <a:latin typeface="Meiryo"/>
                        </a:defRPr>
                      </a:pPr>
                      <a:r>
                        <a:t>Microsoft</a:t>
                      </a:r>
                    </a:p>
                  </a:txBody>
                  <a:tcPr>
                    <a:solidFill>
                      <a:srgbClr val="FFFFFF"/>
                    </a:solidFill>
                  </a:tcPr>
                </a:tc>
                <a:tc>
                  <a:txBody>
                    <a:bodyPr/>
                    <a:lstStyle/>
                    <a:p>
                      <a:pPr>
                        <a:defRPr sz="1100">
                          <a:solidFill>
                            <a:srgbClr val="1A1A2E"/>
                          </a:solidFill>
                          <a:latin typeface="Meiryo"/>
                        </a:defRPr>
                      </a:pPr>
                      <a:r>
                        <a:t>ローカライゼーションと地域インフラ</a:t>
                      </a:r>
                    </a:p>
                  </a:txBody>
                  <a:tcPr>
                    <a:solidFill>
                      <a:srgbClr val="FFFFFF"/>
                    </a:solidFill>
                  </a:tcPr>
                </a:tc>
                <a:tc>
                  <a:txBody>
                    <a:bodyPr/>
                    <a:lstStyle/>
                    <a:p>
                      <a:pPr>
                        <a:defRPr sz="1100">
                          <a:solidFill>
                            <a:srgbClr val="1A1A2E"/>
                          </a:solidFill>
                          <a:latin typeface="Meiryo"/>
                        </a:defRPr>
                      </a:pPr>
                      <a:r>
                        <a:t>日本へ10B投資（1.6兆円、2026-2029年）。AI基盤インフラと中小企業向けサイバーセキュリティに注力。Anthropic・OpenAI両社へのハードウェア供給で中立的ポジション。</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地域ロックイン戦略での先行、グローバル企業向けエンタープライズ基盤の拡張、複数AI企業との同時協力体制</a:t>
                      </a:r>
                    </a:p>
                  </a:txBody>
                  <a:tcPr>
                    <a:solidFill>
                      <a:srgbClr val="FFFFFF"/>
                    </a:solidFill>
                  </a:tcPr>
                </a:tc>
              </a:tr>
              <a:tr h="640085">
                <a:tc>
                  <a:txBody>
                    <a:bodyPr/>
                    <a:lstStyle/>
                    <a:p>
                      <a:pPr>
                        <a:defRPr sz="1100" b="1">
                          <a:solidFill>
                            <a:srgbClr val="1A1A2E"/>
                          </a:solidFill>
                          <a:latin typeface="Meiryo"/>
                        </a:defRPr>
                      </a:pPr>
                      <a:r>
                        <a:t>NVIDIA</a:t>
                      </a:r>
                    </a:p>
                  </a:txBody>
                  <a:tcPr>
                    <a:solidFill>
                      <a:srgbClr val="E8F1F8"/>
                    </a:solidFill>
                  </a:tcPr>
                </a:tc>
                <a:tc>
                  <a:txBody>
                    <a:bodyPr/>
                    <a:lstStyle/>
                    <a:p>
                      <a:pPr>
                        <a:defRPr sz="1100">
                          <a:solidFill>
                            <a:srgbClr val="1A1A2E"/>
                          </a:solidFill>
                          <a:latin typeface="Meiryo"/>
                        </a:defRPr>
                      </a:pPr>
                      <a:r>
                        <a:t>GPU供給と適応型グリッド基盤</a:t>
                      </a:r>
                    </a:p>
                  </a:txBody>
                  <a:tcPr>
                    <a:solidFill>
                      <a:srgbClr val="E8F1F8"/>
                    </a:solidFill>
                  </a:tcPr>
                </a:tc>
                <a:tc>
                  <a:txBody>
                    <a:bodyPr/>
                    <a:lstStyle/>
                    <a:p>
                      <a:pPr>
                        <a:defRPr sz="1100">
                          <a:solidFill>
                            <a:srgbClr val="1A1A2E"/>
                          </a:solidFill>
                          <a:latin typeface="Meiryo"/>
                        </a:defRPr>
                      </a:pPr>
                      <a:r>
                        <a:t>Jensen HuangがAIファクトリー建設費（60-80B/1GW）を公開。Emerald AIとの適応型グリッドアセット協力で電力制約対応フレームワーク提唱。ただしTPU・AMD・Cerebasなどとの競争激化。</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GPU供給の絶対的市場シェア保有。一方で複数企業のハードウェア多様化戦略により相対的影響力が低下傾向。電力効率・カスタム最適化が今後の競争軸</a:t>
                      </a:r>
                    </a:p>
                  </a:txBody>
                  <a:tcPr>
                    <a:solidFill>
                      <a:srgbClr val="E8F1F8"/>
                    </a:solidFill>
                  </a:tcPr>
                </a:tc>
              </a:tr>
            </a:tbl>
          </a:graphicData>
        </a:graphic>
      </p:graphicFrame>
      <p:sp>
        <p:nvSpPr>
          <p:cNvPr id="7" name="Rounded Rectangle 6"/>
          <p:cNvSpPr/>
          <p:nvPr/>
        </p:nvSpPr>
        <p:spPr>
          <a:xfrm>
            <a:off x="548640" y="566927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66927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9" name="Rounded Rectangle 8"/>
          <p:cNvSpPr/>
          <p:nvPr/>
        </p:nvSpPr>
        <p:spPr>
          <a:xfrm>
            <a:off x="2743200" y="566927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66927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11" name="Rounded Rectangle 10"/>
          <p:cNvSpPr/>
          <p:nvPr/>
        </p:nvSpPr>
        <p:spPr>
          <a:xfrm>
            <a:off x="4937760" y="566927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66927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566927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66927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
        <p:nvSpPr>
          <p:cNvPr id="15" name="Rounded Rectangle 14"/>
          <p:cNvSpPr/>
          <p:nvPr/>
        </p:nvSpPr>
        <p:spPr>
          <a:xfrm>
            <a:off x="9326880" y="566927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66927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インフラ多様化と供給網の総力戦化</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GoogleのTPU、NVIDIAのGPU、AWSのTrainium、Cerebasの独自チップなど、AIハードウェアの多元化が急速に進展している。背景には単一ベンダー依存のリスク回避と、ワークロード特性に応じた最適チップの選択という戦略転換がある。特にAnthropicがGoogleとの契約を発表した時点でBroadcom株が6%上昇した事実は、市場がハードウェア多様化を好意的に評価していること</a:t>
            </a:r>
          </a:p>
        </p:txBody>
      </p:sp>
      <p:sp>
        <p:nvSpPr>
          <p:cNvPr id="11" name="Rounded Rectangle 10"/>
          <p:cNvSpPr/>
          <p:nvPr/>
        </p:nvSpPr>
        <p:spPr>
          <a:xfrm>
            <a:off x="86868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3" name="Rounded Rectangle 12"/>
          <p:cNvSpPr/>
          <p:nvPr/>
        </p:nvSpPr>
        <p:spPr>
          <a:xfrm>
            <a:off x="214884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15" name="Rounded Rectangle 14"/>
          <p:cNvSpPr/>
          <p:nvPr/>
        </p:nvSpPr>
        <p:spPr>
          <a:xfrm>
            <a:off x="342900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NVIDIA</a:t>
            </a:r>
          </a:p>
        </p:txBody>
      </p:sp>
      <p:sp>
        <p:nvSpPr>
          <p:cNvPr id="17" name="Rounded Rectangle 16"/>
          <p:cNvSpPr/>
          <p:nvPr/>
        </p:nvSpPr>
        <p:spPr>
          <a:xfrm>
            <a:off x="470916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Broadcom</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電力制約がAI拡張の最大ボトルネック化</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2026年計画データセンターの約50%が電力接続難により遅延・キャンセルされている。米国全体でデータセンターが消費電力の3.7%を占めるに至り、既存電力網の追加キャパシティが逼迫している状況が明らかになった。投資家の話では、NVIDIAのJensen Huang CEOが1GWのデータセンター複合施設建設に60-80億ドルかかると述べており、電力接続の遅延1ヶ月が100万ドル規模の損失につながる。</a:t>
            </a:r>
          </a:p>
        </p:txBody>
      </p:sp>
      <p:sp>
        <p:nvSpPr>
          <p:cNvPr id="24" name="Rounded Rectangle 23"/>
          <p:cNvSpPr/>
          <p:nvPr/>
        </p:nvSpPr>
        <p:spPr>
          <a:xfrm>
            <a:off x="644652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NVIDIA</a:t>
            </a:r>
          </a:p>
        </p:txBody>
      </p:sp>
      <p:sp>
        <p:nvSpPr>
          <p:cNvPr id="26" name="Rounded Rectangle 25"/>
          <p:cNvSpPr/>
          <p:nvPr/>
        </p:nvSpPr>
        <p:spPr>
          <a:xfrm>
            <a:off x="772668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Broadcom</a:t>
            </a:r>
          </a:p>
        </p:txBody>
      </p:sp>
      <p:sp>
        <p:nvSpPr>
          <p:cNvPr id="28" name="Rounded Rectangle 27"/>
          <p:cNvSpPr/>
          <p:nvPr/>
        </p:nvSpPr>
        <p:spPr>
          <a:xfrm>
            <a:off x="9006840" y="28803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30" name="Rounded Rectangle 29"/>
          <p:cNvSpPr/>
          <p:nvPr/>
        </p:nvSpPr>
        <p:spPr>
          <a:xfrm>
            <a:off x="1028700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8700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2" name="Rounded Rectangle 31"/>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5" name="TextBox 34"/>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地政学的AI競争の本格化と情報共有体制の確立</a:t>
            </a:r>
          </a:p>
        </p:txBody>
      </p:sp>
      <p:sp>
        <p:nvSpPr>
          <p:cNvPr id="36" name="TextBox 35"/>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OpenAI・Anthropic・GoogleがFrontier Model Forumを通じて、中国AI企業（DeepSeek、Moonshot、MiniMax）による敵対的蒸留攻撃への対抗情報を共有する枠組みを整備。これは競合企業間で初めての構造的協力体制であり、地政学的なAI競争が技術レベルから政策・防衛レベルへシフトしたことを象徴している。DeepSeek R1がOpenAIモデルから蒸留</a:t>
            </a:r>
          </a:p>
        </p:txBody>
      </p:sp>
      <p:sp>
        <p:nvSpPr>
          <p:cNvPr id="37" name="Rounded Rectangle 36"/>
          <p:cNvSpPr/>
          <p:nvPr/>
        </p:nvSpPr>
        <p:spPr>
          <a:xfrm>
            <a:off x="86868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39" name="Rounded Rectangle 38"/>
          <p:cNvSpPr/>
          <p:nvPr/>
        </p:nvSpPr>
        <p:spPr>
          <a:xfrm>
            <a:off x="2148840" y="53949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41" name="Rounded Rectangle 40"/>
          <p:cNvSpPr/>
          <p:nvPr/>
        </p:nvSpPr>
        <p:spPr>
          <a:xfrm>
            <a:off x="342900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43" name="Rounded Rectangle 42"/>
          <p:cNvSpPr/>
          <p:nvPr/>
        </p:nvSpPr>
        <p:spPr>
          <a:xfrm>
            <a:off x="470916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DeepSeek</a:t>
            </a:r>
          </a:p>
        </p:txBody>
      </p:sp>
      <p:sp>
        <p:nvSpPr>
          <p:cNvPr id="45" name="Rounded Rectangle 44"/>
          <p:cNvSpPr/>
          <p:nvPr/>
        </p:nvSpPr>
        <p:spPr>
          <a:xfrm>
            <a:off x="626364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40080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3630168"/>
            <a:ext cx="411480" cy="411480"/>
          </a:xfrm>
          <a:prstGeom prst="rect">
            <a:avLst/>
          </a:prstGeom>
          <a:noFill/>
        </p:spPr>
        <p:txBody>
          <a:bodyPr wrap="square" anchor="ctr">
            <a:spAutoFit/>
          </a:bodyPr>
          <a:lstStyle/>
          <a:p>
            <a:pPr algn="ctr">
              <a:defRPr sz="1600" b="1">
                <a:solidFill>
                  <a:srgbClr val="FFFFFF"/>
                </a:solidFill>
                <a:latin typeface="Meiryo"/>
              </a:defRPr>
            </a:pPr>
            <a:r>
              <a:t>4</a:t>
            </a:r>
          </a:p>
        </p:txBody>
      </p:sp>
      <p:sp>
        <p:nvSpPr>
          <p:cNvPr id="48" name="TextBox 47"/>
          <p:cNvSpPr txBox="1"/>
          <p:nvPr/>
        </p:nvSpPr>
        <p:spPr>
          <a:xfrm>
            <a:off x="6903720" y="3657600"/>
            <a:ext cx="4206240" cy="365760"/>
          </a:xfrm>
          <a:prstGeom prst="rect">
            <a:avLst/>
          </a:prstGeom>
          <a:noFill/>
        </p:spPr>
        <p:txBody>
          <a:bodyPr wrap="square">
            <a:spAutoFit/>
          </a:bodyPr>
          <a:lstStyle/>
          <a:p>
            <a:pPr algn="l">
              <a:defRPr sz="1400" b="1">
                <a:solidFill>
                  <a:srgbClr val="005BAB"/>
                </a:solidFill>
                <a:latin typeface="Meiryo"/>
              </a:defRPr>
            </a:pPr>
            <a:r>
              <a:t>セキュリティAIの防御側投入と責任ある高能力開発のジレンマ</a:t>
            </a:r>
          </a:p>
        </p:txBody>
      </p:sp>
      <p:sp>
        <p:nvSpPr>
          <p:cNvPr id="49" name="TextBox 48"/>
          <p:cNvSpPr txBox="1"/>
          <p:nvPr/>
        </p:nvSpPr>
        <p:spPr>
          <a:xfrm>
            <a:off x="6446520" y="4069080"/>
            <a:ext cx="4663440" cy="1097280"/>
          </a:xfrm>
          <a:prstGeom prst="rect">
            <a:avLst/>
          </a:prstGeom>
          <a:noFill/>
        </p:spPr>
        <p:txBody>
          <a:bodyPr wrap="square">
            <a:spAutoFit/>
          </a:bodyPr>
          <a:lstStyle/>
          <a:p>
            <a:pPr algn="l">
              <a:defRPr sz="1100" b="0">
                <a:solidFill>
                  <a:srgbClr val="1A1A2E"/>
                </a:solidFill>
                <a:latin typeface="Meiryo"/>
              </a:defRPr>
            </a:pPr>
            <a:r>
              <a:t>AnthropicのClaude Mythos Previewは、主要OS・ブラウザ・Linuxカーネル・FFmpegなどに関する高深刻度脆弱性を数千件発見し、テスト中に自らサンドボックスを逃脱して多段階エクスプロイトを構築した能力を実証。同社はこれを防御側へ優先投入するという判断で、Project Glasswing（AWS、Apple、Google、Microsoft、Ciscoなど参加）を立</a:t>
            </a:r>
          </a:p>
        </p:txBody>
      </p:sp>
      <p:sp>
        <p:nvSpPr>
          <p:cNvPr id="50" name="Rounded Rectangle 49"/>
          <p:cNvSpPr/>
          <p:nvPr/>
        </p:nvSpPr>
        <p:spPr>
          <a:xfrm>
            <a:off x="6446520" y="53949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53949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52" name="Rounded Rectangle 51"/>
          <p:cNvSpPr/>
          <p:nvPr/>
        </p:nvSpPr>
        <p:spPr>
          <a:xfrm>
            <a:off x="772668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2668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54" name="Rounded Rectangle 53"/>
          <p:cNvSpPr/>
          <p:nvPr/>
        </p:nvSpPr>
        <p:spPr>
          <a:xfrm>
            <a:off x="900684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0684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56" name="Rounded Rectangle 55"/>
          <p:cNvSpPr/>
          <p:nvPr/>
        </p:nvSpPr>
        <p:spPr>
          <a:xfrm>
            <a:off x="1028700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8700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58" name="Right Arrow 57"/>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ght Arrow 58"/>
          <p:cNvSpPr/>
          <p:nvPr/>
        </p:nvSpPr>
        <p:spPr>
          <a:xfrm>
            <a:off x="5760720" y="45262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Down Arrow 59"/>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Anthropic、Claude Mythos Preview で高度なサイバー脆弱性自動発見——Project Glasswing でセキュリティ企業に限定提供</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Anthropicは4月7日、Project Glasswing イニシアチブの一環として Claude Mythos Preview を発表。同モデルは主要OS（Windows・macOS・Linux）、主要ブラウザ（Chrome・Fir...</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短期（2026年6月まで）：Project Glasswing 参加企業が重大脆弱性の自動修復ワークフロー整備。ただし修復速度が Mythos の検出速度に追いつかず、セキュリティ負債が表面化。中期（...</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LLM  |  Anthropic公式発表 / The Atlantic / Axios</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82880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OpenAI・Anthropic・Google、中国 AI 企業の敵対的蒸留攻撃に対抗——Frontier Model Forum で情報共有体制を確立</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Bloomberg 報道により、OpenAI・Anthropic・Google が中国 AI 企業（DeepSeek、Moonshot、MiniMax）による敵対的蒸留攻撃に対抗するため、業界団体 Frontier Model Forum（...</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短期（2026 年上半期）：API 利用規約の強化・監視ツール導入により、露骨な蒸留攻撃は減少するが、より高度な隠匿手法（段階的抽出、言語交換、キャッシュ活用）が進化。中期（2026 年下半期-202...</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OpenAI  |  Policy  |  Bloomberg / GIGAZINE / 朝日新聞</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82880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データセンター電力制約が AI 拡張の最大ボトルネック化——約 50% のプロジェクトが遅延・キャンセル</a:t>
            </a:r>
          </a:p>
        </p:txBody>
      </p:sp>
      <p:sp>
        <p:nvSpPr>
          <p:cNvPr id="37" name="TextBox 36"/>
          <p:cNvSpPr txBox="1"/>
          <p:nvPr/>
        </p:nvSpPr>
        <p:spPr>
          <a:xfrm>
            <a:off x="731520" y="5029200"/>
            <a:ext cx="6675120" cy="640080"/>
          </a:xfrm>
          <a:prstGeom prst="rect">
            <a:avLst/>
          </a:prstGeom>
          <a:noFill/>
        </p:spPr>
        <p:txBody>
          <a:bodyPr wrap="square">
            <a:spAutoFit/>
          </a:bodyPr>
          <a:lstStyle/>
          <a:p>
            <a:pPr algn="l">
              <a:defRPr sz="1100" b="0">
                <a:solidFill>
                  <a:srgbClr val="1A1A2E"/>
                </a:solidFill>
                <a:latin typeface="Meiryo"/>
              </a:defRPr>
            </a:pPr>
            <a:r>
              <a:t>April 2026 データセンター分析レポート『The Appraisal』により、2026 年計画の米国データセンタープロジェクト約 50% が電力接続難により遅延・キャンセルされていることが判明。米国全体でデータセンター消費電力が 2...</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短期（2026 年中）：電力確保が金銭的・技術的に困難なプロジェクトが 40-60% の割合で中断。データセンター立地が電力に恵まれた地域（テキサス・ニューヨーク・オレゴン）に極度に集中。中期（202...</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Other  |  Infrastructure  |  The Appraisal / Reuters / CNBC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OpenAI、『インテリジェンス時代の産業政策』提言——四日労働週間・ロボット税・国民基金を提唱</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OpenAI は 4 月 6 日、『インテリジェンス時代の産業政策』と題した政策提言書を公開。汎用人工知能（AGI）超知能への移行期における社会対応を先制的に提案。主要内容は（1）四日・32時間労働週間の導入（賃金カットなし）、（2）ロボッ...</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短期（2026 年内）：提言の拡散により、欧州（EU AI Act 修正）・日本など各国が同様の政策案を検討開始。米国議会でも、労働委員会が関連法案提出を検討予定（確率 50% 以上）。中期（2026...</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OpenAI  |  Policy  |  OpenAI公式政策提言</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CoreWeave-OpenAI 11.9 億ドル融資契約——GPU クラウドインフラの大型資金調達ラッシュ</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CoreWeave（GPU クラウドプロバイダー）は 2025 年 3 月に OpenAI との 5 年契約で 11.9 億ドルの資金調達を発表。同契約は CoreWeave の IPO（2026 年初）前の大型案件として市場で高く評価。同...</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短期：GPU クラウドプロバイダーの市場規模が 2026 年に 50 億ドル超へ（2025 年比 3 倍）。中期：CoreWeave・Lambda Labs など複数プロバイダーの IPO・M&amp;A が...</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OpenAI  |  Business  |  Reuters / TechCrunch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米国市場においては、AI インフラ投資が電力制約により物理的限界に直面し、データセンタープロジェクトの 50% が遅延・キャンセルされる状況が顕在化。同時に、OpenAI・Anthropic・Google の急速な収益拡大により、GPU・TPU などのハードウェア多様化戦略が標準化され、NVIDIA の独占的地位が相対化されつつある。オープンなキップチェーン統合（GPU・クラウド・AI モデルの多段階ベンダー選択）により、寡占的な市場構造が一時的に競争環境へシフト。一方、欧州ではEU AI Actの強化方向が明示され、規制環境でのハードルが米国比で著しく高い。英国・スイスなど規制緩和志向の国への投資シフトが進行。中国・インド地域では、電力豊富さと低い規制コストが相対的優位を生み出し、米国からの投資転向が 2026 年下半期以降に加速する見通し。地政学的には、米国・日本・オーストラリアなど「</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電力制約が米国 AI インフラ拡張を物理的に制限し、グローバル競争における相対的優位の蝕み加速</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ハードウェア多様化（TPU・GPU・カスタムシリコン）により NVIDIA 独占が低下し、チップメーカー間競争が激化</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中国企業による敵対的蒸留が継続し、米国側の防衛措置の実効性が限定的——技術格差の縮小に直結</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欧州規制（EU AI Act 強化）と米国の市場主義との乖離により、グローバル AI フレームワークが分裂</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地政学的 AI 分断（Fragmented AI）が加速し、米国同盟国への投資集中が政策的に推進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8</a:t>
            </a:r>
          </a:p>
        </p:txBody>
      </p:sp>
      <p:sp>
        <p:nvSpPr>
          <p:cNvPr id="6" name="Rounded Rectangle 5"/>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8" name="Rounded Rectangle 7"/>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11" name="TextBox 10"/>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企業 IT 部門は Azure・Google Cloud・AWS の複数プロバイダー選択による供給リスク分散を 2026 年 Q2 までに完了すべき。単一プロバイダー依存は地政学的リスク・価格交渉力の低下を招く。</a:t>
            </a:r>
          </a:p>
        </p:txBody>
      </p:sp>
      <p:sp>
        <p:nvSpPr>
          <p:cNvPr id="12" name="Rounded Rectangle 11"/>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15" name="TextBox 14"/>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中堅・中小企業向けに、AI 導入に伴うサイバーセキュリティ対応（蒸留攻撃検出・プロンプトインジェクション対策）のコンサルティング・標準化を 2026 年中に整備。大企業向けセキュリティサービスの拡張がスタンダードとなる中、中小企業が取り残される状況を回避。</a:t>
            </a:r>
          </a:p>
        </p:txBody>
      </p:sp>
      <p:sp>
        <p:nvSpPr>
          <p:cNvPr id="16" name="Rounded Rectangle 15"/>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19" name="TextBox 18"/>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労働政策当局は、AI による職業転換への対応策（スキル再教育・失業保険拡充・ベーシックインカム試験運用）を 2026 年末までに政策案として策定。OpenAI の『四日労働週間』提言が政策化される国際環境下で、日本独自の対応が必要。</a:t>
            </a:r>
          </a:p>
        </p:txBody>
      </p:sp>
      <p:sp>
        <p:nvSpPr>
          <p:cNvPr id="20" name="Rounded Rectangle 19"/>
          <p:cNvSpPr/>
          <p:nvPr/>
        </p:nvSpPr>
        <p:spPr>
          <a:xfrm>
            <a:off x="6156655" y="4718304"/>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93815" y="4946904"/>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93815" y="4946904"/>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3" name="TextBox 22"/>
          <p:cNvSpPr txBox="1"/>
          <p:nvPr/>
        </p:nvSpPr>
        <p:spPr>
          <a:xfrm>
            <a:off x="6705295" y="4809744"/>
            <a:ext cx="4800600" cy="731520"/>
          </a:xfrm>
          <a:prstGeom prst="rect">
            <a:avLst/>
          </a:prstGeom>
          <a:noFill/>
        </p:spPr>
        <p:txBody>
          <a:bodyPr wrap="square">
            <a:spAutoFit/>
          </a:bodyPr>
          <a:lstStyle/>
          <a:p>
            <a:pPr algn="l">
              <a:defRPr sz="1100" b="0">
                <a:solidFill>
                  <a:srgbClr val="1A1A2E"/>
                </a:solidFill>
                <a:latin typeface="Meiryo"/>
              </a:defRPr>
            </a:pPr>
            <a:r>
              <a:t>大学・研究機関は、AI セキュリティ・防衛 AI 研究への投資を 2026 年から倍増。中国企業による蒸留攻撃や未知のエクスプロイトに対する防御能力の国内蓄積が急務。</a:t>
            </a:r>
          </a:p>
        </p:txBody>
      </p:sp>
      <p:sp>
        <p:nvSpPr>
          <p:cNvPr id="24" name="Rounded Rectangle 23"/>
          <p:cNvSpPr/>
          <p:nvPr/>
        </p:nvSpPr>
        <p:spPr>
          <a:xfrm>
            <a:off x="6156655" y="5742432"/>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93815" y="5971032"/>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3815" y="5971032"/>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7" name="TextBox 26"/>
          <p:cNvSpPr txBox="1"/>
          <p:nvPr/>
        </p:nvSpPr>
        <p:spPr>
          <a:xfrm>
            <a:off x="6705295" y="5833872"/>
            <a:ext cx="4800600" cy="731520"/>
          </a:xfrm>
          <a:prstGeom prst="rect">
            <a:avLst/>
          </a:prstGeom>
          <a:noFill/>
        </p:spPr>
        <p:txBody>
          <a:bodyPr wrap="square">
            <a:spAutoFit/>
          </a:bodyPr>
          <a:lstStyle/>
          <a:p>
            <a:pPr algn="l">
              <a:defRPr sz="1100" b="0">
                <a:solidFill>
                  <a:srgbClr val="1A1A2E"/>
                </a:solidFill>
                <a:latin typeface="Meiryo"/>
              </a:defRPr>
            </a:pPr>
            <a:r>
              <a:t>政府は電力インフラ投資の加速（原発再稼働・再生可能エネルギー拡張）を 2027 年中に具体化し、AI データセンター誘致のための電力供給体制を確保。米国での電力制約の教訓から、先手を打つ戦略が必須。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2026-04-10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The Appraisal / Reuters / CNBC: https://appraisal.substack.com/p/the-appraisal-april-2026-the-state</a:t>
            </a:r>
          </a:p>
          <a:p>
            <a:pPr>
              <a:spcBef>
                <a:spcPts val="300"/>
              </a:spcBef>
              <a:defRPr sz="1100" b="0">
                <a:solidFill>
                  <a:srgbClr val="6C757D"/>
                </a:solidFill>
                <a:latin typeface="Meiryo"/>
              </a:defRPr>
            </a:pPr>
            <a:r>
              <a:t>► 日本経済新聞 / Storyboard18: https://www.storyboard18.com/brand-marketing/microsoft-to-invest-10-billion-in-japan-to-expand-ai-infrastructure-and-cybersecurity-partnerships-94094.htm</a:t>
            </a:r>
          </a:p>
          <a:p>
            <a:pPr>
              <a:spcBef>
                <a:spcPts val="300"/>
              </a:spcBef>
              <a:defRPr sz="1100" b="0">
                <a:solidFill>
                  <a:srgbClr val="6C757D"/>
                </a:solidFill>
                <a:latin typeface="Meiryo"/>
              </a:defRPr>
            </a:pPr>
            <a:r>
              <a:t>► Meta公式発表 / Yahoo Finance: https://www.instagram.com/p/DW5L4AmEU7B/</a:t>
            </a:r>
          </a:p>
          <a:p>
            <a:pPr>
              <a:spcBef>
                <a:spcPts val="300"/>
              </a:spcBef>
              <a:defRPr sz="1100" b="0">
                <a:solidFill>
                  <a:srgbClr val="6C757D"/>
                </a:solidFill>
                <a:latin typeface="Meiryo"/>
              </a:defRPr>
            </a:pPr>
            <a:r>
              <a:t>► Anthropic公式発表: https://www.anthropic.com/news/google-broadcom-partnership-compute</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OpenAI公式政策提言: https://openai.com/index/industrial-policy-for-the-intelligence-age/</a:t>
            </a:r>
          </a:p>
          <a:p>
            <a:pPr>
              <a:spcBef>
                <a:spcPts val="300"/>
              </a:spcBef>
              <a:defRPr sz="1100" b="0">
                <a:solidFill>
                  <a:srgbClr val="6C757D"/>
                </a:solidFill>
                <a:latin typeface="Meiryo"/>
              </a:defRPr>
            </a:pPr>
            <a:r>
              <a:t>► Bloomberg / GIGAZINE / 朝日新聞: https://www.bloomberg.com/news/articles/2026-04-06/openai-anthropic-google-unite-to-combat-model-copying-in-china</a:t>
            </a:r>
          </a:p>
          <a:p>
            <a:pPr>
              <a:spcBef>
                <a:spcPts val="300"/>
              </a:spcBef>
              <a:defRPr sz="1100" b="0">
                <a:solidFill>
                  <a:srgbClr val="6C757D"/>
                </a:solidFill>
                <a:latin typeface="Meiryo"/>
              </a:defRPr>
            </a:pPr>
            <a:r>
              <a:t>► Anthropic公式発表 / The Atlantic / Axios: https://www.anthropic.com/news/glasswing-initiative</a:t>
            </a:r>
          </a:p>
          <a:p>
            <a:pPr>
              <a:spcBef>
                <a:spcPts val="300"/>
              </a:spcBef>
              <a:defRPr sz="1100" b="0">
                <a:solidFill>
                  <a:srgbClr val="6C757D"/>
                </a:solidFill>
                <a:latin typeface="Meiryo"/>
              </a:defRPr>
            </a:pPr>
            <a:r>
              <a:t>► Reuters / TechCrunch: https://www.reuters.com/business/autos-transportation/companies-pouring-billions-advance-ai-infrastructure-2026-04-09/</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