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10058400" cy="1097280"/>
          </a:xfrm>
          <a:prstGeom prst="rect">
            <a:avLst/>
          </a:prstGeom>
          <a:noFill/>
        </p:spPr>
        <p:txBody>
          <a:bodyPr wrap="square">
            <a:spAutoFit/>
          </a:bodyPr>
          <a:lstStyle/>
          <a:p>
            <a:pPr algn="l">
              <a:defRPr sz="5200" b="1">
                <a:solidFill>
                  <a:srgbClr val="005BAB"/>
                </a:solidFill>
                <a:latin typeface="Meiryo"/>
              </a:defRPr>
            </a:pPr>
            <a:r>
              <a:t>AI News Daily Deck</a:t>
            </a:r>
          </a:p>
        </p:txBody>
      </p:sp>
      <p:sp>
        <p:nvSpPr>
          <p:cNvPr id="4" name="Rectangle 3"/>
          <p:cNvSpPr/>
          <p:nvPr/>
        </p:nvSpPr>
        <p:spPr>
          <a:xfrm>
            <a:off x="914400" y="3200400"/>
            <a:ext cx="2743200" cy="45720"/>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474720"/>
            <a:ext cx="4572000" cy="640080"/>
          </a:xfrm>
          <a:prstGeom prst="rect">
            <a:avLst/>
          </a:prstGeom>
          <a:noFill/>
        </p:spPr>
        <p:txBody>
          <a:bodyPr wrap="square">
            <a:spAutoFit/>
          </a:bodyPr>
          <a:lstStyle/>
          <a:p>
            <a:pPr algn="l">
              <a:defRPr sz="2600" b="0">
                <a:solidFill>
                  <a:srgbClr val="6C757D"/>
                </a:solidFill>
                <a:latin typeface="Meiryo"/>
              </a:defRPr>
            </a:pPr>
            <a:r>
              <a:t>2026-02-14</a:t>
            </a:r>
          </a:p>
        </p:txBody>
      </p:sp>
      <p:sp>
        <p:nvSpPr>
          <p:cNvPr id="6" name="Rectangle 5"/>
          <p:cNvSpPr/>
          <p:nvPr/>
        </p:nvSpPr>
        <p:spPr>
          <a:xfrm>
            <a:off x="914400" y="4754880"/>
            <a:ext cx="2743200" cy="100584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 y="4754880"/>
            <a:ext cx="2743200" cy="36576"/>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864608"/>
            <a:ext cx="2377440" cy="502920"/>
          </a:xfrm>
          <a:prstGeom prst="rect">
            <a:avLst/>
          </a:prstGeom>
          <a:noFill/>
        </p:spPr>
        <p:txBody>
          <a:bodyPr wrap="none">
            <a:spAutoFit/>
          </a:bodyPr>
          <a:lstStyle/>
          <a:p>
            <a:r>
              <a:rPr sz="3000" b="1">
                <a:solidFill>
                  <a:srgbClr val="005BAB"/>
                </a:solidFill>
                <a:latin typeface="Meiryo"/>
              </a:rPr>
              <a:t>0</a:t>
            </a:r>
            <a:r>
              <a:rPr sz="1400">
                <a:solidFill>
                  <a:srgbClr val="6C757D"/>
                </a:solidFill>
                <a:latin typeface="Meiryo"/>
              </a:rPr>
              <a:t> 件</a:t>
            </a:r>
          </a:p>
        </p:txBody>
      </p:sp>
      <p:sp>
        <p:nvSpPr>
          <p:cNvPr id="9" name="TextBox 8"/>
          <p:cNvSpPr txBox="1"/>
          <p:nvPr/>
        </p:nvSpPr>
        <p:spPr>
          <a:xfrm>
            <a:off x="1097280" y="5394960"/>
            <a:ext cx="2377440" cy="274320"/>
          </a:xfrm>
          <a:prstGeom prst="rect">
            <a:avLst/>
          </a:prstGeom>
          <a:noFill/>
        </p:spPr>
        <p:txBody>
          <a:bodyPr wrap="square">
            <a:spAutoFit/>
          </a:bodyPr>
          <a:lstStyle/>
          <a:p>
            <a:pPr algn="l">
              <a:defRPr sz="1100" b="0">
                <a:solidFill>
                  <a:srgbClr val="6C757D"/>
                </a:solidFill>
                <a:latin typeface="Meiryo"/>
              </a:defRPr>
            </a:pPr>
            <a:r>
              <a:t>Total News</a:t>
            </a:r>
          </a:p>
        </p:txBody>
      </p:sp>
      <p:sp>
        <p:nvSpPr>
          <p:cNvPr id="10" name="Rectangle 9"/>
          <p:cNvSpPr/>
          <p:nvPr/>
        </p:nvSpPr>
        <p:spPr>
          <a:xfrm>
            <a:off x="4023360" y="4754880"/>
            <a:ext cx="2743200" cy="100584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023360" y="4754880"/>
            <a:ext cx="2743200" cy="36576"/>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06240" y="4864608"/>
            <a:ext cx="2377440" cy="502920"/>
          </a:xfrm>
          <a:prstGeom prst="rect">
            <a:avLst/>
          </a:prstGeom>
          <a:noFill/>
        </p:spPr>
        <p:txBody>
          <a:bodyPr wrap="none">
            <a:spAutoFit/>
          </a:bodyPr>
          <a:lstStyle/>
          <a:p>
            <a:r>
              <a:rPr sz="3000" b="1">
                <a:solidFill>
                  <a:srgbClr val="005BAB"/>
                </a:solidFill>
                <a:latin typeface="Meiryo"/>
              </a:rPr>
              <a:t>0</a:t>
            </a:r>
            <a:r>
              <a:rPr sz="1400">
                <a:solidFill>
                  <a:srgbClr val="6C757D"/>
                </a:solidFill>
                <a:latin typeface="Meiryo"/>
              </a:rPr>
              <a:t> 件</a:t>
            </a:r>
          </a:p>
        </p:txBody>
      </p:sp>
      <p:sp>
        <p:nvSpPr>
          <p:cNvPr id="13" name="TextBox 12"/>
          <p:cNvSpPr txBox="1"/>
          <p:nvPr/>
        </p:nvSpPr>
        <p:spPr>
          <a:xfrm>
            <a:off x="4206240" y="5394960"/>
            <a:ext cx="2377440" cy="274320"/>
          </a:xfrm>
          <a:prstGeom prst="rect">
            <a:avLst/>
          </a:prstGeom>
          <a:noFill/>
        </p:spPr>
        <p:txBody>
          <a:bodyPr wrap="square">
            <a:spAutoFit/>
          </a:bodyPr>
          <a:lstStyle/>
          <a:p>
            <a:pPr algn="l">
              <a:defRPr sz="1100" b="0">
                <a:solidFill>
                  <a:srgbClr val="6C757D"/>
                </a:solidFill>
                <a:latin typeface="Meiryo"/>
              </a:defRPr>
            </a:pPr>
            <a:r>
              <a:t>High Impact</a:t>
            </a:r>
          </a:p>
        </p:txBody>
      </p:sp>
      <p:sp>
        <p:nvSpPr>
          <p:cNvPr id="14" name="Rectangle 13"/>
          <p:cNvSpPr/>
          <p:nvPr/>
        </p:nvSpPr>
        <p:spPr>
          <a:xfrm>
            <a:off x="7132320" y="4754880"/>
            <a:ext cx="2743200" cy="100584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32320" y="4754880"/>
            <a:ext cx="2743200" cy="36576"/>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0" y="4864608"/>
            <a:ext cx="2377440" cy="502920"/>
          </a:xfrm>
          <a:prstGeom prst="rect">
            <a:avLst/>
          </a:prstGeom>
          <a:noFill/>
        </p:spPr>
        <p:txBody>
          <a:bodyPr wrap="none">
            <a:spAutoFit/>
          </a:bodyPr>
          <a:lstStyle/>
          <a:p>
            <a:r>
              <a:rPr sz="3000" b="1">
                <a:solidFill>
                  <a:srgbClr val="005BAB"/>
                </a:solidFill>
                <a:latin typeface="Meiryo"/>
              </a:rPr>
              <a:t>0</a:t>
            </a:r>
            <a:r>
              <a:rPr sz="1400">
                <a:solidFill>
                  <a:srgbClr val="6C757D"/>
                </a:solidFill>
                <a:latin typeface="Meiryo"/>
              </a:rPr>
              <a:t> 社</a:t>
            </a:r>
          </a:p>
        </p:txBody>
      </p:sp>
      <p:sp>
        <p:nvSpPr>
          <p:cNvPr id="17" name="TextBox 16"/>
          <p:cNvSpPr txBox="1"/>
          <p:nvPr/>
        </p:nvSpPr>
        <p:spPr>
          <a:xfrm>
            <a:off x="7315200" y="5394960"/>
            <a:ext cx="2377440" cy="274320"/>
          </a:xfrm>
          <a:prstGeom prst="rect">
            <a:avLst/>
          </a:prstGeom>
          <a:noFill/>
        </p:spPr>
        <p:txBody>
          <a:bodyPr wrap="square">
            <a:spAutoFit/>
          </a:bodyPr>
          <a:lstStyle/>
          <a:p>
            <a:pPr algn="l">
              <a:defRPr sz="1100" b="0">
                <a:solidFill>
                  <a:srgbClr val="6C757D"/>
                </a:solidFill>
                <a:latin typeface="Meiryo"/>
              </a:defRPr>
            </a:pPr>
            <a:r>
              <a:t>Companies</a:t>
            </a:r>
          </a:p>
        </p:txBody>
      </p:sp>
      <p:sp>
        <p:nvSpPr>
          <p:cNvPr id="18" name="Rectangle 17"/>
          <p:cNvSpPr/>
          <p:nvPr/>
        </p:nvSpPr>
        <p:spPr>
          <a:xfrm>
            <a:off x="0" y="6803136"/>
            <a:ext cx="12191695" cy="54864"/>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Executive Summary</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2026-02-14  |  Page 1</a:t>
            </a:r>
          </a:p>
        </p:txBody>
      </p:sp>
      <p:sp>
        <p:nvSpPr>
          <p:cNvPr id="6" name="Rounded Rectangle 5"/>
          <p:cNvSpPr/>
          <p:nvPr/>
        </p:nvSpPr>
        <p:spPr>
          <a:xfrm>
            <a:off x="640080" y="960120"/>
            <a:ext cx="2468880" cy="1051560"/>
          </a:xfrm>
          <a:prstGeom prst="round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960120"/>
            <a:ext cx="2468880" cy="36576"/>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051560"/>
            <a:ext cx="2194560" cy="274320"/>
          </a:xfrm>
          <a:prstGeom prst="rect">
            <a:avLst/>
          </a:prstGeom>
          <a:noFill/>
        </p:spPr>
        <p:txBody>
          <a:bodyPr wrap="square">
            <a:spAutoFit/>
          </a:bodyPr>
          <a:lstStyle/>
          <a:p>
            <a:pPr algn="l">
              <a:defRPr sz="1100" b="0">
                <a:solidFill>
                  <a:srgbClr val="6C757D"/>
                </a:solidFill>
                <a:latin typeface="Meiryo"/>
              </a:defRPr>
            </a:pPr>
            <a:r>
              <a:t>Total</a:t>
            </a:r>
          </a:p>
        </p:txBody>
      </p:sp>
      <p:sp>
        <p:nvSpPr>
          <p:cNvPr id="9" name="TextBox 8"/>
          <p:cNvSpPr txBox="1"/>
          <p:nvPr/>
        </p:nvSpPr>
        <p:spPr>
          <a:xfrm>
            <a:off x="777240" y="1307592"/>
            <a:ext cx="2194560" cy="548640"/>
          </a:xfrm>
          <a:prstGeom prst="rect">
            <a:avLst/>
          </a:prstGeom>
          <a:noFill/>
        </p:spPr>
        <p:txBody>
          <a:bodyPr wrap="square">
            <a:spAutoFit/>
          </a:bodyPr>
          <a:lstStyle/>
          <a:p>
            <a:r>
              <a:rPr sz="2800" b="1">
                <a:solidFill>
                  <a:srgbClr val="005BAB"/>
                </a:solidFill>
                <a:latin typeface="Meiryo"/>
              </a:rPr>
              <a:t>0</a:t>
            </a:r>
            <a:r>
              <a:rPr sz="1400">
                <a:solidFill>
                  <a:srgbClr val="6C757D"/>
                </a:solidFill>
                <a:latin typeface="Meiryo"/>
              </a:rPr>
              <a:t> 件</a:t>
            </a:r>
          </a:p>
        </p:txBody>
      </p:sp>
      <p:sp>
        <p:nvSpPr>
          <p:cNvPr id="10" name="Rounded Rectangle 9"/>
          <p:cNvSpPr/>
          <p:nvPr/>
        </p:nvSpPr>
        <p:spPr>
          <a:xfrm>
            <a:off x="3383280" y="960120"/>
            <a:ext cx="2468880" cy="1051560"/>
          </a:xfrm>
          <a:prstGeom prst="round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83280" y="960120"/>
            <a:ext cx="2468880" cy="36576"/>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20440" y="1051560"/>
            <a:ext cx="2194560" cy="274320"/>
          </a:xfrm>
          <a:prstGeom prst="rect">
            <a:avLst/>
          </a:prstGeom>
          <a:noFill/>
        </p:spPr>
        <p:txBody>
          <a:bodyPr wrap="square">
            <a:spAutoFit/>
          </a:bodyPr>
          <a:lstStyle/>
          <a:p>
            <a:pPr algn="l">
              <a:defRPr sz="1100" b="0">
                <a:solidFill>
                  <a:srgbClr val="6C757D"/>
                </a:solidFill>
                <a:latin typeface="Meiryo"/>
              </a:defRPr>
            </a:pPr>
            <a:r>
              <a:t>High Impact</a:t>
            </a:r>
          </a:p>
        </p:txBody>
      </p:sp>
      <p:sp>
        <p:nvSpPr>
          <p:cNvPr id="13" name="TextBox 12"/>
          <p:cNvSpPr txBox="1"/>
          <p:nvPr/>
        </p:nvSpPr>
        <p:spPr>
          <a:xfrm>
            <a:off x="3520440" y="1307592"/>
            <a:ext cx="2194560" cy="548640"/>
          </a:xfrm>
          <a:prstGeom prst="rect">
            <a:avLst/>
          </a:prstGeom>
          <a:noFill/>
        </p:spPr>
        <p:txBody>
          <a:bodyPr wrap="square">
            <a:spAutoFit/>
          </a:bodyPr>
          <a:lstStyle/>
          <a:p>
            <a:r>
              <a:rPr sz="2800" b="1">
                <a:solidFill>
                  <a:srgbClr val="005BAB"/>
                </a:solidFill>
                <a:latin typeface="Meiryo"/>
              </a:rPr>
              <a:t>0</a:t>
            </a:r>
            <a:r>
              <a:rPr sz="1400">
                <a:solidFill>
                  <a:srgbClr val="6C757D"/>
                </a:solidFill>
                <a:latin typeface="Meiryo"/>
              </a:rPr>
              <a:t> 件</a:t>
            </a:r>
          </a:p>
        </p:txBody>
      </p:sp>
      <p:sp>
        <p:nvSpPr>
          <p:cNvPr id="14" name="Rounded Rectangle 13"/>
          <p:cNvSpPr/>
          <p:nvPr/>
        </p:nvSpPr>
        <p:spPr>
          <a:xfrm>
            <a:off x="6126480" y="960120"/>
            <a:ext cx="2468880" cy="1051560"/>
          </a:xfrm>
          <a:prstGeom prst="round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26480" y="960120"/>
            <a:ext cx="2468880" cy="36576"/>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3640" y="1051560"/>
            <a:ext cx="2194560" cy="274320"/>
          </a:xfrm>
          <a:prstGeom prst="rect">
            <a:avLst/>
          </a:prstGeom>
          <a:noFill/>
        </p:spPr>
        <p:txBody>
          <a:bodyPr wrap="square">
            <a:spAutoFit/>
          </a:bodyPr>
          <a:lstStyle/>
          <a:p>
            <a:pPr algn="l">
              <a:defRPr sz="1100" b="0">
                <a:solidFill>
                  <a:srgbClr val="6C757D"/>
                </a:solidFill>
                <a:latin typeface="Meiryo"/>
              </a:defRPr>
            </a:pPr>
            <a:r>
              <a:t>Companies</a:t>
            </a:r>
          </a:p>
        </p:txBody>
      </p:sp>
      <p:sp>
        <p:nvSpPr>
          <p:cNvPr id="17" name="TextBox 16"/>
          <p:cNvSpPr txBox="1"/>
          <p:nvPr/>
        </p:nvSpPr>
        <p:spPr>
          <a:xfrm>
            <a:off x="6263640" y="1307592"/>
            <a:ext cx="2194560" cy="548640"/>
          </a:xfrm>
          <a:prstGeom prst="rect">
            <a:avLst/>
          </a:prstGeom>
          <a:noFill/>
        </p:spPr>
        <p:txBody>
          <a:bodyPr wrap="square">
            <a:spAutoFit/>
          </a:bodyPr>
          <a:lstStyle/>
          <a:p>
            <a:r>
              <a:rPr sz="2800" b="1">
                <a:solidFill>
                  <a:srgbClr val="005BAB"/>
                </a:solidFill>
                <a:latin typeface="Meiryo"/>
              </a:rPr>
              <a:t>0</a:t>
            </a:r>
            <a:r>
              <a:rPr sz="1400">
                <a:solidFill>
                  <a:srgbClr val="6C757D"/>
                </a:solidFill>
                <a:latin typeface="Meiryo"/>
              </a:rPr>
              <a:t> 社</a:t>
            </a:r>
          </a:p>
        </p:txBody>
      </p:sp>
      <p:sp>
        <p:nvSpPr>
          <p:cNvPr id="18" name="TextBox 17"/>
          <p:cNvSpPr txBox="1"/>
          <p:nvPr/>
        </p:nvSpPr>
        <p:spPr>
          <a:xfrm>
            <a:off x="548640" y="2331720"/>
            <a:ext cx="2743200" cy="320040"/>
          </a:xfrm>
          <a:prstGeom prst="rect">
            <a:avLst/>
          </a:prstGeom>
          <a:noFill/>
        </p:spPr>
        <p:txBody>
          <a:bodyPr wrap="square">
            <a:spAutoFit/>
          </a:bodyPr>
          <a:lstStyle/>
          <a:p>
            <a:pPr algn="l">
              <a:defRPr sz="1400" b="1">
                <a:solidFill>
                  <a:srgbClr val="005BAB"/>
                </a:solidFill>
                <a:latin typeface="Meiryo"/>
              </a:defRPr>
            </a:pPr>
            <a:r>
              <a:t>KEY TAKEAWAYS</a:t>
            </a:r>
          </a:p>
        </p:txBody>
      </p:sp>
      <p:sp>
        <p:nvSpPr>
          <p:cNvPr id="19" name="Rectangle 18"/>
          <p:cNvSpPr/>
          <p:nvPr/>
        </p:nvSpPr>
        <p:spPr>
          <a:xfrm>
            <a:off x="548640" y="2624328"/>
            <a:ext cx="1828800" cy="18288"/>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74320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2743200"/>
            <a:ext cx="54864"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85800" y="2852928"/>
            <a:ext cx="384048" cy="384048"/>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2852928"/>
            <a:ext cx="384048" cy="384048"/>
          </a:xfrm>
          <a:prstGeom prst="rect">
            <a:avLst/>
          </a:prstGeom>
          <a:noFill/>
        </p:spPr>
        <p:txBody>
          <a:bodyPr wrap="square" anchor="ctr">
            <a:spAutoFit/>
          </a:bodyPr>
          <a:lstStyle/>
          <a:p>
            <a:pPr algn="ctr">
              <a:defRPr sz="1400" b="1">
                <a:solidFill>
                  <a:srgbClr val="FFFFFF"/>
                </a:solidFill>
                <a:latin typeface="Meiryo"/>
              </a:defRPr>
            </a:pPr>
            <a:r>
              <a:t>1</a:t>
            </a:r>
          </a:p>
        </p:txBody>
      </p:sp>
      <p:sp>
        <p:nvSpPr>
          <p:cNvPr id="24" name="TextBox 23"/>
          <p:cNvSpPr txBox="1"/>
          <p:nvPr/>
        </p:nvSpPr>
        <p:spPr>
          <a:xfrm>
            <a:off x="1188720" y="2816352"/>
            <a:ext cx="10271455" cy="548640"/>
          </a:xfrm>
          <a:prstGeom prst="rect">
            <a:avLst/>
          </a:prstGeom>
          <a:noFill/>
        </p:spPr>
        <p:txBody>
          <a:bodyPr wrap="square">
            <a:spAutoFit/>
          </a:bodyPr>
          <a:lstStyle/>
          <a:p>
            <a:pPr algn="l">
              <a:defRPr sz="1200" b="0">
                <a:solidFill>
                  <a:srgbClr val="1A1A2E"/>
                </a:solidFill>
                <a:latin typeface="Meiryo"/>
              </a:defRPr>
            </a:pPr>
            <a:r>
              <a:t>Anthropicが300億ドル調達（評価額3800億ドル）、Claude Code年間売上25億ドル・企業契約4倍増と急成長を示す</a:t>
            </a:r>
          </a:p>
        </p:txBody>
      </p:sp>
      <p:sp>
        <p:nvSpPr>
          <p:cNvPr id="25" name="Rectangle 24"/>
          <p:cNvSpPr/>
          <p:nvPr/>
        </p:nvSpPr>
        <p:spPr>
          <a:xfrm>
            <a:off x="548640" y="352044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3520440"/>
            <a:ext cx="54864" cy="685800"/>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85800" y="3630168"/>
            <a:ext cx="384048" cy="384048"/>
          </a:xfrm>
          <a:prstGeom prst="ellipse">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3630168"/>
            <a:ext cx="384048" cy="384048"/>
          </a:xfrm>
          <a:prstGeom prst="rect">
            <a:avLst/>
          </a:prstGeom>
          <a:noFill/>
        </p:spPr>
        <p:txBody>
          <a:bodyPr wrap="square" anchor="ctr">
            <a:spAutoFit/>
          </a:bodyPr>
          <a:lstStyle/>
          <a:p>
            <a:pPr algn="ctr">
              <a:defRPr sz="1400" b="1">
                <a:solidFill>
                  <a:srgbClr val="FFFFFF"/>
                </a:solidFill>
                <a:latin typeface="Meiryo"/>
              </a:defRPr>
            </a:pPr>
            <a:r>
              <a:t>2</a:t>
            </a:r>
          </a:p>
        </p:txBody>
      </p:sp>
      <p:sp>
        <p:nvSpPr>
          <p:cNvPr id="29" name="TextBox 28"/>
          <p:cNvSpPr txBox="1"/>
          <p:nvPr/>
        </p:nvSpPr>
        <p:spPr>
          <a:xfrm>
            <a:off x="1188720" y="3593592"/>
            <a:ext cx="10271455" cy="548640"/>
          </a:xfrm>
          <a:prstGeom prst="rect">
            <a:avLst/>
          </a:prstGeom>
          <a:noFill/>
        </p:spPr>
        <p:txBody>
          <a:bodyPr wrap="square">
            <a:spAutoFit/>
          </a:bodyPr>
          <a:lstStyle/>
          <a:p>
            <a:pPr algn="l">
              <a:defRPr sz="1200" b="0">
                <a:solidFill>
                  <a:srgbClr val="1A1A2E"/>
                </a:solidFill>
                <a:latin typeface="Meiryo"/>
              </a:defRPr>
            </a:pPr>
            <a:r>
              <a:t>OpenAI・Anthropicの安全性研究者が相次ぎ退職、Matt Shumerのパンデミック前夜比較投稿が5600万ビューを記録しAI脅威論が再燃</a:t>
            </a:r>
          </a:p>
        </p:txBody>
      </p:sp>
      <p:sp>
        <p:nvSpPr>
          <p:cNvPr id="30" name="Rectangle 29"/>
          <p:cNvSpPr/>
          <p:nvPr/>
        </p:nvSpPr>
        <p:spPr>
          <a:xfrm>
            <a:off x="548640" y="429768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4297680"/>
            <a:ext cx="54864" cy="685800"/>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85800" y="4407408"/>
            <a:ext cx="384048" cy="384048"/>
          </a:xfrm>
          <a:prstGeom prst="ellipse">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5800" y="4407408"/>
            <a:ext cx="384048" cy="384048"/>
          </a:xfrm>
          <a:prstGeom prst="rect">
            <a:avLst/>
          </a:prstGeom>
          <a:noFill/>
        </p:spPr>
        <p:txBody>
          <a:bodyPr wrap="square" anchor="ctr">
            <a:spAutoFit/>
          </a:bodyPr>
          <a:lstStyle/>
          <a:p>
            <a:pPr algn="ctr">
              <a:defRPr sz="1400" b="1">
                <a:solidFill>
                  <a:srgbClr val="FFFFFF"/>
                </a:solidFill>
                <a:latin typeface="Meiryo"/>
              </a:defRPr>
            </a:pPr>
            <a:r>
              <a:t>3</a:t>
            </a:r>
          </a:p>
        </p:txBody>
      </p:sp>
      <p:sp>
        <p:nvSpPr>
          <p:cNvPr id="34" name="TextBox 33"/>
          <p:cNvSpPr txBox="1"/>
          <p:nvPr/>
        </p:nvSpPr>
        <p:spPr>
          <a:xfrm>
            <a:off x="1188720" y="4370832"/>
            <a:ext cx="10271455" cy="548640"/>
          </a:xfrm>
          <a:prstGeom prst="rect">
            <a:avLst/>
          </a:prstGeom>
          <a:noFill/>
        </p:spPr>
        <p:txBody>
          <a:bodyPr wrap="square">
            <a:spAutoFit/>
          </a:bodyPr>
          <a:lstStyle/>
          <a:p>
            <a:pPr algn="l">
              <a:defRPr sz="1200" b="0">
                <a:solidFill>
                  <a:srgbClr val="1A1A2E"/>
                </a:solidFill>
                <a:latin typeface="Meiryo"/>
              </a:defRPr>
            </a:pPr>
            <a:r>
              <a:t>MicrosoftのAI責任者Mustafa SuleymanがOpenAI依存脱却と「真の自給自足」を宣言、自社モデル開発を加速</a:t>
            </a:r>
          </a:p>
        </p:txBody>
      </p:sp>
      <p:sp>
        <p:nvSpPr>
          <p:cNvPr id="35" name="Rectangle 34"/>
          <p:cNvSpPr/>
          <p:nvPr/>
        </p:nvSpPr>
        <p:spPr>
          <a:xfrm>
            <a:off x="548640" y="507492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48640" y="5074920"/>
            <a:ext cx="54864" cy="685800"/>
          </a:xfrm>
          <a:prstGeom prst="rect">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85800" y="5184648"/>
            <a:ext cx="384048" cy="384048"/>
          </a:xfrm>
          <a:prstGeom prst="ellipse">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5184648"/>
            <a:ext cx="384048" cy="384048"/>
          </a:xfrm>
          <a:prstGeom prst="rect">
            <a:avLst/>
          </a:prstGeom>
          <a:noFill/>
        </p:spPr>
        <p:txBody>
          <a:bodyPr wrap="square" anchor="ctr">
            <a:spAutoFit/>
          </a:bodyPr>
          <a:lstStyle/>
          <a:p>
            <a:pPr algn="ctr">
              <a:defRPr sz="1400" b="1">
                <a:solidFill>
                  <a:srgbClr val="FFFFFF"/>
                </a:solidFill>
                <a:latin typeface="Meiryo"/>
              </a:defRPr>
            </a:pPr>
            <a:r>
              <a:t>4</a:t>
            </a:r>
          </a:p>
        </p:txBody>
      </p:sp>
      <p:sp>
        <p:nvSpPr>
          <p:cNvPr id="39" name="TextBox 38"/>
          <p:cNvSpPr txBox="1"/>
          <p:nvPr/>
        </p:nvSpPr>
        <p:spPr>
          <a:xfrm>
            <a:off x="1188720" y="5148072"/>
            <a:ext cx="10271455" cy="548640"/>
          </a:xfrm>
          <a:prstGeom prst="rect">
            <a:avLst/>
          </a:prstGeom>
          <a:noFill/>
        </p:spPr>
        <p:txBody>
          <a:bodyPr wrap="square">
            <a:spAutoFit/>
          </a:bodyPr>
          <a:lstStyle/>
          <a:p>
            <a:pPr algn="l">
              <a:defRPr sz="1200" b="0">
                <a:solidFill>
                  <a:srgbClr val="1A1A2E"/>
                </a:solidFill>
                <a:latin typeface="Meiryo"/>
              </a:defRPr>
            </a:pPr>
            <a:r>
              <a:t>Big Tech 4社（Amazon/Google/Meta/Microsoft）のAI設備投資が2026年に合計6500-6900億ドルに到達、投資家の不安が増大</a:t>
            </a:r>
          </a:p>
        </p:txBody>
      </p:sp>
      <p:sp>
        <p:nvSpPr>
          <p:cNvPr id="40" name="Rectangle 39"/>
          <p:cNvSpPr/>
          <p:nvPr/>
        </p:nvSpPr>
        <p:spPr>
          <a:xfrm>
            <a:off x="548640" y="585216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 y="5852160"/>
            <a:ext cx="54864"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85800" y="5961888"/>
            <a:ext cx="384048" cy="384048"/>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85800" y="5961888"/>
            <a:ext cx="384048" cy="384048"/>
          </a:xfrm>
          <a:prstGeom prst="rect">
            <a:avLst/>
          </a:prstGeom>
          <a:noFill/>
        </p:spPr>
        <p:txBody>
          <a:bodyPr wrap="square" anchor="ctr">
            <a:spAutoFit/>
          </a:bodyPr>
          <a:lstStyle/>
          <a:p>
            <a:pPr algn="ctr">
              <a:defRPr sz="1400" b="1">
                <a:solidFill>
                  <a:srgbClr val="FFFFFF"/>
                </a:solidFill>
                <a:latin typeface="Meiryo"/>
              </a:defRPr>
            </a:pPr>
            <a:r>
              <a:t>5</a:t>
            </a:r>
          </a:p>
        </p:txBody>
      </p:sp>
      <p:sp>
        <p:nvSpPr>
          <p:cNvPr id="44" name="TextBox 43"/>
          <p:cNvSpPr txBox="1"/>
          <p:nvPr/>
        </p:nvSpPr>
        <p:spPr>
          <a:xfrm>
            <a:off x="1188720" y="5925312"/>
            <a:ext cx="10271455" cy="548640"/>
          </a:xfrm>
          <a:prstGeom prst="rect">
            <a:avLst/>
          </a:prstGeom>
          <a:noFill/>
        </p:spPr>
        <p:txBody>
          <a:bodyPr wrap="square">
            <a:spAutoFit/>
          </a:bodyPr>
          <a:lstStyle/>
          <a:p>
            <a:pPr algn="l">
              <a:defRPr sz="1200" b="0">
                <a:solidFill>
                  <a:srgbClr val="1A1A2E"/>
                </a:solidFill>
                <a:latin typeface="Meiryo"/>
              </a:defRPr>
            </a:pPr>
            <a:r>
              <a:t>Anthropicが米国AI規制推進団体に2000万ドル寄付、OpenAIの1億2500万ドル超のPACと対照的なアプローチ</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企業動向比較マトリクス</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2026-02-14  |  Page 2</a:t>
            </a:r>
          </a:p>
        </p:txBody>
      </p:sp>
      <p:graphicFrame>
        <p:nvGraphicFramePr>
          <p:cNvPr id="6" name="Table 5"/>
          <p:cNvGraphicFramePr>
            <a:graphicFrameLocks noGrp="1"/>
          </p:cNvGraphicFramePr>
          <p:nvPr/>
        </p:nvGraphicFramePr>
        <p:xfrm>
          <a:off x="548640" y="960120"/>
          <a:ext cx="11094415" cy="4480559"/>
        </p:xfrm>
        <a:graphic>
          <a:graphicData uri="http://schemas.openxmlformats.org/drawingml/2006/table">
            <a:tbl>
              <a:tblPr firstRow="1" bandRow="1">
                <a:tableStyleId>{5C22544A-7EE6-4342-B048-85BDC9FD1C3A}</a:tableStyleId>
              </a:tblPr>
              <a:tblGrid>
                <a:gridCol w="1645920"/>
                <a:gridCol w="2011680"/>
                <a:gridCol w="3474720"/>
                <a:gridCol w="914400"/>
                <a:gridCol w="3047695"/>
              </a:tblGrid>
              <a:tr h="640079">
                <a:tc>
                  <a:txBody>
                    <a:bodyPr/>
                    <a:lstStyle/>
                    <a:p>
                      <a:pPr algn="ctr">
                        <a:defRPr sz="1200" b="1">
                          <a:solidFill>
                            <a:srgbClr val="FFFFFF"/>
                          </a:solidFill>
                          <a:latin typeface="Meiryo"/>
                        </a:defRPr>
                      </a:pPr>
                      <a:r>
                        <a:t>企業</a:t>
                      </a:r>
                    </a:p>
                  </a:txBody>
                  <a:tcPr>
                    <a:solidFill>
                      <a:srgbClr val="005BAB"/>
                    </a:solidFill>
                  </a:tcPr>
                </a:tc>
                <a:tc>
                  <a:txBody>
                    <a:bodyPr/>
                    <a:lstStyle/>
                    <a:p>
                      <a:pPr algn="ctr">
                        <a:defRPr sz="1200" b="1">
                          <a:solidFill>
                            <a:srgbClr val="FFFFFF"/>
                          </a:solidFill>
                          <a:latin typeface="Meiryo"/>
                        </a:defRPr>
                      </a:pPr>
                      <a:r>
                        <a:t>注力分野</a:t>
                      </a:r>
                    </a:p>
                  </a:txBody>
                  <a:tcPr>
                    <a:solidFill>
                      <a:srgbClr val="005BAB"/>
                    </a:solidFill>
                  </a:tcPr>
                </a:tc>
                <a:tc>
                  <a:txBody>
                    <a:bodyPr/>
                    <a:lstStyle/>
                    <a:p>
                      <a:pPr algn="ctr">
                        <a:defRPr sz="1200" b="1">
                          <a:solidFill>
                            <a:srgbClr val="FFFFFF"/>
                          </a:solidFill>
                          <a:latin typeface="Meiryo"/>
                        </a:defRPr>
                      </a:pPr>
                      <a:r>
                        <a:t>主要アクション</a:t>
                      </a:r>
                    </a:p>
                  </a:txBody>
                  <a:tcPr>
                    <a:solidFill>
                      <a:srgbClr val="005BAB"/>
                    </a:solidFill>
                  </a:tcPr>
                </a:tc>
                <a:tc>
                  <a:txBody>
                    <a:bodyPr/>
                    <a:lstStyle/>
                    <a:p>
                      <a:pPr algn="ctr">
                        <a:defRPr sz="1200" b="1">
                          <a:solidFill>
                            <a:srgbClr val="FFFFFF"/>
                          </a:solidFill>
                          <a:latin typeface="Meiryo"/>
                        </a:defRPr>
                      </a:pPr>
                      <a:r>
                        <a:t>動向</a:t>
                      </a:r>
                    </a:p>
                  </a:txBody>
                  <a:tcPr>
                    <a:solidFill>
                      <a:srgbClr val="005BAB"/>
                    </a:solidFill>
                  </a:tcPr>
                </a:tc>
                <a:tc>
                  <a:txBody>
                    <a:bodyPr/>
                    <a:lstStyle/>
                    <a:p>
                      <a:pPr algn="ctr">
                        <a:defRPr sz="1200" b="1">
                          <a:solidFill>
                            <a:srgbClr val="FFFFFF"/>
                          </a:solidFill>
                          <a:latin typeface="Meiryo"/>
                        </a:defRPr>
                      </a:pPr>
                      <a:r>
                        <a:t>強み</a:t>
                      </a:r>
                    </a:p>
                  </a:txBody>
                  <a:tcPr>
                    <a:solidFill>
                      <a:srgbClr val="005BAB"/>
                    </a:solidFill>
                  </a:tcPr>
                </a:tc>
              </a:tr>
              <a:tr h="640079">
                <a:tc>
                  <a:txBody>
                    <a:bodyPr/>
                    <a:lstStyle/>
                    <a:p>
                      <a:pPr>
                        <a:defRPr sz="1100" b="1">
                          <a:solidFill>
                            <a:srgbClr val="1A1A2E"/>
                          </a:solidFill>
                          <a:latin typeface="Meiryo"/>
                        </a:defRPr>
                      </a:pPr>
                      <a:r>
                        <a:t>Anthropic</a:t>
                      </a:r>
                    </a:p>
                  </a:txBody>
                  <a:tcPr>
                    <a:solidFill>
                      <a:srgbClr val="FFFFFF"/>
                    </a:solidFill>
                  </a:tcPr>
                </a:tc>
                <a:tc>
                  <a:txBody>
                    <a:bodyPr/>
                    <a:lstStyle/>
                    <a:p>
                      <a:pPr>
                        <a:defRPr sz="1100">
                          <a:solidFill>
                            <a:srgbClr val="1A1A2E"/>
                          </a:solidFill>
                          <a:latin typeface="Meiryo"/>
                        </a:defRPr>
                      </a:pPr>
                      <a:r>
                        <a:t>エンタープライズAI・コーディングエージェント</a:t>
                      </a:r>
                    </a:p>
                  </a:txBody>
                  <a:tcPr>
                    <a:solidFill>
                      <a:srgbClr val="FFFFFF"/>
                    </a:solidFill>
                  </a:tcPr>
                </a:tc>
                <a:tc>
                  <a:txBody>
                    <a:bodyPr/>
                    <a:lstStyle/>
                    <a:p>
                      <a:pPr>
                        <a:defRPr sz="1100">
                          <a:solidFill>
                            <a:srgbClr val="1A1A2E"/>
                          </a:solidFill>
                          <a:latin typeface="Meiryo"/>
                        </a:defRPr>
                      </a:pPr>
                      <a:r>
                        <a:t>300億ドル調達、Claude Code年間25億ドル売上、Opus 4.6リリース</a:t>
                      </a:r>
                    </a:p>
                  </a:txBody>
                  <a:tcPr>
                    <a:solidFill>
                      <a:srgbClr val="FFFFFF"/>
                    </a:solidFill>
                  </a:tcPr>
                </a:tc>
                <a:tc>
                  <a:txBody>
                    <a:bodyPr/>
                    <a:lstStyle/>
                    <a:p>
                      <a:pPr algn="ctr">
                        <a:defRPr sz="1400" b="1">
                          <a:solidFill>
                            <a:srgbClr val="007A33"/>
                          </a:solidFill>
                          <a:latin typeface="Meiryo"/>
                        </a:defRPr>
                      </a:pPr>
                      <a:r>
                        <a:t>▲</a:t>
                      </a:r>
                    </a:p>
                  </a:txBody>
                  <a:tcPr>
                    <a:solidFill>
                      <a:srgbClr val="FFFFFF"/>
                    </a:solidFill>
                  </a:tcPr>
                </a:tc>
                <a:tc>
                  <a:txBody>
                    <a:bodyPr/>
                    <a:lstStyle/>
                    <a:p>
                      <a:pPr>
                        <a:defRPr sz="1100">
                          <a:solidFill>
                            <a:srgbClr val="1A1A2E"/>
                          </a:solidFill>
                          <a:latin typeface="Meiryo"/>
                        </a:defRPr>
                      </a:pPr>
                      <a:r>
                        <a:t>企業向け収益比率80%、Claude Codeの急成長、広告非掲載の差別化</a:t>
                      </a:r>
                    </a:p>
                  </a:txBody>
                  <a:tcPr>
                    <a:solidFill>
                      <a:srgbClr val="FFFFFF"/>
                    </a:solidFill>
                  </a:tcPr>
                </a:tc>
              </a:tr>
              <a:tr h="640079">
                <a:tc>
                  <a:txBody>
                    <a:bodyPr/>
                    <a:lstStyle/>
                    <a:p>
                      <a:pPr>
                        <a:defRPr sz="1100" b="1">
                          <a:solidFill>
                            <a:srgbClr val="1A1A2E"/>
                          </a:solidFill>
                          <a:latin typeface="Meiryo"/>
                        </a:defRPr>
                      </a:pPr>
                      <a:r>
                        <a:t>OpenAI</a:t>
                      </a:r>
                    </a:p>
                  </a:txBody>
                  <a:tcPr>
                    <a:solidFill>
                      <a:srgbClr val="E8F1F8"/>
                    </a:solidFill>
                  </a:tcPr>
                </a:tc>
                <a:tc>
                  <a:txBody>
                    <a:bodyPr/>
                    <a:lstStyle/>
                    <a:p>
                      <a:pPr>
                        <a:defRPr sz="1100">
                          <a:solidFill>
                            <a:srgbClr val="1A1A2E"/>
                          </a:solidFill>
                          <a:latin typeface="Meiryo"/>
                        </a:defRPr>
                      </a:pPr>
                      <a:r>
                        <a:t>消費者AI・AGI開発</a:t>
                      </a:r>
                    </a:p>
                  </a:txBody>
                  <a:tcPr>
                    <a:solidFill>
                      <a:srgbClr val="E8F1F8"/>
                    </a:solidFill>
                  </a:tcPr>
                </a:tc>
                <a:tc>
                  <a:txBody>
                    <a:bodyPr/>
                    <a:lstStyle/>
                    <a:p>
                      <a:pPr>
                        <a:defRPr sz="1100">
                          <a:solidFill>
                            <a:srgbClr val="1A1A2E"/>
                          </a:solidFill>
                          <a:latin typeface="Meiryo"/>
                        </a:defRPr>
                      </a:pPr>
                      <a:r>
                        <a:t>1000億ドル追加調達を目指す、GPT-5.3 Codexリリース、ミッションアラインメントチーム解体</a:t>
                      </a:r>
                    </a:p>
                  </a:txBody>
                  <a:tcPr>
                    <a:solidFill>
                      <a:srgbClr val="E8F1F8"/>
                    </a:solidFill>
                  </a:tcPr>
                </a:tc>
                <a:tc>
                  <a:txBody>
                    <a:bodyPr/>
                    <a:lstStyle/>
                    <a:p>
                      <a:pPr algn="ctr">
                        <a:defRPr sz="1400" b="1">
                          <a:solidFill>
                            <a:srgbClr val="6C757D"/>
                          </a:solidFill>
                          <a:latin typeface="Meiryo"/>
                        </a:defRPr>
                      </a:pPr>
                      <a:r>
                        <a:t>◆</a:t>
                      </a:r>
                    </a:p>
                  </a:txBody>
                  <a:tcPr>
                    <a:solidFill>
                      <a:srgbClr val="E8F1F8"/>
                    </a:solidFill>
                  </a:tcPr>
                </a:tc>
                <a:tc>
                  <a:txBody>
                    <a:bodyPr/>
                    <a:lstStyle/>
                    <a:p>
                      <a:pPr>
                        <a:defRPr sz="1100">
                          <a:solidFill>
                            <a:srgbClr val="1A1A2E"/>
                          </a:solidFill>
                          <a:latin typeface="Meiryo"/>
                        </a:defRPr>
                      </a:pPr>
                      <a:r>
                        <a:t>ChatGPTの消費者基盤、SoftBankとのインフラ提携（1.4兆ドル）</a:t>
                      </a:r>
                    </a:p>
                  </a:txBody>
                  <a:tcPr>
                    <a:solidFill>
                      <a:srgbClr val="E8F1F8"/>
                    </a:solidFill>
                  </a:tcPr>
                </a:tc>
              </a:tr>
              <a:tr h="640079">
                <a:tc>
                  <a:txBody>
                    <a:bodyPr/>
                    <a:lstStyle/>
                    <a:p>
                      <a:pPr>
                        <a:defRPr sz="1100" b="1">
                          <a:solidFill>
                            <a:srgbClr val="1A1A2E"/>
                          </a:solidFill>
                          <a:latin typeface="Meiryo"/>
                        </a:defRPr>
                      </a:pPr>
                      <a:r>
                        <a:t>Microsoft</a:t>
                      </a:r>
                    </a:p>
                  </a:txBody>
                  <a:tcPr>
                    <a:solidFill>
                      <a:srgbClr val="FFFFFF"/>
                    </a:solidFill>
                  </a:tcPr>
                </a:tc>
                <a:tc>
                  <a:txBody>
                    <a:bodyPr/>
                    <a:lstStyle/>
                    <a:p>
                      <a:pPr>
                        <a:defRPr sz="1100">
                          <a:solidFill>
                            <a:srgbClr val="1A1A2E"/>
                          </a:solidFill>
                          <a:latin typeface="Meiryo"/>
                        </a:defRPr>
                      </a:pPr>
                      <a:r>
                        <a:t>AI自給自足戦略</a:t>
                      </a:r>
                    </a:p>
                  </a:txBody>
                  <a:tcPr>
                    <a:solidFill>
                      <a:srgbClr val="FFFFFF"/>
                    </a:solidFill>
                  </a:tcPr>
                </a:tc>
                <a:tc>
                  <a:txBody>
                    <a:bodyPr/>
                    <a:lstStyle/>
                    <a:p>
                      <a:pPr>
                        <a:defRPr sz="1100">
                          <a:solidFill>
                            <a:srgbClr val="1A1A2E"/>
                          </a:solidFill>
                          <a:latin typeface="Meiryo"/>
                        </a:defRPr>
                      </a:pPr>
                      <a:r>
                        <a:t>Mustafa SuleymanがOpenAI依存脱却を宣言、自社AIモデル開発加速、Anthropicにも投資</a:t>
                      </a:r>
                    </a:p>
                  </a:txBody>
                  <a:tcPr>
                    <a:solidFill>
                      <a:srgbClr val="FFFFFF"/>
                    </a:solidFill>
                  </a:tcPr>
                </a:tc>
                <a:tc>
                  <a:txBody>
                    <a:bodyPr/>
                    <a:lstStyle/>
                    <a:p>
                      <a:pPr algn="ctr">
                        <a:defRPr sz="1400" b="1">
                          <a:solidFill>
                            <a:srgbClr val="007A33"/>
                          </a:solidFill>
                          <a:latin typeface="Meiryo"/>
                        </a:defRPr>
                      </a:pPr>
                      <a:r>
                        <a:t>▲</a:t>
                      </a:r>
                    </a:p>
                  </a:txBody>
                  <a:tcPr>
                    <a:solidFill>
                      <a:srgbClr val="FFFFFF"/>
                    </a:solidFill>
                  </a:tcPr>
                </a:tc>
                <a:tc>
                  <a:txBody>
                    <a:bodyPr/>
                    <a:lstStyle/>
                    <a:p>
                      <a:pPr>
                        <a:defRPr sz="1100">
                          <a:solidFill>
                            <a:srgbClr val="1A1A2E"/>
                          </a:solidFill>
                          <a:latin typeface="Meiryo"/>
                        </a:defRPr>
                      </a:pPr>
                      <a:r>
                        <a:t>Azure基盤、エンタープライズ顧客基盤、複数AI企業への分散投資</a:t>
                      </a:r>
                    </a:p>
                  </a:txBody>
                  <a:tcPr>
                    <a:solidFill>
                      <a:srgbClr val="FFFFFF"/>
                    </a:solidFill>
                  </a:tcPr>
                </a:tc>
              </a:tr>
              <a:tr h="640079">
                <a:tc>
                  <a:txBody>
                    <a:bodyPr/>
                    <a:lstStyle/>
                    <a:p>
                      <a:pPr>
                        <a:defRPr sz="1100" b="1">
                          <a:solidFill>
                            <a:srgbClr val="1A1A2E"/>
                          </a:solidFill>
                          <a:latin typeface="Meiryo"/>
                        </a:defRPr>
                      </a:pPr>
                      <a:r>
                        <a:t>Google</a:t>
                      </a:r>
                    </a:p>
                  </a:txBody>
                  <a:tcPr>
                    <a:solidFill>
                      <a:srgbClr val="E8F1F8"/>
                    </a:solidFill>
                  </a:tcPr>
                </a:tc>
                <a:tc>
                  <a:txBody>
                    <a:bodyPr/>
                    <a:lstStyle/>
                    <a:p>
                      <a:pPr>
                        <a:defRPr sz="1100">
                          <a:solidFill>
                            <a:srgbClr val="1A1A2E"/>
                          </a:solidFill>
                          <a:latin typeface="Meiryo"/>
                        </a:defRPr>
                      </a:pPr>
                      <a:r>
                        <a:t>検索AI・広告革新</a:t>
                      </a:r>
                    </a:p>
                  </a:txBody>
                  <a:tcPr>
                    <a:solidFill>
                      <a:srgbClr val="E8F1F8"/>
                    </a:solidFill>
                  </a:tcPr>
                </a:tc>
                <a:tc>
                  <a:txBody>
                    <a:bodyPr/>
                    <a:lstStyle/>
                    <a:p>
                      <a:pPr>
                        <a:defRPr sz="1100">
                          <a:solidFill>
                            <a:srgbClr val="1A1A2E"/>
                          </a:solidFill>
                          <a:latin typeface="Meiryo"/>
                        </a:defRPr>
                      </a:pPr>
                      <a:r>
                        <a:t>AI広告フォーマット再発明、設備投資1850億ドル（2027年は2500億ドル見通し）、300億ドル社債発行</a:t>
                      </a:r>
                    </a:p>
                  </a:txBody>
                  <a:tcPr>
                    <a:solidFill>
                      <a:srgbClr val="E8F1F8"/>
                    </a:solidFill>
                  </a:tcPr>
                </a:tc>
                <a:tc>
                  <a:txBody>
                    <a:bodyPr/>
                    <a:lstStyle/>
                    <a:p>
                      <a:pPr algn="ctr">
                        <a:defRPr sz="1400" b="1">
                          <a:solidFill>
                            <a:srgbClr val="6C757D"/>
                          </a:solidFill>
                          <a:latin typeface="Meiryo"/>
                        </a:defRPr>
                      </a:pPr>
                      <a:r>
                        <a:t>◆</a:t>
                      </a:r>
                    </a:p>
                  </a:txBody>
                  <a:tcPr>
                    <a:solidFill>
                      <a:srgbClr val="E8F1F8"/>
                    </a:solidFill>
                  </a:tcPr>
                </a:tc>
                <a:tc>
                  <a:txBody>
                    <a:bodyPr/>
                    <a:lstStyle/>
                    <a:p>
                      <a:pPr>
                        <a:defRPr sz="1100">
                          <a:solidFill>
                            <a:srgbClr val="1A1A2E"/>
                          </a:solidFill>
                          <a:latin typeface="Meiryo"/>
                        </a:defRPr>
                      </a:pPr>
                      <a:r>
                        <a:t>Geminiモデル、検索広告との統合、クラウド成長</a:t>
                      </a:r>
                    </a:p>
                  </a:txBody>
                  <a:tcPr>
                    <a:solidFill>
                      <a:srgbClr val="E8F1F8"/>
                    </a:solidFill>
                  </a:tcPr>
                </a:tc>
              </a:tr>
              <a:tr h="640079">
                <a:tc>
                  <a:txBody>
                    <a:bodyPr/>
                    <a:lstStyle/>
                    <a:p>
                      <a:pPr>
                        <a:defRPr sz="1100" b="1">
                          <a:solidFill>
                            <a:srgbClr val="1A1A2E"/>
                          </a:solidFill>
                          <a:latin typeface="Meiryo"/>
                        </a:defRPr>
                      </a:pPr>
                      <a:r>
                        <a:t>Meta</a:t>
                      </a:r>
                    </a:p>
                  </a:txBody>
                  <a:tcPr>
                    <a:solidFill>
                      <a:srgbClr val="FFFFFF"/>
                    </a:solidFill>
                  </a:tcPr>
                </a:tc>
                <a:tc>
                  <a:txBody>
                    <a:bodyPr/>
                    <a:lstStyle/>
                    <a:p>
                      <a:pPr>
                        <a:defRPr sz="1100">
                          <a:solidFill>
                            <a:srgbClr val="1A1A2E"/>
                          </a:solidFill>
                          <a:latin typeface="Meiryo"/>
                        </a:defRPr>
                      </a:pPr>
                      <a:r>
                        <a:t>AI基盤モデル・消費者エンゲージメント</a:t>
                      </a:r>
                    </a:p>
                  </a:txBody>
                  <a:tcPr>
                    <a:solidFill>
                      <a:srgbClr val="FFFFFF"/>
                    </a:solidFill>
                  </a:tcPr>
                </a:tc>
                <a:tc>
                  <a:txBody>
                    <a:bodyPr/>
                    <a:lstStyle/>
                    <a:p>
                      <a:pPr>
                        <a:defRPr sz="1100">
                          <a:solidFill>
                            <a:srgbClr val="1A1A2E"/>
                          </a:solidFill>
                          <a:latin typeface="Meiryo"/>
                        </a:defRPr>
                      </a:pPr>
                      <a:r>
                        <a:t>設備投資1150-1350億ドル、フリーキャッシュフロー90%減少見通し</a:t>
                      </a:r>
                    </a:p>
                  </a:txBody>
                  <a:tcPr>
                    <a:solidFill>
                      <a:srgbClr val="FFFFFF"/>
                    </a:solidFill>
                  </a:tcPr>
                </a:tc>
                <a:tc>
                  <a:txBody>
                    <a:bodyPr/>
                    <a:lstStyle/>
                    <a:p>
                      <a:pPr algn="ctr">
                        <a:defRPr sz="1400" b="1">
                          <a:solidFill>
                            <a:srgbClr val="CC3333"/>
                          </a:solidFill>
                          <a:latin typeface="Meiryo"/>
                        </a:defRPr>
                      </a:pPr>
                      <a:r>
                        <a:t>▼</a:t>
                      </a:r>
                    </a:p>
                  </a:txBody>
                  <a:tcPr>
                    <a:solidFill>
                      <a:srgbClr val="FFFFFF"/>
                    </a:solidFill>
                  </a:tcPr>
                </a:tc>
                <a:tc>
                  <a:txBody>
                    <a:bodyPr/>
                    <a:lstStyle/>
                    <a:p>
                      <a:pPr>
                        <a:defRPr sz="1100">
                          <a:solidFill>
                            <a:srgbClr val="1A1A2E"/>
                          </a:solidFill>
                          <a:latin typeface="Meiryo"/>
                        </a:defRPr>
                      </a:pPr>
                      <a:r>
                        <a:t>Llamaオープンソース戦略、ソーシャルプラットフォームのユーザーデータ</a:t>
                      </a:r>
                    </a:p>
                  </a:txBody>
                  <a:tcPr>
                    <a:solidFill>
                      <a:srgbClr val="FFFFFF"/>
                    </a:solidFill>
                  </a:tcPr>
                </a:tc>
              </a:tr>
              <a:tr h="640085">
                <a:tc>
                  <a:txBody>
                    <a:bodyPr/>
                    <a:lstStyle/>
                    <a:p>
                      <a:pPr>
                        <a:defRPr sz="1100" b="1">
                          <a:solidFill>
                            <a:srgbClr val="1A1A2E"/>
                          </a:solidFill>
                          <a:latin typeface="Meiryo"/>
                        </a:defRPr>
                      </a:pPr>
                      <a:r>
                        <a:t>xAI</a:t>
                      </a:r>
                    </a:p>
                  </a:txBody>
                  <a:tcPr>
                    <a:solidFill>
                      <a:srgbClr val="E8F1F8"/>
                    </a:solidFill>
                  </a:tcPr>
                </a:tc>
                <a:tc>
                  <a:txBody>
                    <a:bodyPr/>
                    <a:lstStyle/>
                    <a:p>
                      <a:pPr>
                        <a:defRPr sz="1100">
                          <a:solidFill>
                            <a:srgbClr val="1A1A2E"/>
                          </a:solidFill>
                          <a:latin typeface="Meiryo"/>
                        </a:defRPr>
                      </a:pPr>
                      <a:r>
                        <a:t>宇宙AIインフラ</a:t>
                      </a:r>
                    </a:p>
                  </a:txBody>
                  <a:tcPr>
                    <a:solidFill>
                      <a:srgbClr val="E8F1F8"/>
                    </a:solidFill>
                  </a:tcPr>
                </a:tc>
                <a:tc>
                  <a:txBody>
                    <a:bodyPr/>
                    <a:lstStyle/>
                    <a:p>
                      <a:pPr>
                        <a:defRPr sz="1100">
                          <a:solidFill>
                            <a:srgbClr val="1A1A2E"/>
                          </a:solidFill>
                          <a:latin typeface="Meiryo"/>
                        </a:defRPr>
                      </a:pPr>
                      <a:r>
                        <a:t>SpaceXとの合併発表、2-3年以内に宇宙でのAI計算コスト最安化を目指す</a:t>
                      </a:r>
                    </a:p>
                  </a:txBody>
                  <a:tcPr>
                    <a:solidFill>
                      <a:srgbClr val="E8F1F8"/>
                    </a:solidFill>
                  </a:tcPr>
                </a:tc>
                <a:tc>
                  <a:txBody>
                    <a:bodyPr/>
                    <a:lstStyle/>
                    <a:p>
                      <a:pPr algn="ctr">
                        <a:defRPr sz="1400" b="1">
                          <a:solidFill>
                            <a:srgbClr val="007A33"/>
                          </a:solidFill>
                          <a:latin typeface="Meiryo"/>
                        </a:defRPr>
                      </a:pPr>
                      <a:r>
                        <a:t>▲</a:t>
                      </a:r>
                    </a:p>
                  </a:txBody>
                  <a:tcPr>
                    <a:solidFill>
                      <a:srgbClr val="E8F1F8"/>
                    </a:solidFill>
                  </a:tcPr>
                </a:tc>
                <a:tc>
                  <a:txBody>
                    <a:bodyPr/>
                    <a:lstStyle/>
                    <a:p>
                      <a:pPr>
                        <a:defRPr sz="1100">
                          <a:solidFill>
                            <a:srgbClr val="1A1A2E"/>
                          </a:solidFill>
                          <a:latin typeface="Meiryo"/>
                        </a:defRPr>
                      </a:pPr>
                      <a:r>
                        <a:t>SpaceXのロケット・衛星インフラ、Muskのビジョン</a:t>
                      </a:r>
                    </a:p>
                  </a:txBody>
                  <a:tcPr>
                    <a:solidFill>
                      <a:srgbClr val="E8F1F8"/>
                    </a:solidFill>
                  </a:tcPr>
                </a:tc>
              </a:tr>
            </a:tbl>
          </a:graphicData>
        </a:graphic>
      </p:graphicFrame>
      <p:sp>
        <p:nvSpPr>
          <p:cNvPr id="7" name="Rounded Rectangle 6"/>
          <p:cNvSpPr/>
          <p:nvPr/>
        </p:nvSpPr>
        <p:spPr>
          <a:xfrm>
            <a:off x="548640" y="5669279"/>
            <a:ext cx="2011680" cy="320040"/>
          </a:xfrm>
          <a:prstGeom prst="round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5669279"/>
            <a:ext cx="2011680" cy="320040"/>
          </a:xfrm>
          <a:prstGeom prst="rect">
            <a:avLst/>
          </a:prstGeom>
          <a:noFill/>
        </p:spPr>
        <p:txBody>
          <a:bodyPr wrap="square" anchor="ctr">
            <a:spAutoFit/>
          </a:bodyPr>
          <a:lstStyle/>
          <a:p>
            <a:pPr algn="ctr">
              <a:defRPr sz="1100" b="1">
                <a:solidFill>
                  <a:srgbClr val="FFFFFF"/>
                </a:solidFill>
                <a:latin typeface="Meiryo"/>
              </a:defRPr>
            </a:pPr>
            <a:r>
              <a:t>  Anthropic  ▲</a:t>
            </a:r>
          </a:p>
        </p:txBody>
      </p:sp>
      <p:sp>
        <p:nvSpPr>
          <p:cNvPr id="9" name="Rounded Rectangle 8"/>
          <p:cNvSpPr/>
          <p:nvPr/>
        </p:nvSpPr>
        <p:spPr>
          <a:xfrm>
            <a:off x="2743200" y="5669279"/>
            <a:ext cx="2011680" cy="320040"/>
          </a:xfrm>
          <a:prstGeom prst="round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0" y="5669279"/>
            <a:ext cx="2011680" cy="320040"/>
          </a:xfrm>
          <a:prstGeom prst="rect">
            <a:avLst/>
          </a:prstGeom>
          <a:noFill/>
        </p:spPr>
        <p:txBody>
          <a:bodyPr wrap="square" anchor="ctr">
            <a:spAutoFit/>
          </a:bodyPr>
          <a:lstStyle/>
          <a:p>
            <a:pPr algn="ctr">
              <a:defRPr sz="1100" b="1">
                <a:solidFill>
                  <a:srgbClr val="FFFFFF"/>
                </a:solidFill>
                <a:latin typeface="Meiryo"/>
              </a:defRPr>
            </a:pPr>
            <a:r>
              <a:t>  OpenAI  ◆</a:t>
            </a:r>
          </a:p>
        </p:txBody>
      </p:sp>
      <p:sp>
        <p:nvSpPr>
          <p:cNvPr id="11" name="Rounded Rectangle 10"/>
          <p:cNvSpPr/>
          <p:nvPr/>
        </p:nvSpPr>
        <p:spPr>
          <a:xfrm>
            <a:off x="4937760" y="5669279"/>
            <a:ext cx="2011680" cy="320040"/>
          </a:xfrm>
          <a:prstGeom prst="round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37760" y="5669279"/>
            <a:ext cx="2011680" cy="320040"/>
          </a:xfrm>
          <a:prstGeom prst="rect">
            <a:avLst/>
          </a:prstGeom>
          <a:noFill/>
        </p:spPr>
        <p:txBody>
          <a:bodyPr wrap="square" anchor="ctr">
            <a:spAutoFit/>
          </a:bodyPr>
          <a:lstStyle/>
          <a:p>
            <a:pPr algn="ctr">
              <a:defRPr sz="1100" b="1">
                <a:solidFill>
                  <a:srgbClr val="FFFFFF"/>
                </a:solidFill>
                <a:latin typeface="Meiryo"/>
              </a:defRPr>
            </a:pPr>
            <a:r>
              <a:t>  Microsoft  ▲</a:t>
            </a:r>
          </a:p>
        </p:txBody>
      </p:sp>
      <p:sp>
        <p:nvSpPr>
          <p:cNvPr id="13" name="Rounded Rectangle 12"/>
          <p:cNvSpPr/>
          <p:nvPr/>
        </p:nvSpPr>
        <p:spPr>
          <a:xfrm>
            <a:off x="7132320" y="5669279"/>
            <a:ext cx="2011680" cy="320040"/>
          </a:xfrm>
          <a:prstGeom prst="round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0" y="5669279"/>
            <a:ext cx="2011680" cy="320040"/>
          </a:xfrm>
          <a:prstGeom prst="rect">
            <a:avLst/>
          </a:prstGeom>
          <a:noFill/>
        </p:spPr>
        <p:txBody>
          <a:bodyPr wrap="square" anchor="ctr">
            <a:spAutoFit/>
          </a:bodyPr>
          <a:lstStyle/>
          <a:p>
            <a:pPr algn="ctr">
              <a:defRPr sz="1100" b="1">
                <a:solidFill>
                  <a:srgbClr val="FFFFFF"/>
                </a:solidFill>
                <a:latin typeface="Meiryo"/>
              </a:defRPr>
            </a:pPr>
            <a:r>
              <a:t>  Google  ◆</a:t>
            </a:r>
          </a:p>
        </p:txBody>
      </p:sp>
      <p:sp>
        <p:nvSpPr>
          <p:cNvPr id="15" name="Rounded Rectangle 14"/>
          <p:cNvSpPr/>
          <p:nvPr/>
        </p:nvSpPr>
        <p:spPr>
          <a:xfrm>
            <a:off x="9326880" y="5669279"/>
            <a:ext cx="2011680" cy="320040"/>
          </a:xfrm>
          <a:prstGeom prst="roundRect">
            <a:avLst/>
          </a:prstGeom>
          <a:solidFill>
            <a:srgbClr val="066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0" y="5669279"/>
            <a:ext cx="2011680" cy="320040"/>
          </a:xfrm>
          <a:prstGeom prst="rect">
            <a:avLst/>
          </a:prstGeom>
          <a:noFill/>
        </p:spPr>
        <p:txBody>
          <a:bodyPr wrap="square" anchor="ctr">
            <a:spAutoFit/>
          </a:bodyPr>
          <a:lstStyle/>
          <a:p>
            <a:pPr algn="ctr">
              <a:defRPr sz="1100" b="1">
                <a:solidFill>
                  <a:srgbClr val="FFFFFF"/>
                </a:solidFill>
                <a:latin typeface="Meiryo"/>
              </a:defRPr>
            </a:pPr>
            <a:r>
              <a:t>  Meta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トレンドフロー分析</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2026-02-14  |  Page 3</a:t>
            </a:r>
          </a:p>
        </p:txBody>
      </p:sp>
      <p:sp>
        <p:nvSpPr>
          <p:cNvPr id="6" name="Rounded Rectangle 5"/>
          <p:cNvSpPr/>
          <p:nvPr/>
        </p:nvSpPr>
        <p:spPr>
          <a:xfrm>
            <a:off x="685800" y="1005840"/>
            <a:ext cx="5029200" cy="22860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1115568"/>
            <a:ext cx="411480" cy="41148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115568"/>
            <a:ext cx="411480" cy="411480"/>
          </a:xfrm>
          <a:prstGeom prst="rect">
            <a:avLst/>
          </a:prstGeom>
          <a:noFill/>
        </p:spPr>
        <p:txBody>
          <a:bodyPr wrap="square" anchor="ctr">
            <a:spAutoFit/>
          </a:bodyPr>
          <a:lstStyle/>
          <a:p>
            <a:pPr algn="ctr">
              <a:defRPr sz="1600" b="1">
                <a:solidFill>
                  <a:srgbClr val="FFFFFF"/>
                </a:solidFill>
                <a:latin typeface="Meiryo"/>
              </a:defRPr>
            </a:pPr>
            <a:r>
              <a:t>1</a:t>
            </a:r>
          </a:p>
        </p:txBody>
      </p:sp>
      <p:sp>
        <p:nvSpPr>
          <p:cNvPr id="9" name="TextBox 8"/>
          <p:cNvSpPr txBox="1"/>
          <p:nvPr/>
        </p:nvSpPr>
        <p:spPr>
          <a:xfrm>
            <a:off x="1325880" y="1143000"/>
            <a:ext cx="4206240" cy="365760"/>
          </a:xfrm>
          <a:prstGeom prst="rect">
            <a:avLst/>
          </a:prstGeom>
          <a:noFill/>
        </p:spPr>
        <p:txBody>
          <a:bodyPr wrap="square">
            <a:spAutoFit/>
          </a:bodyPr>
          <a:lstStyle/>
          <a:p>
            <a:pPr algn="l">
              <a:defRPr sz="1400" b="1">
                <a:solidFill>
                  <a:srgbClr val="005BAB"/>
                </a:solidFill>
                <a:latin typeface="Meiryo"/>
              </a:defRPr>
            </a:pPr>
            <a:r>
              <a:t>AIセーフティの「オッペンハイマーの瞬間」が到来</a:t>
            </a:r>
          </a:p>
        </p:txBody>
      </p:sp>
      <p:sp>
        <p:nvSpPr>
          <p:cNvPr id="10" name="TextBox 9"/>
          <p:cNvSpPr txBox="1"/>
          <p:nvPr/>
        </p:nvSpPr>
        <p:spPr>
          <a:xfrm>
            <a:off x="868680" y="1554480"/>
            <a:ext cx="4663440" cy="1097280"/>
          </a:xfrm>
          <a:prstGeom prst="rect">
            <a:avLst/>
          </a:prstGeom>
          <a:noFill/>
        </p:spPr>
        <p:txBody>
          <a:bodyPr wrap="square">
            <a:spAutoFit/>
          </a:bodyPr>
          <a:lstStyle/>
          <a:p>
            <a:pPr algn="l">
              <a:defRPr sz="1100" b="0">
                <a:solidFill>
                  <a:srgbClr val="1A1A2E"/>
                </a:solidFill>
                <a:latin typeface="Meiryo"/>
              </a:defRPr>
            </a:pPr>
            <a:r>
              <a:t>OpenAIとAnthropicの安全性研究者が相次いで退職し、AI開発の加速に対する懸念を公に表明した。Anthropicの元Safeguards Research Team責任者Mrinank Sharmaは「世界の現状とAI開発の軌道に深い不安を感じる」と述べて辞職。OpenAI社員のHieu Phamも「AIがもたらす実存的脅威をついに感じた」とX上で発信。同時にOpenAIはミッションア</a:t>
            </a:r>
          </a:p>
        </p:txBody>
      </p:sp>
      <p:sp>
        <p:nvSpPr>
          <p:cNvPr id="11" name="Rounded Rectangle 10"/>
          <p:cNvSpPr/>
          <p:nvPr/>
        </p:nvSpPr>
        <p:spPr>
          <a:xfrm>
            <a:off x="868680" y="2880360"/>
            <a:ext cx="1188720" cy="274320"/>
          </a:xfrm>
          <a:prstGeom prst="round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880360"/>
            <a:ext cx="1188720" cy="274320"/>
          </a:xfrm>
          <a:prstGeom prst="rect">
            <a:avLst/>
          </a:prstGeom>
          <a:noFill/>
        </p:spPr>
        <p:txBody>
          <a:bodyPr wrap="square" anchor="ctr">
            <a:spAutoFit/>
          </a:bodyPr>
          <a:lstStyle/>
          <a:p>
            <a:pPr algn="ctr">
              <a:defRPr sz="900" b="1">
                <a:solidFill>
                  <a:srgbClr val="FFFFFF"/>
                </a:solidFill>
                <a:latin typeface="Meiryo"/>
              </a:defRPr>
            </a:pPr>
            <a:r>
              <a:t>OpenAI</a:t>
            </a:r>
          </a:p>
        </p:txBody>
      </p:sp>
      <p:sp>
        <p:nvSpPr>
          <p:cNvPr id="13" name="Rounded Rectangle 12"/>
          <p:cNvSpPr/>
          <p:nvPr/>
        </p:nvSpPr>
        <p:spPr>
          <a:xfrm>
            <a:off x="2148840" y="2880360"/>
            <a:ext cx="1188720" cy="274320"/>
          </a:xfrm>
          <a:prstGeom prst="round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48840" y="2880360"/>
            <a:ext cx="1188720" cy="274320"/>
          </a:xfrm>
          <a:prstGeom prst="rect">
            <a:avLst/>
          </a:prstGeom>
          <a:noFill/>
        </p:spPr>
        <p:txBody>
          <a:bodyPr wrap="square" anchor="ctr">
            <a:spAutoFit/>
          </a:bodyPr>
          <a:lstStyle/>
          <a:p>
            <a:pPr algn="ctr">
              <a:defRPr sz="900" b="1">
                <a:solidFill>
                  <a:srgbClr val="FFFFFF"/>
                </a:solidFill>
                <a:latin typeface="Meiryo"/>
              </a:defRPr>
            </a:pPr>
            <a:r>
              <a:t>Anthropic</a:t>
            </a:r>
          </a:p>
        </p:txBody>
      </p:sp>
      <p:sp>
        <p:nvSpPr>
          <p:cNvPr id="15" name="Rounded Rectangle 14"/>
          <p:cNvSpPr/>
          <p:nvPr/>
        </p:nvSpPr>
        <p:spPr>
          <a:xfrm>
            <a:off x="6263640" y="1005840"/>
            <a:ext cx="5029200" cy="22860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00800" y="1115568"/>
            <a:ext cx="411480" cy="41148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115568"/>
            <a:ext cx="411480" cy="411480"/>
          </a:xfrm>
          <a:prstGeom prst="rect">
            <a:avLst/>
          </a:prstGeom>
          <a:noFill/>
        </p:spPr>
        <p:txBody>
          <a:bodyPr wrap="square" anchor="ctr">
            <a:spAutoFit/>
          </a:bodyPr>
          <a:lstStyle/>
          <a:p>
            <a:pPr algn="ctr">
              <a:defRPr sz="1600" b="1">
                <a:solidFill>
                  <a:srgbClr val="FFFFFF"/>
                </a:solidFill>
                <a:latin typeface="Meiryo"/>
              </a:defRPr>
            </a:pPr>
            <a:r>
              <a:t>2</a:t>
            </a:r>
          </a:p>
        </p:txBody>
      </p:sp>
      <p:sp>
        <p:nvSpPr>
          <p:cNvPr id="18" name="TextBox 17"/>
          <p:cNvSpPr txBox="1"/>
          <p:nvPr/>
        </p:nvSpPr>
        <p:spPr>
          <a:xfrm>
            <a:off x="6903720" y="1143000"/>
            <a:ext cx="4206240" cy="365760"/>
          </a:xfrm>
          <a:prstGeom prst="rect">
            <a:avLst/>
          </a:prstGeom>
          <a:noFill/>
        </p:spPr>
        <p:txBody>
          <a:bodyPr wrap="square">
            <a:spAutoFit/>
          </a:bodyPr>
          <a:lstStyle/>
          <a:p>
            <a:pPr algn="l">
              <a:defRPr sz="1400" b="1">
                <a:solidFill>
                  <a:srgbClr val="005BAB"/>
                </a:solidFill>
                <a:latin typeface="Meiryo"/>
              </a:defRPr>
            </a:pPr>
            <a:r>
              <a:t>AI覇権争いの資金調達バブル化</a:t>
            </a:r>
          </a:p>
        </p:txBody>
      </p:sp>
      <p:sp>
        <p:nvSpPr>
          <p:cNvPr id="19" name="TextBox 18"/>
          <p:cNvSpPr txBox="1"/>
          <p:nvPr/>
        </p:nvSpPr>
        <p:spPr>
          <a:xfrm>
            <a:off x="6446520" y="1554480"/>
            <a:ext cx="4663440" cy="1097280"/>
          </a:xfrm>
          <a:prstGeom prst="rect">
            <a:avLst/>
          </a:prstGeom>
          <a:noFill/>
        </p:spPr>
        <p:txBody>
          <a:bodyPr wrap="square">
            <a:spAutoFit/>
          </a:bodyPr>
          <a:lstStyle/>
          <a:p>
            <a:pPr algn="l">
              <a:defRPr sz="1100" b="0">
                <a:solidFill>
                  <a:srgbClr val="1A1A2E"/>
                </a:solidFill>
                <a:latin typeface="Meiryo"/>
              </a:defRPr>
            </a:pPr>
            <a:r>
              <a:t>AnthropicとOpenAIが歴史的規模の資金調達を同時進行し、VCがタブーを破って両社に投資する異例の事態に。Anthropicは300億ドル（評価額3800億ドル）、OpenAIはさらに1000億ドルの調達を目指す。Sequoia CapitalやAltimeter Capitalが両社に投資し、AI分野では従来の排他的投資慣行が崩壊。背景には年間数百億ドルのGPU・インフラ費用があり、収</a:t>
            </a:r>
          </a:p>
        </p:txBody>
      </p:sp>
      <p:sp>
        <p:nvSpPr>
          <p:cNvPr id="20" name="Rounded Rectangle 19"/>
          <p:cNvSpPr/>
          <p:nvPr/>
        </p:nvSpPr>
        <p:spPr>
          <a:xfrm>
            <a:off x="6446520" y="2880360"/>
            <a:ext cx="1188720" cy="274320"/>
          </a:xfrm>
          <a:prstGeom prst="round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2880360"/>
            <a:ext cx="1188720" cy="274320"/>
          </a:xfrm>
          <a:prstGeom prst="rect">
            <a:avLst/>
          </a:prstGeom>
          <a:noFill/>
        </p:spPr>
        <p:txBody>
          <a:bodyPr wrap="square" anchor="ctr">
            <a:spAutoFit/>
          </a:bodyPr>
          <a:lstStyle/>
          <a:p>
            <a:pPr algn="ctr">
              <a:defRPr sz="900" b="1">
                <a:solidFill>
                  <a:srgbClr val="FFFFFF"/>
                </a:solidFill>
                <a:latin typeface="Meiryo"/>
              </a:defRPr>
            </a:pPr>
            <a:r>
              <a:t>Anthropic</a:t>
            </a:r>
          </a:p>
        </p:txBody>
      </p:sp>
      <p:sp>
        <p:nvSpPr>
          <p:cNvPr id="22" name="Rounded Rectangle 21"/>
          <p:cNvSpPr/>
          <p:nvPr/>
        </p:nvSpPr>
        <p:spPr>
          <a:xfrm>
            <a:off x="7726680" y="2880360"/>
            <a:ext cx="1188720" cy="274320"/>
          </a:xfrm>
          <a:prstGeom prst="round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26680" y="2880360"/>
            <a:ext cx="1188720" cy="274320"/>
          </a:xfrm>
          <a:prstGeom prst="rect">
            <a:avLst/>
          </a:prstGeom>
          <a:noFill/>
        </p:spPr>
        <p:txBody>
          <a:bodyPr wrap="square" anchor="ctr">
            <a:spAutoFit/>
          </a:bodyPr>
          <a:lstStyle/>
          <a:p>
            <a:pPr algn="ctr">
              <a:defRPr sz="900" b="1">
                <a:solidFill>
                  <a:srgbClr val="FFFFFF"/>
                </a:solidFill>
                <a:latin typeface="Meiryo"/>
              </a:defRPr>
            </a:pPr>
            <a:r>
              <a:t>OpenAI</a:t>
            </a:r>
          </a:p>
        </p:txBody>
      </p:sp>
      <p:sp>
        <p:nvSpPr>
          <p:cNvPr id="24" name="Rounded Rectangle 23"/>
          <p:cNvSpPr/>
          <p:nvPr/>
        </p:nvSpPr>
        <p:spPr>
          <a:xfrm>
            <a:off x="685800" y="3520440"/>
            <a:ext cx="5029200" cy="22860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22960" y="3630168"/>
            <a:ext cx="411480" cy="41148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3630168"/>
            <a:ext cx="411480" cy="411480"/>
          </a:xfrm>
          <a:prstGeom prst="rect">
            <a:avLst/>
          </a:prstGeom>
          <a:noFill/>
        </p:spPr>
        <p:txBody>
          <a:bodyPr wrap="square" anchor="ctr">
            <a:spAutoFit/>
          </a:bodyPr>
          <a:lstStyle/>
          <a:p>
            <a:pPr algn="ctr">
              <a:defRPr sz="1600" b="1">
                <a:solidFill>
                  <a:srgbClr val="FFFFFF"/>
                </a:solidFill>
                <a:latin typeface="Meiryo"/>
              </a:defRPr>
            </a:pPr>
            <a:r>
              <a:t>3</a:t>
            </a:r>
          </a:p>
        </p:txBody>
      </p:sp>
      <p:sp>
        <p:nvSpPr>
          <p:cNvPr id="27" name="TextBox 26"/>
          <p:cNvSpPr txBox="1"/>
          <p:nvPr/>
        </p:nvSpPr>
        <p:spPr>
          <a:xfrm>
            <a:off x="1325880" y="3657600"/>
            <a:ext cx="4206240" cy="365760"/>
          </a:xfrm>
          <a:prstGeom prst="rect">
            <a:avLst/>
          </a:prstGeom>
          <a:noFill/>
        </p:spPr>
        <p:txBody>
          <a:bodyPr wrap="square">
            <a:spAutoFit/>
          </a:bodyPr>
          <a:lstStyle/>
          <a:p>
            <a:pPr algn="l">
              <a:defRPr sz="1400" b="1">
                <a:solidFill>
                  <a:srgbClr val="005BAB"/>
                </a:solidFill>
                <a:latin typeface="Meiryo"/>
              </a:defRPr>
            </a:pPr>
            <a:r>
              <a:t>Big TechのAIインフラ投資が経済規模のマクロイベントに</a:t>
            </a:r>
          </a:p>
        </p:txBody>
      </p:sp>
      <p:sp>
        <p:nvSpPr>
          <p:cNvPr id="28" name="TextBox 27"/>
          <p:cNvSpPr txBox="1"/>
          <p:nvPr/>
        </p:nvSpPr>
        <p:spPr>
          <a:xfrm>
            <a:off x="868680" y="4069080"/>
            <a:ext cx="4663440" cy="1097280"/>
          </a:xfrm>
          <a:prstGeom prst="rect">
            <a:avLst/>
          </a:prstGeom>
          <a:noFill/>
        </p:spPr>
        <p:txBody>
          <a:bodyPr wrap="square">
            <a:spAutoFit/>
          </a:bodyPr>
          <a:lstStyle/>
          <a:p>
            <a:pPr algn="l">
              <a:defRPr sz="1100" b="0">
                <a:solidFill>
                  <a:srgbClr val="1A1A2E"/>
                </a:solidFill>
                <a:latin typeface="Meiryo"/>
              </a:defRPr>
            </a:pPr>
            <a:r>
              <a:t>Amazon（2000億ドル）、Google（1850億ドル）、Meta（1150-1350億ドル）、Microsoft（800億ドル超）の4社合計で6500-6900億ドルのAI設備投資を2026年に計画。これは米国の非住宅投資総額4.3兆ドルの15%以上に相当する。Metaの純キャッシュフローは90%減少見通し、Amazonもマイナスに転落予測。株式市場ではS&amp;P 500ソフトウェア指数が1週</a:t>
            </a:r>
          </a:p>
        </p:txBody>
      </p:sp>
      <p:sp>
        <p:nvSpPr>
          <p:cNvPr id="29" name="Rounded Rectangle 28"/>
          <p:cNvSpPr/>
          <p:nvPr/>
        </p:nvSpPr>
        <p:spPr>
          <a:xfrm>
            <a:off x="868680" y="5394960"/>
            <a:ext cx="1188720" cy="274320"/>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8680" y="5394960"/>
            <a:ext cx="1188720" cy="274320"/>
          </a:xfrm>
          <a:prstGeom prst="rect">
            <a:avLst/>
          </a:prstGeom>
          <a:noFill/>
        </p:spPr>
        <p:txBody>
          <a:bodyPr wrap="square" anchor="ctr">
            <a:spAutoFit/>
          </a:bodyPr>
          <a:lstStyle/>
          <a:p>
            <a:pPr algn="ctr">
              <a:defRPr sz="900" b="1">
                <a:solidFill>
                  <a:srgbClr val="FFFFFF"/>
                </a:solidFill>
                <a:latin typeface="Meiryo"/>
              </a:defRPr>
            </a:pPr>
            <a:r>
              <a:t>Amazon</a:t>
            </a:r>
          </a:p>
        </p:txBody>
      </p:sp>
      <p:sp>
        <p:nvSpPr>
          <p:cNvPr id="31" name="Rounded Rectangle 30"/>
          <p:cNvSpPr/>
          <p:nvPr/>
        </p:nvSpPr>
        <p:spPr>
          <a:xfrm>
            <a:off x="2148840" y="5394960"/>
            <a:ext cx="1188720" cy="274320"/>
          </a:xfrm>
          <a:prstGeom prst="round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48840" y="5394960"/>
            <a:ext cx="1188720" cy="274320"/>
          </a:xfrm>
          <a:prstGeom prst="rect">
            <a:avLst/>
          </a:prstGeom>
          <a:noFill/>
        </p:spPr>
        <p:txBody>
          <a:bodyPr wrap="square" anchor="ctr">
            <a:spAutoFit/>
          </a:bodyPr>
          <a:lstStyle/>
          <a:p>
            <a:pPr algn="ctr">
              <a:defRPr sz="900" b="1">
                <a:solidFill>
                  <a:srgbClr val="FFFFFF"/>
                </a:solidFill>
                <a:latin typeface="Meiryo"/>
              </a:defRPr>
            </a:pPr>
            <a:r>
              <a:t>Google</a:t>
            </a:r>
          </a:p>
        </p:txBody>
      </p:sp>
      <p:sp>
        <p:nvSpPr>
          <p:cNvPr id="33" name="Rounded Rectangle 32"/>
          <p:cNvSpPr/>
          <p:nvPr/>
        </p:nvSpPr>
        <p:spPr>
          <a:xfrm>
            <a:off x="3429000" y="5394960"/>
            <a:ext cx="1188720" cy="274320"/>
          </a:xfrm>
          <a:prstGeom prst="roundRect">
            <a:avLst/>
          </a:prstGeom>
          <a:solidFill>
            <a:srgbClr val="066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29000" y="5394960"/>
            <a:ext cx="1188720" cy="274320"/>
          </a:xfrm>
          <a:prstGeom prst="rect">
            <a:avLst/>
          </a:prstGeom>
          <a:noFill/>
        </p:spPr>
        <p:txBody>
          <a:bodyPr wrap="square" anchor="ctr">
            <a:spAutoFit/>
          </a:bodyPr>
          <a:lstStyle/>
          <a:p>
            <a:pPr algn="ctr">
              <a:defRPr sz="900" b="1">
                <a:solidFill>
                  <a:srgbClr val="FFFFFF"/>
                </a:solidFill>
                <a:latin typeface="Meiryo"/>
              </a:defRPr>
            </a:pPr>
            <a:r>
              <a:t>Meta</a:t>
            </a:r>
          </a:p>
        </p:txBody>
      </p:sp>
      <p:sp>
        <p:nvSpPr>
          <p:cNvPr id="35" name="Rounded Rectangle 34"/>
          <p:cNvSpPr/>
          <p:nvPr/>
        </p:nvSpPr>
        <p:spPr>
          <a:xfrm>
            <a:off x="4709160" y="5394960"/>
            <a:ext cx="1188720" cy="274320"/>
          </a:xfrm>
          <a:prstGeom prst="round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709160" y="5394960"/>
            <a:ext cx="1188720" cy="274320"/>
          </a:xfrm>
          <a:prstGeom prst="rect">
            <a:avLst/>
          </a:prstGeom>
          <a:noFill/>
        </p:spPr>
        <p:txBody>
          <a:bodyPr wrap="square" anchor="ctr">
            <a:spAutoFit/>
          </a:bodyPr>
          <a:lstStyle/>
          <a:p>
            <a:pPr algn="ctr">
              <a:defRPr sz="900" b="1">
                <a:solidFill>
                  <a:srgbClr val="FFFFFF"/>
                </a:solidFill>
                <a:latin typeface="Meiryo"/>
              </a:defRPr>
            </a:pPr>
            <a:r>
              <a:t>Microsoft</a:t>
            </a:r>
          </a:p>
        </p:txBody>
      </p:sp>
      <p:sp>
        <p:nvSpPr>
          <p:cNvPr id="37" name="Right Arrow 36"/>
          <p:cNvSpPr/>
          <p:nvPr/>
        </p:nvSpPr>
        <p:spPr>
          <a:xfrm>
            <a:off x="5760720" y="2011680"/>
            <a:ext cx="457200" cy="274320"/>
          </a:xfrm>
          <a:prstGeom prst="rightArrow">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Down Arrow 37"/>
          <p:cNvSpPr/>
          <p:nvPr/>
        </p:nvSpPr>
        <p:spPr>
          <a:xfrm>
            <a:off x="3063240" y="3300984"/>
            <a:ext cx="274320" cy="201168"/>
          </a:xfrm>
          <a:prstGeom prst="downArrow">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Global Market Impact</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2026-02-14  |  Page 4</a:t>
            </a:r>
          </a:p>
        </p:txBody>
      </p:sp>
      <p:sp>
        <p:nvSpPr>
          <p:cNvPr id="6" name="Rectangle 5"/>
          <p:cNvSpPr/>
          <p:nvPr/>
        </p:nvSpPr>
        <p:spPr>
          <a:xfrm>
            <a:off x="548640" y="960120"/>
            <a:ext cx="5303520" cy="13716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960120"/>
            <a:ext cx="54864" cy="13716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58368" y="1069848"/>
            <a:ext cx="411480" cy="41148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069848"/>
            <a:ext cx="411480" cy="411480"/>
          </a:xfrm>
          <a:prstGeom prst="rect">
            <a:avLst/>
          </a:prstGeom>
          <a:noFill/>
        </p:spPr>
        <p:txBody>
          <a:bodyPr wrap="square" anchor="ctr">
            <a:spAutoFit/>
          </a:bodyPr>
          <a:lstStyle/>
          <a:p>
            <a:pPr algn="ctr">
              <a:defRPr sz="1400" b="1">
                <a:solidFill>
                  <a:srgbClr val="FFFFFF"/>
                </a:solidFill>
                <a:latin typeface="Meiryo"/>
              </a:defRPr>
            </a:pPr>
            <a:r>
              <a:t>★</a:t>
            </a:r>
          </a:p>
        </p:txBody>
      </p:sp>
      <p:sp>
        <p:nvSpPr>
          <p:cNvPr id="10" name="TextBox 9"/>
          <p:cNvSpPr txBox="1"/>
          <p:nvPr/>
        </p:nvSpPr>
        <p:spPr>
          <a:xfrm>
            <a:off x="1143000" y="1051560"/>
            <a:ext cx="4572000" cy="274320"/>
          </a:xfrm>
          <a:prstGeom prst="rect">
            <a:avLst/>
          </a:prstGeom>
          <a:noFill/>
        </p:spPr>
        <p:txBody>
          <a:bodyPr wrap="square">
            <a:spAutoFit/>
          </a:bodyPr>
          <a:lstStyle/>
          <a:p>
            <a:pPr algn="l">
              <a:defRPr sz="1400" b="1">
                <a:solidFill>
                  <a:srgbClr val="005BAB"/>
                </a:solidFill>
                <a:latin typeface="Meiryo"/>
              </a:defRPr>
            </a:pPr>
            <a:r>
              <a:t>米国</a:t>
            </a:r>
          </a:p>
        </p:txBody>
      </p:sp>
      <p:sp>
        <p:nvSpPr>
          <p:cNvPr id="11" name="TextBox 10"/>
          <p:cNvSpPr txBox="1"/>
          <p:nvPr/>
        </p:nvSpPr>
        <p:spPr>
          <a:xfrm>
            <a:off x="1143000" y="1325880"/>
            <a:ext cx="4572000" cy="914400"/>
          </a:xfrm>
          <a:prstGeom prst="rect">
            <a:avLst/>
          </a:prstGeom>
          <a:noFill/>
        </p:spPr>
        <p:txBody>
          <a:bodyPr wrap="square">
            <a:spAutoFit/>
          </a:bodyPr>
          <a:lstStyle/>
          <a:p>
            <a:pPr algn="l">
              <a:defRPr sz="1000" b="0">
                <a:solidFill>
                  <a:srgbClr val="1A1A2E"/>
                </a:solidFill>
                <a:latin typeface="Meiryo"/>
              </a:defRPr>
            </a:pPr>
            <a:r>
              <a:t>AI業界は史上最大の資金調達ラッシュと安全性懸念の二極化が同時進行。Anthropicの300億ドル・OpenAIの1000億ドル目標という巨額調達はAI開発の資本集約度を象徴する一方、安全性研究者の相次ぐ退職がAI開発の倫理的課題を突きつけている。Big Tech 4社の設備投資6500億ドル超は米国の非住宅投資の15%以上に匹敵し、マクロ経済に直接影響を及ぼしている。トランプ政権のAI Act...</a:t>
            </a:r>
          </a:p>
        </p:txBody>
      </p:sp>
      <p:sp>
        <p:nvSpPr>
          <p:cNvPr id="12" name="Rectangle 11"/>
          <p:cNvSpPr/>
          <p:nvPr/>
        </p:nvSpPr>
        <p:spPr>
          <a:xfrm>
            <a:off x="548640" y="2468880"/>
            <a:ext cx="5303520" cy="13716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468880"/>
            <a:ext cx="54864" cy="1371600"/>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58368" y="2578608"/>
            <a:ext cx="411480" cy="411480"/>
          </a:xfrm>
          <a:prstGeom prst="ellipse">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2578608"/>
            <a:ext cx="411480" cy="411480"/>
          </a:xfrm>
          <a:prstGeom prst="rect">
            <a:avLst/>
          </a:prstGeom>
          <a:noFill/>
        </p:spPr>
        <p:txBody>
          <a:bodyPr wrap="square" anchor="ctr">
            <a:spAutoFit/>
          </a:bodyPr>
          <a:lstStyle/>
          <a:p>
            <a:pPr algn="ctr">
              <a:defRPr sz="1400" b="1">
                <a:solidFill>
                  <a:srgbClr val="FFFFFF"/>
                </a:solidFill>
                <a:latin typeface="Meiryo"/>
              </a:defRPr>
            </a:pPr>
            <a:r>
              <a:t>◎</a:t>
            </a:r>
          </a:p>
        </p:txBody>
      </p:sp>
      <p:sp>
        <p:nvSpPr>
          <p:cNvPr id="16" name="TextBox 15"/>
          <p:cNvSpPr txBox="1"/>
          <p:nvPr/>
        </p:nvSpPr>
        <p:spPr>
          <a:xfrm>
            <a:off x="1143000" y="2560320"/>
            <a:ext cx="4572000" cy="274320"/>
          </a:xfrm>
          <a:prstGeom prst="rect">
            <a:avLst/>
          </a:prstGeom>
          <a:noFill/>
        </p:spPr>
        <p:txBody>
          <a:bodyPr wrap="square">
            <a:spAutoFit/>
          </a:bodyPr>
          <a:lstStyle/>
          <a:p>
            <a:pPr algn="l">
              <a:defRPr sz="1400" b="1">
                <a:solidFill>
                  <a:srgbClr val="FF961C"/>
                </a:solidFill>
                <a:latin typeface="Meiryo"/>
              </a:defRPr>
            </a:pPr>
            <a:r>
              <a:t>欧州</a:t>
            </a:r>
          </a:p>
        </p:txBody>
      </p:sp>
      <p:sp>
        <p:nvSpPr>
          <p:cNvPr id="17" name="TextBox 16"/>
          <p:cNvSpPr txBox="1"/>
          <p:nvPr/>
        </p:nvSpPr>
        <p:spPr>
          <a:xfrm>
            <a:off x="1143000" y="2834640"/>
            <a:ext cx="4572000" cy="914400"/>
          </a:xfrm>
          <a:prstGeom prst="rect">
            <a:avLst/>
          </a:prstGeom>
          <a:noFill/>
        </p:spPr>
        <p:txBody>
          <a:bodyPr wrap="square">
            <a:spAutoFit/>
          </a:bodyPr>
          <a:lstStyle/>
          <a:p>
            <a:pPr algn="l">
              <a:defRPr sz="1000" b="0">
                <a:solidFill>
                  <a:srgbClr val="1A1A2E"/>
                </a:solidFill>
                <a:latin typeface="Meiryo"/>
              </a:defRPr>
            </a:pPr>
            <a:r>
              <a:t>EU AI Actの施行が進む中、グローバルAI規制の先行者としてのポジションを維持。しかし過度な規制がAI企業の欧州離れを招くとの懸念も。India AI Impact Summit 2026（2月16-20日）にはマクロン仏大統領も登壇予定で、グローバル南の声を取り込んだAI ガバナンスの枠組み構築が議論される。英国IT輸出企業は225億ドルの時価総額を失い、AIによるアウトソーシング需要減少...</a:t>
            </a:r>
          </a:p>
        </p:txBody>
      </p:sp>
      <p:sp>
        <p:nvSpPr>
          <p:cNvPr id="18" name="Rectangle 17"/>
          <p:cNvSpPr/>
          <p:nvPr/>
        </p:nvSpPr>
        <p:spPr>
          <a:xfrm>
            <a:off x="548640" y="3977640"/>
            <a:ext cx="5303520" cy="13716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977640"/>
            <a:ext cx="54864" cy="1371600"/>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8368" y="4087368"/>
            <a:ext cx="411480" cy="411480"/>
          </a:xfrm>
          <a:prstGeom prst="ellipse">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4087368"/>
            <a:ext cx="411480" cy="411480"/>
          </a:xfrm>
          <a:prstGeom prst="rect">
            <a:avLst/>
          </a:prstGeom>
          <a:noFill/>
        </p:spPr>
        <p:txBody>
          <a:bodyPr wrap="square" anchor="ctr">
            <a:spAutoFit/>
          </a:bodyPr>
          <a:lstStyle/>
          <a:p>
            <a:pPr algn="ctr">
              <a:defRPr sz="1400" b="1">
                <a:solidFill>
                  <a:srgbClr val="FFFFFF"/>
                </a:solidFill>
                <a:latin typeface="Meiryo"/>
              </a:defRPr>
            </a:pPr>
            <a:r>
              <a:t>►</a:t>
            </a:r>
          </a:p>
        </p:txBody>
      </p:sp>
      <p:sp>
        <p:nvSpPr>
          <p:cNvPr id="22" name="TextBox 21"/>
          <p:cNvSpPr txBox="1"/>
          <p:nvPr/>
        </p:nvSpPr>
        <p:spPr>
          <a:xfrm>
            <a:off x="1143000" y="4069080"/>
            <a:ext cx="4572000" cy="274320"/>
          </a:xfrm>
          <a:prstGeom prst="rect">
            <a:avLst/>
          </a:prstGeom>
          <a:noFill/>
        </p:spPr>
        <p:txBody>
          <a:bodyPr wrap="square">
            <a:spAutoFit/>
          </a:bodyPr>
          <a:lstStyle/>
          <a:p>
            <a:pPr algn="l">
              <a:defRPr sz="1400" b="1">
                <a:solidFill>
                  <a:srgbClr val="5BA4D9"/>
                </a:solidFill>
                <a:latin typeface="Meiryo"/>
              </a:defRPr>
            </a:pPr>
            <a:r>
              <a:t>中国・アジア</a:t>
            </a:r>
          </a:p>
        </p:txBody>
      </p:sp>
      <p:sp>
        <p:nvSpPr>
          <p:cNvPr id="23" name="TextBox 22"/>
          <p:cNvSpPr txBox="1"/>
          <p:nvPr/>
        </p:nvSpPr>
        <p:spPr>
          <a:xfrm>
            <a:off x="1143000" y="4343400"/>
            <a:ext cx="4572000" cy="914400"/>
          </a:xfrm>
          <a:prstGeom prst="rect">
            <a:avLst/>
          </a:prstGeom>
          <a:noFill/>
        </p:spPr>
        <p:txBody>
          <a:bodyPr wrap="square">
            <a:spAutoFit/>
          </a:bodyPr>
          <a:lstStyle/>
          <a:p>
            <a:pPr algn="l">
              <a:defRPr sz="1000" b="0">
                <a:solidFill>
                  <a:srgbClr val="1A1A2E"/>
                </a:solidFill>
                <a:latin typeface="Meiryo"/>
              </a:defRPr>
            </a:pPr>
            <a:r>
              <a:t>インドのIT企業がAIによる業務自動化の影響で株価急落。シンガポール政府系ファンドGICがAnthropicのSeries Gを共同主導し、アジアの政府系資金がAI投資の重要なプレーヤーとなっている。台湾はワシントンの半導体供給移転目標（40%）に「不可能」と反発し、AI半導体サプライチェーンの地政学的緊張が高まっている。</a:t>
            </a:r>
          </a:p>
        </p:txBody>
      </p:sp>
      <p:sp>
        <p:nvSpPr>
          <p:cNvPr id="24" name="TextBox 23"/>
          <p:cNvSpPr txBox="1"/>
          <p:nvPr/>
        </p:nvSpPr>
        <p:spPr>
          <a:xfrm>
            <a:off x="6156655" y="960120"/>
            <a:ext cx="5486400" cy="320040"/>
          </a:xfrm>
          <a:prstGeom prst="rect">
            <a:avLst/>
          </a:prstGeom>
          <a:noFill/>
        </p:spPr>
        <p:txBody>
          <a:bodyPr wrap="square">
            <a:spAutoFit/>
          </a:bodyPr>
          <a:lstStyle/>
          <a:p>
            <a:pPr algn="l">
              <a:defRPr sz="1400" b="1">
                <a:solidFill>
                  <a:srgbClr val="005BAB"/>
                </a:solidFill>
                <a:latin typeface="Meiryo"/>
              </a:defRPr>
            </a:pPr>
            <a:r>
              <a:t>KEY IMPACT POINTS</a:t>
            </a:r>
          </a:p>
        </p:txBody>
      </p:sp>
      <p:sp>
        <p:nvSpPr>
          <p:cNvPr id="25" name="Rectangle 24"/>
          <p:cNvSpPr/>
          <p:nvPr/>
        </p:nvSpPr>
        <p:spPr>
          <a:xfrm>
            <a:off x="6156655" y="1261872"/>
            <a:ext cx="1828800" cy="18288"/>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56655" y="14173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56655" y="1417320"/>
            <a:ext cx="54864" cy="82296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266383" y="1600200"/>
            <a:ext cx="365760" cy="36576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66383" y="1600200"/>
            <a:ext cx="365760" cy="365760"/>
          </a:xfrm>
          <a:prstGeom prst="rect">
            <a:avLst/>
          </a:prstGeom>
          <a:noFill/>
        </p:spPr>
        <p:txBody>
          <a:bodyPr wrap="square" anchor="ctr">
            <a:spAutoFit/>
          </a:bodyPr>
          <a:lstStyle/>
          <a:p>
            <a:pPr algn="ctr">
              <a:defRPr sz="1300" b="1">
                <a:solidFill>
                  <a:srgbClr val="FFFFFF"/>
                </a:solidFill>
                <a:latin typeface="Meiryo"/>
              </a:defRPr>
            </a:pPr>
            <a:r>
              <a:t>1</a:t>
            </a:r>
          </a:p>
        </p:txBody>
      </p:sp>
      <p:sp>
        <p:nvSpPr>
          <p:cNvPr id="30" name="TextBox 29"/>
          <p:cNvSpPr txBox="1"/>
          <p:nvPr/>
        </p:nvSpPr>
        <p:spPr>
          <a:xfrm>
            <a:off x="6705295" y="1490472"/>
            <a:ext cx="4800600" cy="685800"/>
          </a:xfrm>
          <a:prstGeom prst="rect">
            <a:avLst/>
          </a:prstGeom>
          <a:noFill/>
        </p:spPr>
        <p:txBody>
          <a:bodyPr wrap="square">
            <a:spAutoFit/>
          </a:bodyPr>
          <a:lstStyle/>
          <a:p>
            <a:pPr algn="l">
              <a:defRPr sz="1000" b="0">
                <a:solidFill>
                  <a:srgbClr val="1A1A2E"/>
                </a:solidFill>
                <a:latin typeface="Meiryo"/>
              </a:defRPr>
            </a:pPr>
            <a:r>
              <a:t>Big Tech 4社のAI設備投資6500億ドル超が米国GDPの非住宅投資の15%以上に到達し、マクロ経済レベルの影響</a:t>
            </a:r>
          </a:p>
        </p:txBody>
      </p:sp>
      <p:sp>
        <p:nvSpPr>
          <p:cNvPr id="31" name="Rectangle 30"/>
          <p:cNvSpPr/>
          <p:nvPr/>
        </p:nvSpPr>
        <p:spPr>
          <a:xfrm>
            <a:off x="6156655" y="23317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56655" y="2331720"/>
            <a:ext cx="54864" cy="822960"/>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266383" y="2514600"/>
            <a:ext cx="365760" cy="365760"/>
          </a:xfrm>
          <a:prstGeom prst="ellipse">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66383" y="2514600"/>
            <a:ext cx="365760" cy="365760"/>
          </a:xfrm>
          <a:prstGeom prst="rect">
            <a:avLst/>
          </a:prstGeom>
          <a:noFill/>
        </p:spPr>
        <p:txBody>
          <a:bodyPr wrap="square" anchor="ctr">
            <a:spAutoFit/>
          </a:bodyPr>
          <a:lstStyle/>
          <a:p>
            <a:pPr algn="ctr">
              <a:defRPr sz="1300" b="1">
                <a:solidFill>
                  <a:srgbClr val="FFFFFF"/>
                </a:solidFill>
                <a:latin typeface="Meiryo"/>
              </a:defRPr>
            </a:pPr>
            <a:r>
              <a:t>2</a:t>
            </a:r>
          </a:p>
        </p:txBody>
      </p:sp>
      <p:sp>
        <p:nvSpPr>
          <p:cNvPr id="35" name="TextBox 34"/>
          <p:cNvSpPr txBox="1"/>
          <p:nvPr/>
        </p:nvSpPr>
        <p:spPr>
          <a:xfrm>
            <a:off x="6705295" y="2404872"/>
            <a:ext cx="4800600" cy="685800"/>
          </a:xfrm>
          <a:prstGeom prst="rect">
            <a:avLst/>
          </a:prstGeom>
          <a:noFill/>
        </p:spPr>
        <p:txBody>
          <a:bodyPr wrap="square">
            <a:spAutoFit/>
          </a:bodyPr>
          <a:lstStyle/>
          <a:p>
            <a:pPr algn="l">
              <a:defRPr sz="1000" b="0">
                <a:solidFill>
                  <a:srgbClr val="1A1A2E"/>
                </a:solidFill>
                <a:latin typeface="Meiryo"/>
              </a:defRPr>
            </a:pPr>
            <a:r>
              <a:t>AI安全性研究者の連続退職とOpenAIのミッションアラインメントチーム解体が、AI開発の倫理的ガバナンス危機を顕在化</a:t>
            </a:r>
          </a:p>
        </p:txBody>
      </p:sp>
      <p:sp>
        <p:nvSpPr>
          <p:cNvPr id="36" name="Rectangle 35"/>
          <p:cNvSpPr/>
          <p:nvPr/>
        </p:nvSpPr>
        <p:spPr>
          <a:xfrm>
            <a:off x="6156655" y="32461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156655" y="3246120"/>
            <a:ext cx="54864" cy="822960"/>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266383" y="3429000"/>
            <a:ext cx="365760" cy="365760"/>
          </a:xfrm>
          <a:prstGeom prst="ellipse">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66383" y="3429000"/>
            <a:ext cx="365760" cy="365760"/>
          </a:xfrm>
          <a:prstGeom prst="rect">
            <a:avLst/>
          </a:prstGeom>
          <a:noFill/>
        </p:spPr>
        <p:txBody>
          <a:bodyPr wrap="square" anchor="ctr">
            <a:spAutoFit/>
          </a:bodyPr>
          <a:lstStyle/>
          <a:p>
            <a:pPr algn="ctr">
              <a:defRPr sz="1300" b="1">
                <a:solidFill>
                  <a:srgbClr val="FFFFFF"/>
                </a:solidFill>
                <a:latin typeface="Meiryo"/>
              </a:defRPr>
            </a:pPr>
            <a:r>
              <a:t>3</a:t>
            </a:r>
          </a:p>
        </p:txBody>
      </p:sp>
      <p:sp>
        <p:nvSpPr>
          <p:cNvPr id="40" name="TextBox 39"/>
          <p:cNvSpPr txBox="1"/>
          <p:nvPr/>
        </p:nvSpPr>
        <p:spPr>
          <a:xfrm>
            <a:off x="6705295" y="3319272"/>
            <a:ext cx="4800600" cy="685800"/>
          </a:xfrm>
          <a:prstGeom prst="rect">
            <a:avLst/>
          </a:prstGeom>
          <a:noFill/>
        </p:spPr>
        <p:txBody>
          <a:bodyPr wrap="square">
            <a:spAutoFit/>
          </a:bodyPr>
          <a:lstStyle/>
          <a:p>
            <a:pPr algn="l">
              <a:defRPr sz="1000" b="0">
                <a:solidFill>
                  <a:srgbClr val="1A1A2E"/>
                </a:solidFill>
                <a:latin typeface="Meiryo"/>
              </a:defRPr>
            </a:pPr>
            <a:r>
              <a:t>VCが競合AI企業への同時投資というタブーを破り、AI投資のバブル的様相が強まっている</a:t>
            </a:r>
          </a:p>
        </p:txBody>
      </p:sp>
      <p:sp>
        <p:nvSpPr>
          <p:cNvPr id="41" name="Rectangle 40"/>
          <p:cNvSpPr/>
          <p:nvPr/>
        </p:nvSpPr>
        <p:spPr>
          <a:xfrm>
            <a:off x="6156655" y="41605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156655" y="4160520"/>
            <a:ext cx="54864" cy="822960"/>
          </a:xfrm>
          <a:prstGeom prst="rect">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6266383" y="4343400"/>
            <a:ext cx="365760" cy="365760"/>
          </a:xfrm>
          <a:prstGeom prst="ellipse">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66383" y="4343400"/>
            <a:ext cx="365760" cy="365760"/>
          </a:xfrm>
          <a:prstGeom prst="rect">
            <a:avLst/>
          </a:prstGeom>
          <a:noFill/>
        </p:spPr>
        <p:txBody>
          <a:bodyPr wrap="square" anchor="ctr">
            <a:spAutoFit/>
          </a:bodyPr>
          <a:lstStyle/>
          <a:p>
            <a:pPr algn="ctr">
              <a:defRPr sz="1300" b="1">
                <a:solidFill>
                  <a:srgbClr val="FFFFFF"/>
                </a:solidFill>
                <a:latin typeface="Meiryo"/>
              </a:defRPr>
            </a:pPr>
            <a:r>
              <a:t>4</a:t>
            </a:r>
          </a:p>
        </p:txBody>
      </p:sp>
      <p:sp>
        <p:nvSpPr>
          <p:cNvPr id="45" name="TextBox 44"/>
          <p:cNvSpPr txBox="1"/>
          <p:nvPr/>
        </p:nvSpPr>
        <p:spPr>
          <a:xfrm>
            <a:off x="6705295" y="4233672"/>
            <a:ext cx="4800600" cy="685800"/>
          </a:xfrm>
          <a:prstGeom prst="rect">
            <a:avLst/>
          </a:prstGeom>
          <a:noFill/>
        </p:spPr>
        <p:txBody>
          <a:bodyPr wrap="square">
            <a:spAutoFit/>
          </a:bodyPr>
          <a:lstStyle/>
          <a:p>
            <a:pPr algn="l">
              <a:defRPr sz="1000" b="0">
                <a:solidFill>
                  <a:srgbClr val="1A1A2E"/>
                </a:solidFill>
                <a:latin typeface="Meiryo"/>
              </a:defRPr>
            </a:pPr>
            <a:r>
              <a:t>69カ国以上・1000件以上のAI政策提案によりグローバル規制の断片化が深刻化、多国籍企業のコンプライアンスコスト増大</a:t>
            </a:r>
          </a:p>
        </p:txBody>
      </p:sp>
      <p:sp>
        <p:nvSpPr>
          <p:cNvPr id="46" name="Rectangle 45"/>
          <p:cNvSpPr/>
          <p:nvPr/>
        </p:nvSpPr>
        <p:spPr>
          <a:xfrm>
            <a:off x="6156655" y="50749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156655" y="5074920"/>
            <a:ext cx="54864" cy="82296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6266383" y="5257800"/>
            <a:ext cx="365760" cy="36576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66383" y="5257800"/>
            <a:ext cx="365760" cy="365760"/>
          </a:xfrm>
          <a:prstGeom prst="rect">
            <a:avLst/>
          </a:prstGeom>
          <a:noFill/>
        </p:spPr>
        <p:txBody>
          <a:bodyPr wrap="square" anchor="ctr">
            <a:spAutoFit/>
          </a:bodyPr>
          <a:lstStyle/>
          <a:p>
            <a:pPr algn="ctr">
              <a:defRPr sz="1300" b="1">
                <a:solidFill>
                  <a:srgbClr val="FFFFFF"/>
                </a:solidFill>
                <a:latin typeface="Meiryo"/>
              </a:defRPr>
            </a:pPr>
            <a:r>
              <a:t>5</a:t>
            </a:r>
          </a:p>
        </p:txBody>
      </p:sp>
      <p:sp>
        <p:nvSpPr>
          <p:cNvPr id="50" name="TextBox 49"/>
          <p:cNvSpPr txBox="1"/>
          <p:nvPr/>
        </p:nvSpPr>
        <p:spPr>
          <a:xfrm>
            <a:off x="6705295" y="5148072"/>
            <a:ext cx="4800600" cy="685800"/>
          </a:xfrm>
          <a:prstGeom prst="rect">
            <a:avLst/>
          </a:prstGeom>
          <a:noFill/>
        </p:spPr>
        <p:txBody>
          <a:bodyPr wrap="square">
            <a:spAutoFit/>
          </a:bodyPr>
          <a:lstStyle/>
          <a:p>
            <a:pPr algn="l">
              <a:defRPr sz="1000" b="0">
                <a:solidFill>
                  <a:srgbClr val="1A1A2E"/>
                </a:solidFill>
                <a:latin typeface="Meiryo"/>
              </a:defRPr>
            </a:pPr>
            <a:r>
              <a:t>データセンター電力需要の爆発的増加（2035年までに30倍）が電力グリッド危機を引き起こし、原子力発電への再評価が進行</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日本市場インパクト &amp; アクション</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2026-02-14  |  Page 5</a:t>
            </a:r>
          </a:p>
        </p:txBody>
      </p:sp>
      <p:sp>
        <p:nvSpPr>
          <p:cNvPr id="6" name="TextBox 5"/>
          <p:cNvSpPr txBox="1"/>
          <p:nvPr/>
        </p:nvSpPr>
        <p:spPr>
          <a:xfrm>
            <a:off x="548640" y="960120"/>
            <a:ext cx="5303520" cy="320040"/>
          </a:xfrm>
          <a:prstGeom prst="rect">
            <a:avLst/>
          </a:prstGeom>
          <a:noFill/>
        </p:spPr>
        <p:txBody>
          <a:bodyPr wrap="square">
            <a:spAutoFit/>
          </a:bodyPr>
          <a:lstStyle/>
          <a:p>
            <a:pPr algn="l">
              <a:defRPr sz="1500" b="1">
                <a:solidFill>
                  <a:srgbClr val="005BAB"/>
                </a:solidFill>
                <a:latin typeface="Meiryo"/>
              </a:defRPr>
            </a:pPr>
            <a:r>
              <a:t>日本市場への影響</a:t>
            </a:r>
          </a:p>
        </p:txBody>
      </p:sp>
      <p:sp>
        <p:nvSpPr>
          <p:cNvPr id="7" name="Rectangle 6"/>
          <p:cNvSpPr/>
          <p:nvPr/>
        </p:nvSpPr>
        <p:spPr>
          <a:xfrm>
            <a:off x="548640" y="1261872"/>
            <a:ext cx="1371600" cy="18288"/>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417320"/>
            <a:ext cx="5303520" cy="86868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54864" cy="86868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1618488"/>
            <a:ext cx="384048" cy="384048"/>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618488"/>
            <a:ext cx="384048" cy="384048"/>
          </a:xfrm>
          <a:prstGeom prst="rect">
            <a:avLst/>
          </a:prstGeom>
          <a:noFill/>
        </p:spPr>
        <p:txBody>
          <a:bodyPr wrap="square" anchor="ctr">
            <a:spAutoFit/>
          </a:bodyPr>
          <a:lstStyle/>
          <a:p>
            <a:pPr algn="ctr">
              <a:defRPr sz="1400" b="1">
                <a:solidFill>
                  <a:srgbClr val="FFFFFF"/>
                </a:solidFill>
                <a:latin typeface="Meiryo"/>
              </a:defRPr>
            </a:pPr>
            <a:r>
              <a:t>1</a:t>
            </a:r>
          </a:p>
        </p:txBody>
      </p:sp>
      <p:sp>
        <p:nvSpPr>
          <p:cNvPr id="12" name="TextBox 11"/>
          <p:cNvSpPr txBox="1"/>
          <p:nvPr/>
        </p:nvSpPr>
        <p:spPr>
          <a:xfrm>
            <a:off x="1143000" y="1490472"/>
            <a:ext cx="4572000" cy="731520"/>
          </a:xfrm>
          <a:prstGeom prst="rect">
            <a:avLst/>
          </a:prstGeom>
          <a:noFill/>
        </p:spPr>
        <p:txBody>
          <a:bodyPr wrap="square">
            <a:spAutoFit/>
          </a:bodyPr>
          <a:lstStyle/>
          <a:p>
            <a:pPr algn="l">
              <a:defRPr sz="1100" b="0">
                <a:solidFill>
                  <a:srgbClr val="1A1A2E"/>
                </a:solidFill>
                <a:latin typeface="Meiryo"/>
              </a:defRPr>
            </a:pPr>
            <a:r>
              <a:t>NTTデータの生成AI自動化方針がSIer業界全体に波紋、システム開発のAI化が加速</a:t>
            </a:r>
          </a:p>
        </p:txBody>
      </p:sp>
      <p:sp>
        <p:nvSpPr>
          <p:cNvPr id="13" name="Rectangle 12"/>
          <p:cNvSpPr/>
          <p:nvPr/>
        </p:nvSpPr>
        <p:spPr>
          <a:xfrm>
            <a:off x="548640" y="2377440"/>
            <a:ext cx="5303520" cy="86868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2377440"/>
            <a:ext cx="54864" cy="868680"/>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58368" y="2578608"/>
            <a:ext cx="384048" cy="384048"/>
          </a:xfrm>
          <a:prstGeom prst="ellipse">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2578608"/>
            <a:ext cx="384048" cy="384048"/>
          </a:xfrm>
          <a:prstGeom prst="rect">
            <a:avLst/>
          </a:prstGeom>
          <a:noFill/>
        </p:spPr>
        <p:txBody>
          <a:bodyPr wrap="square" anchor="ctr">
            <a:spAutoFit/>
          </a:bodyPr>
          <a:lstStyle/>
          <a:p>
            <a:pPr algn="ctr">
              <a:defRPr sz="1400" b="1">
                <a:solidFill>
                  <a:srgbClr val="FFFFFF"/>
                </a:solidFill>
                <a:latin typeface="Meiryo"/>
              </a:defRPr>
            </a:pPr>
            <a:r>
              <a:t>2</a:t>
            </a:r>
          </a:p>
        </p:txBody>
      </p:sp>
      <p:sp>
        <p:nvSpPr>
          <p:cNvPr id="17" name="TextBox 16"/>
          <p:cNvSpPr txBox="1"/>
          <p:nvPr/>
        </p:nvSpPr>
        <p:spPr>
          <a:xfrm>
            <a:off x="1143000" y="2450592"/>
            <a:ext cx="4572000" cy="731520"/>
          </a:xfrm>
          <a:prstGeom prst="rect">
            <a:avLst/>
          </a:prstGeom>
          <a:noFill/>
        </p:spPr>
        <p:txBody>
          <a:bodyPr wrap="square">
            <a:spAutoFit/>
          </a:bodyPr>
          <a:lstStyle/>
          <a:p>
            <a:pPr algn="l">
              <a:defRPr sz="1100" b="0">
                <a:solidFill>
                  <a:srgbClr val="1A1A2E"/>
                </a:solidFill>
                <a:latin typeface="Meiryo"/>
              </a:defRPr>
            </a:pPr>
            <a:r>
              <a:t>台湾半導体供給移転問題が日本のRapidus等国産半導体戦略に追い風</a:t>
            </a:r>
          </a:p>
        </p:txBody>
      </p:sp>
      <p:sp>
        <p:nvSpPr>
          <p:cNvPr id="18" name="Rectangle 17"/>
          <p:cNvSpPr/>
          <p:nvPr/>
        </p:nvSpPr>
        <p:spPr>
          <a:xfrm>
            <a:off x="548640" y="3337560"/>
            <a:ext cx="5303520" cy="86868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337560"/>
            <a:ext cx="54864" cy="86868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8368" y="3538728"/>
            <a:ext cx="384048" cy="384048"/>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3538728"/>
            <a:ext cx="384048" cy="384048"/>
          </a:xfrm>
          <a:prstGeom prst="rect">
            <a:avLst/>
          </a:prstGeom>
          <a:noFill/>
        </p:spPr>
        <p:txBody>
          <a:bodyPr wrap="square" anchor="ctr">
            <a:spAutoFit/>
          </a:bodyPr>
          <a:lstStyle/>
          <a:p>
            <a:pPr algn="ctr">
              <a:defRPr sz="1400" b="1">
                <a:solidFill>
                  <a:srgbClr val="FFFFFF"/>
                </a:solidFill>
                <a:latin typeface="Meiryo"/>
              </a:defRPr>
            </a:pPr>
            <a:r>
              <a:t>3</a:t>
            </a:r>
          </a:p>
        </p:txBody>
      </p:sp>
      <p:sp>
        <p:nvSpPr>
          <p:cNvPr id="22" name="TextBox 21"/>
          <p:cNvSpPr txBox="1"/>
          <p:nvPr/>
        </p:nvSpPr>
        <p:spPr>
          <a:xfrm>
            <a:off x="1143000" y="3410712"/>
            <a:ext cx="4572000" cy="731520"/>
          </a:xfrm>
          <a:prstGeom prst="rect">
            <a:avLst/>
          </a:prstGeom>
          <a:noFill/>
        </p:spPr>
        <p:txBody>
          <a:bodyPr wrap="square">
            <a:spAutoFit/>
          </a:bodyPr>
          <a:lstStyle/>
          <a:p>
            <a:pPr algn="l">
              <a:defRPr sz="1100" b="0">
                <a:solidFill>
                  <a:srgbClr val="1A1A2E"/>
                </a:solidFill>
                <a:latin typeface="Meiryo"/>
              </a:defRPr>
            </a:pPr>
            <a:r>
              <a:t>最高裁が民事裁判での生成AI活用検討を開始、法務分野のAI導入が具体化</a:t>
            </a:r>
          </a:p>
        </p:txBody>
      </p:sp>
      <p:sp>
        <p:nvSpPr>
          <p:cNvPr id="23" name="Rounded Rectangle 22"/>
          <p:cNvSpPr/>
          <p:nvPr/>
        </p:nvSpPr>
        <p:spPr>
          <a:xfrm>
            <a:off x="6156655" y="960120"/>
            <a:ext cx="5486400" cy="548640"/>
          </a:xfrm>
          <a:prstGeom prst="round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39535" y="1051560"/>
            <a:ext cx="5120640" cy="365760"/>
          </a:xfrm>
          <a:prstGeom prst="rect">
            <a:avLst/>
          </a:prstGeom>
          <a:noFill/>
        </p:spPr>
        <p:txBody>
          <a:bodyPr wrap="square">
            <a:spAutoFit/>
          </a:bodyPr>
          <a:lstStyle/>
          <a:p>
            <a:pPr algn="l">
              <a:defRPr sz="1600" b="1">
                <a:solidFill>
                  <a:srgbClr val="FFFFFF"/>
                </a:solidFill>
                <a:latin typeface="Meiryo"/>
              </a:defRPr>
            </a:pPr>
            <a:r>
              <a:t>■  ACTION ITEMS</a:t>
            </a:r>
          </a:p>
        </p:txBody>
      </p:sp>
      <p:sp>
        <p:nvSpPr>
          <p:cNvPr id="25" name="Rounded Rectangle 24"/>
          <p:cNvSpPr/>
          <p:nvPr/>
        </p:nvSpPr>
        <p:spPr>
          <a:xfrm>
            <a:off x="6156655" y="1645920"/>
            <a:ext cx="5486400" cy="9144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293815" y="1874520"/>
            <a:ext cx="320040" cy="320040"/>
          </a:xfrm>
          <a:prstGeom prst="roundRect">
            <a:avLst/>
          </a:prstGeom>
          <a:solidFill>
            <a:srgbClr val="FFFFFF"/>
          </a:solidFill>
          <a:ln w="25400">
            <a:solidFill>
              <a:srgbClr val="FF96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93815" y="1874520"/>
            <a:ext cx="320040" cy="320040"/>
          </a:xfrm>
          <a:prstGeom prst="rect">
            <a:avLst/>
          </a:prstGeom>
          <a:noFill/>
        </p:spPr>
        <p:txBody>
          <a:bodyPr wrap="square" anchor="ctr">
            <a:spAutoFit/>
          </a:bodyPr>
          <a:lstStyle/>
          <a:p>
            <a:pPr algn="ctr">
              <a:defRPr sz="1400" b="1">
                <a:solidFill>
                  <a:srgbClr val="FF961C"/>
                </a:solidFill>
                <a:latin typeface="Meiryo"/>
              </a:defRPr>
            </a:pPr>
            <a:r>
              <a:t>✓</a:t>
            </a:r>
          </a:p>
        </p:txBody>
      </p:sp>
      <p:sp>
        <p:nvSpPr>
          <p:cNvPr id="28" name="TextBox 27"/>
          <p:cNvSpPr txBox="1"/>
          <p:nvPr/>
        </p:nvSpPr>
        <p:spPr>
          <a:xfrm>
            <a:off x="6705295" y="1737360"/>
            <a:ext cx="4800600" cy="731520"/>
          </a:xfrm>
          <a:prstGeom prst="rect">
            <a:avLst/>
          </a:prstGeom>
          <a:noFill/>
        </p:spPr>
        <p:txBody>
          <a:bodyPr wrap="square">
            <a:spAutoFit/>
          </a:bodyPr>
          <a:lstStyle/>
          <a:p>
            <a:pPr algn="l">
              <a:defRPr sz="1100" b="0">
                <a:solidFill>
                  <a:srgbClr val="1A1A2E"/>
                </a:solidFill>
                <a:latin typeface="Meiryo"/>
              </a:defRPr>
            </a:pPr>
            <a:r>
              <a:t>IT企業経営者は2026年Q1中にClaude Code・OpenAI Codex等のAIコーディングツール評価を完了し、導入計画を策定すべき</a:t>
            </a:r>
          </a:p>
        </p:txBody>
      </p:sp>
      <p:sp>
        <p:nvSpPr>
          <p:cNvPr id="29" name="Rounded Rectangle 28"/>
          <p:cNvSpPr/>
          <p:nvPr/>
        </p:nvSpPr>
        <p:spPr>
          <a:xfrm>
            <a:off x="6156655" y="2670048"/>
            <a:ext cx="5486400" cy="9144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293815" y="2898648"/>
            <a:ext cx="320040" cy="320040"/>
          </a:xfrm>
          <a:prstGeom prst="roundRect">
            <a:avLst/>
          </a:prstGeom>
          <a:solidFill>
            <a:srgbClr val="FFFFFF"/>
          </a:solidFill>
          <a:ln w="25400">
            <a:solidFill>
              <a:srgbClr val="FF96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93815" y="2898648"/>
            <a:ext cx="320040" cy="320040"/>
          </a:xfrm>
          <a:prstGeom prst="rect">
            <a:avLst/>
          </a:prstGeom>
          <a:noFill/>
        </p:spPr>
        <p:txBody>
          <a:bodyPr wrap="square" anchor="ctr">
            <a:spAutoFit/>
          </a:bodyPr>
          <a:lstStyle/>
          <a:p>
            <a:pPr algn="ctr">
              <a:defRPr sz="1400" b="1">
                <a:solidFill>
                  <a:srgbClr val="FF961C"/>
                </a:solidFill>
                <a:latin typeface="Meiryo"/>
              </a:defRPr>
            </a:pPr>
            <a:r>
              <a:t>✓</a:t>
            </a:r>
          </a:p>
        </p:txBody>
      </p:sp>
      <p:sp>
        <p:nvSpPr>
          <p:cNvPr id="32" name="TextBox 31"/>
          <p:cNvSpPr txBox="1"/>
          <p:nvPr/>
        </p:nvSpPr>
        <p:spPr>
          <a:xfrm>
            <a:off x="6705295" y="2761488"/>
            <a:ext cx="4800600" cy="731520"/>
          </a:xfrm>
          <a:prstGeom prst="rect">
            <a:avLst/>
          </a:prstGeom>
          <a:noFill/>
        </p:spPr>
        <p:txBody>
          <a:bodyPr wrap="square">
            <a:spAutoFit/>
          </a:bodyPr>
          <a:lstStyle/>
          <a:p>
            <a:pPr algn="l">
              <a:defRPr sz="1100" b="0">
                <a:solidFill>
                  <a:srgbClr val="1A1A2E"/>
                </a:solidFill>
                <a:latin typeface="Meiryo"/>
              </a:defRPr>
            </a:pPr>
            <a:r>
              <a:t>データセンター事業者・電力会社は2026年上半期中にAIインフラ需要増大への対応計画（電力確保・冷却設備拡充）を具体化すべき</a:t>
            </a:r>
          </a:p>
        </p:txBody>
      </p:sp>
      <p:sp>
        <p:nvSpPr>
          <p:cNvPr id="33" name="Rounded Rectangle 32"/>
          <p:cNvSpPr/>
          <p:nvPr/>
        </p:nvSpPr>
        <p:spPr>
          <a:xfrm>
            <a:off x="6156655" y="3694176"/>
            <a:ext cx="5486400" cy="9144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293815" y="3922776"/>
            <a:ext cx="320040" cy="320040"/>
          </a:xfrm>
          <a:prstGeom prst="roundRect">
            <a:avLst/>
          </a:prstGeom>
          <a:solidFill>
            <a:srgbClr val="FFFFFF"/>
          </a:solidFill>
          <a:ln w="25400">
            <a:solidFill>
              <a:srgbClr val="FF96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93815" y="3922776"/>
            <a:ext cx="320040" cy="320040"/>
          </a:xfrm>
          <a:prstGeom prst="rect">
            <a:avLst/>
          </a:prstGeom>
          <a:noFill/>
        </p:spPr>
        <p:txBody>
          <a:bodyPr wrap="square" anchor="ctr">
            <a:spAutoFit/>
          </a:bodyPr>
          <a:lstStyle/>
          <a:p>
            <a:pPr algn="ctr">
              <a:defRPr sz="1400" b="1">
                <a:solidFill>
                  <a:srgbClr val="FF961C"/>
                </a:solidFill>
                <a:latin typeface="Meiryo"/>
              </a:defRPr>
            </a:pPr>
            <a:r>
              <a:t>✓</a:t>
            </a:r>
          </a:p>
        </p:txBody>
      </p:sp>
      <p:sp>
        <p:nvSpPr>
          <p:cNvPr id="36" name="TextBox 35"/>
          <p:cNvSpPr txBox="1"/>
          <p:nvPr/>
        </p:nvSpPr>
        <p:spPr>
          <a:xfrm>
            <a:off x="6705295" y="3785616"/>
            <a:ext cx="4800600" cy="731520"/>
          </a:xfrm>
          <a:prstGeom prst="rect">
            <a:avLst/>
          </a:prstGeom>
          <a:noFill/>
        </p:spPr>
        <p:txBody>
          <a:bodyPr wrap="square">
            <a:spAutoFit/>
          </a:bodyPr>
          <a:lstStyle/>
          <a:p>
            <a:pPr algn="l">
              <a:defRPr sz="1100" b="0">
                <a:solidFill>
                  <a:srgbClr val="1A1A2E"/>
                </a:solidFill>
                <a:latin typeface="Meiryo"/>
              </a:defRPr>
            </a:pPr>
            <a:r>
              <a:t>法務担当者は最高裁の生成AI活用研究会の動向を注視し、2026年中に自社法務プロセスへのAI導入可能性を評価すべき</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AI業界標準規格 / プロトコル一覧</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2026-02-14  |  Page 6</a:t>
            </a:r>
          </a:p>
        </p:txBody>
      </p:sp>
      <p:graphicFrame>
        <p:nvGraphicFramePr>
          <p:cNvPr id="6" name="Table 5"/>
          <p:cNvGraphicFramePr>
            <a:graphicFrameLocks noGrp="1"/>
          </p:cNvGraphicFramePr>
          <p:nvPr/>
        </p:nvGraphicFramePr>
        <p:xfrm>
          <a:off x="548640" y="960120"/>
          <a:ext cx="11094415" cy="4754880"/>
        </p:xfrm>
        <a:graphic>
          <a:graphicData uri="http://schemas.openxmlformats.org/drawingml/2006/table">
            <a:tbl>
              <a:tblPr firstRow="1" bandRow="1">
                <a:tableStyleId>{5C22544A-7EE6-4342-B048-85BDC9FD1C3A}</a:tableStyleId>
              </a:tblPr>
              <a:tblGrid>
                <a:gridCol w="1463040"/>
                <a:gridCol w="1645920"/>
                <a:gridCol w="1371600"/>
                <a:gridCol w="914400"/>
                <a:gridCol w="5699455"/>
              </a:tblGrid>
              <a:tr h="594360">
                <a:tc>
                  <a:txBody>
                    <a:bodyPr/>
                    <a:lstStyle/>
                    <a:p>
                      <a:pPr algn="ctr">
                        <a:defRPr sz="1100" b="1">
                          <a:solidFill>
                            <a:srgbClr val="FFFFFF"/>
                          </a:solidFill>
                          <a:latin typeface="Meiryo"/>
                        </a:defRPr>
                      </a:pPr>
                      <a:r>
                        <a:t>規格名</a:t>
                      </a:r>
                    </a:p>
                  </a:txBody>
                  <a:tcPr>
                    <a:solidFill>
                      <a:srgbClr val="005BAB"/>
                    </a:solidFill>
                  </a:tcPr>
                </a:tc>
                <a:tc>
                  <a:txBody>
                    <a:bodyPr/>
                    <a:lstStyle/>
                    <a:p>
                      <a:pPr algn="ctr">
                        <a:defRPr sz="1100" b="1">
                          <a:solidFill>
                            <a:srgbClr val="FFFFFF"/>
                          </a:solidFill>
                          <a:latin typeface="Meiryo"/>
                        </a:defRPr>
                      </a:pPr>
                      <a:r>
                        <a:t>発表元</a:t>
                      </a:r>
                    </a:p>
                  </a:txBody>
                  <a:tcPr>
                    <a:solidFill>
                      <a:srgbClr val="005BAB"/>
                    </a:solidFill>
                  </a:tcPr>
                </a:tc>
                <a:tc>
                  <a:txBody>
                    <a:bodyPr/>
                    <a:lstStyle/>
                    <a:p>
                      <a:pPr algn="ctr">
                        <a:defRPr sz="1100" b="1">
                          <a:solidFill>
                            <a:srgbClr val="FFFFFF"/>
                          </a:solidFill>
                          <a:latin typeface="Meiryo"/>
                        </a:defRPr>
                      </a:pPr>
                      <a:r>
                        <a:t>レイヤー</a:t>
                      </a:r>
                    </a:p>
                  </a:txBody>
                  <a:tcPr>
                    <a:solidFill>
                      <a:srgbClr val="005BAB"/>
                    </a:solidFill>
                  </a:tcPr>
                </a:tc>
                <a:tc>
                  <a:txBody>
                    <a:bodyPr/>
                    <a:lstStyle/>
                    <a:p>
                      <a:pPr algn="ctr">
                        <a:defRPr sz="1100" b="1">
                          <a:solidFill>
                            <a:srgbClr val="FFFFFF"/>
                          </a:solidFill>
                          <a:latin typeface="Meiryo"/>
                        </a:defRPr>
                      </a:pPr>
                      <a:r>
                        <a:t>発表日</a:t>
                      </a:r>
                    </a:p>
                  </a:txBody>
                  <a:tcPr>
                    <a:solidFill>
                      <a:srgbClr val="005BAB"/>
                    </a:solidFill>
                  </a:tcPr>
                </a:tc>
                <a:tc>
                  <a:txBody>
                    <a:bodyPr/>
                    <a:lstStyle/>
                    <a:p>
                      <a:pPr algn="ctr">
                        <a:defRPr sz="1100" b="1">
                          <a:solidFill>
                            <a:srgbClr val="FFFFFF"/>
                          </a:solidFill>
                          <a:latin typeface="Meiryo"/>
                        </a:defRPr>
                      </a:pPr>
                      <a:r>
                        <a:t>概要</a:t>
                      </a:r>
                    </a:p>
                  </a:txBody>
                  <a:tcPr>
                    <a:solidFill>
                      <a:srgbClr val="005BAB"/>
                    </a:solidFill>
                  </a:tcPr>
                </a:tc>
              </a:tr>
              <a:tr h="594360">
                <a:tc>
                  <a:txBody>
                    <a:bodyPr/>
                    <a:lstStyle/>
                    <a:p>
                      <a:pPr>
                        <a:defRPr sz="1000" b="1">
                          <a:solidFill>
                            <a:srgbClr val="005BAB"/>
                          </a:solidFill>
                          <a:latin typeface="Meiryo"/>
                        </a:defRPr>
                      </a:pPr>
                      <a:r>
                        <a:t>UCP</a:t>
                      </a:r>
                    </a:p>
                  </a:txBody>
                  <a:tcPr>
                    <a:solidFill>
                      <a:srgbClr val="FFFFFF"/>
                    </a:solidFill>
                  </a:tcPr>
                </a:tc>
                <a:tc>
                  <a:txBody>
                    <a:bodyPr/>
                    <a:lstStyle/>
                    <a:p>
                      <a:pPr>
                        <a:defRPr sz="1000">
                          <a:solidFill>
                            <a:srgbClr val="1A1A2E"/>
                          </a:solidFill>
                          <a:latin typeface="Meiryo"/>
                        </a:defRPr>
                      </a:pPr>
                      <a:r>
                        <a:t>Google</a:t>
                      </a:r>
                    </a:p>
                  </a:txBody>
                  <a:tcPr>
                    <a:solidFill>
                      <a:srgbClr val="FFFFFF"/>
                    </a:solidFill>
                  </a:tcPr>
                </a:tc>
                <a:tc>
                  <a:txBody>
                    <a:bodyPr/>
                    <a:lstStyle/>
                    <a:p>
                      <a:pPr algn="ctr">
                        <a:defRPr sz="1000" b="1">
                          <a:solidFill>
                            <a:srgbClr val="5BA4D9"/>
                          </a:solidFill>
                          <a:latin typeface="Meiryo"/>
                        </a:defRPr>
                      </a:pPr>
                      <a:r>
                        <a:t>Commerce</a:t>
                      </a:r>
                    </a:p>
                  </a:txBody>
                  <a:tcPr>
                    <a:solidFill>
                      <a:srgbClr val="FFFFFF"/>
                    </a:solidFill>
                  </a:tcPr>
                </a:tc>
                <a:tc>
                  <a:txBody>
                    <a:bodyPr/>
                    <a:lstStyle/>
                    <a:p>
                      <a:pPr algn="ctr">
                        <a:defRPr sz="1000">
                          <a:solidFill>
                            <a:srgbClr val="6C757D"/>
                          </a:solidFill>
                          <a:latin typeface="Meiryo"/>
                        </a:defRPr>
                      </a:pPr>
                      <a:r>
                        <a:t>2026-01</a:t>
                      </a:r>
                    </a:p>
                  </a:txBody>
                  <a:tcPr>
                    <a:solidFill>
                      <a:srgbClr val="FFFFFF"/>
                    </a:solidFill>
                  </a:tcPr>
                </a:tc>
                <a:tc>
                  <a:txBody>
                    <a:bodyPr/>
                    <a:lstStyle/>
                    <a:p>
                      <a:pPr>
                        <a:defRPr sz="1000">
                          <a:solidFill>
                            <a:srgbClr val="1A1A2E"/>
                          </a:solidFill>
                          <a:latin typeface="Meiryo"/>
                        </a:defRPr>
                      </a:pPr>
                      <a:r>
                        <a:t>AIエージェント経由の商取引を標準化。A2A・MCP・AP2を統合オーケストレーションする上位プロトコル。Shopify・Walmart等が支持。</a:t>
                      </a:r>
                    </a:p>
                  </a:txBody>
                  <a:tcPr>
                    <a:solidFill>
                      <a:srgbClr val="FFFFFF"/>
                    </a:solidFill>
                  </a:tcPr>
                </a:tc>
              </a:tr>
              <a:tr h="594360">
                <a:tc>
                  <a:txBody>
                    <a:bodyPr/>
                    <a:lstStyle/>
                    <a:p>
                      <a:pPr>
                        <a:defRPr sz="1000" b="1">
                          <a:solidFill>
                            <a:srgbClr val="005BAB"/>
                          </a:solidFill>
                          <a:latin typeface="Meiryo"/>
                        </a:defRPr>
                      </a:pPr>
                      <a:r>
                        <a:t>Agent Skills</a:t>
                      </a:r>
                    </a:p>
                  </a:txBody>
                  <a:tcPr>
                    <a:solidFill>
                      <a:srgbClr val="E8F1F8"/>
                    </a:solidFill>
                  </a:tcPr>
                </a:tc>
                <a:tc>
                  <a:txBody>
                    <a:bodyPr/>
                    <a:lstStyle/>
                    <a:p>
                      <a:pPr>
                        <a:defRPr sz="1000">
                          <a:solidFill>
                            <a:srgbClr val="1A1A2E"/>
                          </a:solidFill>
                          <a:latin typeface="Meiryo"/>
                        </a:defRPr>
                      </a:pPr>
                      <a:r>
                        <a:t>Anthropic</a:t>
                      </a:r>
                    </a:p>
                  </a:txBody>
                  <a:tcPr>
                    <a:solidFill>
                      <a:srgbClr val="E8F1F8"/>
                    </a:solidFill>
                  </a:tcPr>
                </a:tc>
                <a:tc>
                  <a:txBody>
                    <a:bodyPr/>
                    <a:lstStyle/>
                    <a:p>
                      <a:pPr algn="ctr">
                        <a:defRPr sz="1000" b="1">
                          <a:solidFill>
                            <a:srgbClr val="5BA4D9"/>
                          </a:solidFill>
                          <a:latin typeface="Meiryo"/>
                        </a:defRPr>
                      </a:pPr>
                      <a:r>
                        <a:t>Agent Capability</a:t>
                      </a:r>
                    </a:p>
                  </a:txBody>
                  <a:tcPr>
                    <a:solidFill>
                      <a:srgbClr val="E8F1F8"/>
                    </a:solidFill>
                  </a:tcPr>
                </a:tc>
                <a:tc>
                  <a:txBody>
                    <a:bodyPr/>
                    <a:lstStyle/>
                    <a:p>
                      <a:pPr algn="ctr">
                        <a:defRPr sz="1000">
                          <a:solidFill>
                            <a:srgbClr val="6C757D"/>
                          </a:solidFill>
                          <a:latin typeface="Meiryo"/>
                        </a:defRPr>
                      </a:pPr>
                      <a:r>
                        <a:t>2025-12</a:t>
                      </a:r>
                    </a:p>
                  </a:txBody>
                  <a:tcPr>
                    <a:solidFill>
                      <a:srgbClr val="E8F1F8"/>
                    </a:solidFill>
                  </a:tcPr>
                </a:tc>
                <a:tc>
                  <a:txBody>
                    <a:bodyPr/>
                    <a:lstStyle/>
                    <a:p>
                      <a:pPr>
                        <a:defRPr sz="1000">
                          <a:solidFill>
                            <a:srgbClr val="1A1A2E"/>
                          </a:solidFill>
                          <a:latin typeface="Meiryo"/>
                        </a:defRPr>
                      </a:pPr>
                      <a:r>
                        <a:t>AIエージェントに再現可能なワークフローを教えるオープン標準。SKILL.mdベースのプログレッシブ・ディスクロージャー方式。Microsoft・OpenAI等が採用。</a:t>
                      </a:r>
                    </a:p>
                  </a:txBody>
                  <a:tcPr>
                    <a:solidFill>
                      <a:srgbClr val="E8F1F8"/>
                    </a:solidFill>
                  </a:tcPr>
                </a:tc>
              </a:tr>
              <a:tr h="594360">
                <a:tc>
                  <a:txBody>
                    <a:bodyPr/>
                    <a:lstStyle/>
                    <a:p>
                      <a:pPr>
                        <a:defRPr sz="1000" b="1">
                          <a:solidFill>
                            <a:srgbClr val="005BAB"/>
                          </a:solidFill>
                          <a:latin typeface="Meiryo"/>
                        </a:defRPr>
                      </a:pPr>
                      <a:r>
                        <a:t>ANP</a:t>
                      </a:r>
                    </a:p>
                  </a:txBody>
                  <a:tcPr>
                    <a:solidFill>
                      <a:srgbClr val="FFFFFF"/>
                    </a:solidFill>
                  </a:tcPr>
                </a:tc>
                <a:tc>
                  <a:txBody>
                    <a:bodyPr/>
                    <a:lstStyle/>
                    <a:p>
                      <a:pPr>
                        <a:defRPr sz="1000">
                          <a:solidFill>
                            <a:srgbClr val="1A1A2E"/>
                          </a:solidFill>
                          <a:latin typeface="Meiryo"/>
                        </a:defRPr>
                      </a:pPr>
                      <a:r>
                        <a:t>ANP Community (中国移動/Huawei等)</a:t>
                      </a:r>
                    </a:p>
                  </a:txBody>
                  <a:tcPr>
                    <a:solidFill>
                      <a:srgbClr val="FFFFFF"/>
                    </a:solidFill>
                  </a:tcPr>
                </a:tc>
                <a:tc>
                  <a:txBody>
                    <a:bodyPr/>
                    <a:lstStyle/>
                    <a:p>
                      <a:pPr algn="ctr">
                        <a:defRPr sz="1000" b="1">
                          <a:solidFill>
                            <a:srgbClr val="5BA4D9"/>
                          </a:solidFill>
                          <a:latin typeface="Meiryo"/>
                        </a:defRPr>
                      </a:pPr>
                      <a:r>
                        <a:t>Network Discovery</a:t>
                      </a:r>
                    </a:p>
                  </a:txBody>
                  <a:tcPr>
                    <a:solidFill>
                      <a:srgbClr val="FFFFFF"/>
                    </a:solidFill>
                  </a:tcPr>
                </a:tc>
                <a:tc>
                  <a:txBody>
                    <a:bodyPr/>
                    <a:lstStyle/>
                    <a:p>
                      <a:pPr algn="ctr">
                        <a:defRPr sz="1000">
                          <a:solidFill>
                            <a:srgbClr val="6C757D"/>
                          </a:solidFill>
                          <a:latin typeface="Meiryo"/>
                        </a:defRPr>
                      </a:pPr>
                      <a:r>
                        <a:t>2025-10</a:t>
                      </a:r>
                    </a:p>
                  </a:txBody>
                  <a:tcPr>
                    <a:solidFill>
                      <a:srgbClr val="FFFFFF"/>
                    </a:solidFill>
                  </a:tcPr>
                </a:tc>
                <a:tc>
                  <a:txBody>
                    <a:bodyPr/>
                    <a:lstStyle/>
                    <a:p>
                      <a:pPr>
                        <a:defRPr sz="1000">
                          <a:solidFill>
                            <a:srgbClr val="1A1A2E"/>
                          </a:solidFill>
                          <a:latin typeface="Meiryo"/>
                        </a:defRPr>
                      </a:pPr>
                      <a:r>
                        <a:t>数十億のエージェントのためのネットワークプロトコル。W3C DIDによるID認証、JSON-LDによる能力公開の3層アーキテクチャ。</a:t>
                      </a:r>
                    </a:p>
                  </a:txBody>
                  <a:tcPr>
                    <a:solidFill>
                      <a:srgbClr val="FFFFFF"/>
                    </a:solidFill>
                  </a:tcPr>
                </a:tc>
              </a:tr>
              <a:tr h="594360">
                <a:tc>
                  <a:txBody>
                    <a:bodyPr/>
                    <a:lstStyle/>
                    <a:p>
                      <a:pPr>
                        <a:defRPr sz="1000" b="1">
                          <a:solidFill>
                            <a:srgbClr val="005BAB"/>
                          </a:solidFill>
                          <a:latin typeface="Meiryo"/>
                        </a:defRPr>
                      </a:pPr>
                      <a:r>
                        <a:t>ACP</a:t>
                      </a:r>
                    </a:p>
                  </a:txBody>
                  <a:tcPr>
                    <a:solidFill>
                      <a:srgbClr val="E8F1F8"/>
                    </a:solidFill>
                  </a:tcPr>
                </a:tc>
                <a:tc>
                  <a:txBody>
                    <a:bodyPr/>
                    <a:lstStyle/>
                    <a:p>
                      <a:pPr>
                        <a:defRPr sz="1000">
                          <a:solidFill>
                            <a:srgbClr val="1A1A2E"/>
                          </a:solidFill>
                          <a:latin typeface="Meiryo"/>
                        </a:defRPr>
                      </a:pPr>
                      <a:r>
                        <a:t>OpenAI + Stripe</a:t>
                      </a:r>
                    </a:p>
                  </a:txBody>
                  <a:tcPr>
                    <a:solidFill>
                      <a:srgbClr val="E8F1F8"/>
                    </a:solidFill>
                  </a:tcPr>
                </a:tc>
                <a:tc>
                  <a:txBody>
                    <a:bodyPr/>
                    <a:lstStyle/>
                    <a:p>
                      <a:pPr algn="ctr">
                        <a:defRPr sz="1000" b="1">
                          <a:solidFill>
                            <a:srgbClr val="5BA4D9"/>
                          </a:solidFill>
                          <a:latin typeface="Meiryo"/>
                        </a:defRPr>
                      </a:pPr>
                      <a:r>
                        <a:t>Commerce</a:t>
                      </a:r>
                    </a:p>
                  </a:txBody>
                  <a:tcPr>
                    <a:solidFill>
                      <a:srgbClr val="E8F1F8"/>
                    </a:solidFill>
                  </a:tcPr>
                </a:tc>
                <a:tc>
                  <a:txBody>
                    <a:bodyPr/>
                    <a:lstStyle/>
                    <a:p>
                      <a:pPr algn="ctr">
                        <a:defRPr sz="1000">
                          <a:solidFill>
                            <a:srgbClr val="6C757D"/>
                          </a:solidFill>
                          <a:latin typeface="Meiryo"/>
                        </a:defRPr>
                      </a:pPr>
                      <a:r>
                        <a:t>2025-09</a:t>
                      </a:r>
                    </a:p>
                  </a:txBody>
                  <a:tcPr>
                    <a:solidFill>
                      <a:srgbClr val="E8F1F8"/>
                    </a:solidFill>
                  </a:tcPr>
                </a:tc>
                <a:tc>
                  <a:txBody>
                    <a:bodyPr/>
                    <a:lstStyle/>
                    <a:p>
                      <a:pPr>
                        <a:defRPr sz="1000">
                          <a:solidFill>
                            <a:srgbClr val="1A1A2E"/>
                          </a:solidFill>
                          <a:latin typeface="Meiryo"/>
                        </a:defRPr>
                      </a:pPr>
                      <a:r>
                        <a:t>AIエージェント経由の商取引フローを実現するオープン標準。物理/デジタル商品、サブスクリプション対応。ChatGPTで実装済み。</a:t>
                      </a:r>
                    </a:p>
                  </a:txBody>
                  <a:tcPr>
                    <a:solidFill>
                      <a:srgbClr val="E8F1F8"/>
                    </a:solidFill>
                  </a:tcPr>
                </a:tc>
              </a:tr>
              <a:tr h="594360">
                <a:tc>
                  <a:txBody>
                    <a:bodyPr/>
                    <a:lstStyle/>
                    <a:p>
                      <a:pPr>
                        <a:defRPr sz="1000" b="1">
                          <a:solidFill>
                            <a:srgbClr val="005BAB"/>
                          </a:solidFill>
                          <a:latin typeface="Meiryo"/>
                        </a:defRPr>
                      </a:pPr>
                      <a:r>
                        <a:t>AGENTS.md</a:t>
                      </a:r>
                    </a:p>
                  </a:txBody>
                  <a:tcPr>
                    <a:solidFill>
                      <a:srgbClr val="FFFFFF"/>
                    </a:solidFill>
                  </a:tcPr>
                </a:tc>
                <a:tc>
                  <a:txBody>
                    <a:bodyPr/>
                    <a:lstStyle/>
                    <a:p>
                      <a:pPr>
                        <a:defRPr sz="1000">
                          <a:solidFill>
                            <a:srgbClr val="1A1A2E"/>
                          </a:solidFill>
                          <a:latin typeface="Meiryo"/>
                        </a:defRPr>
                      </a:pPr>
                      <a:r>
                        <a:t>OpenAI</a:t>
                      </a:r>
                    </a:p>
                  </a:txBody>
                  <a:tcPr>
                    <a:solidFill>
                      <a:srgbClr val="FFFFFF"/>
                    </a:solidFill>
                  </a:tcPr>
                </a:tc>
                <a:tc>
                  <a:txBody>
                    <a:bodyPr/>
                    <a:lstStyle/>
                    <a:p>
                      <a:pPr algn="ctr">
                        <a:defRPr sz="1000" b="1">
                          <a:solidFill>
                            <a:srgbClr val="5BA4D9"/>
                          </a:solidFill>
                          <a:latin typeface="Meiryo"/>
                        </a:defRPr>
                      </a:pPr>
                      <a:r>
                        <a:t>Project Instruction</a:t>
                      </a:r>
                    </a:p>
                  </a:txBody>
                  <a:tcPr>
                    <a:solidFill>
                      <a:srgbClr val="FFFFFF"/>
                    </a:solidFill>
                  </a:tcPr>
                </a:tc>
                <a:tc>
                  <a:txBody>
                    <a:bodyPr/>
                    <a:lstStyle/>
                    <a:p>
                      <a:pPr algn="ctr">
                        <a:defRPr sz="1000">
                          <a:solidFill>
                            <a:srgbClr val="6C757D"/>
                          </a:solidFill>
                          <a:latin typeface="Meiryo"/>
                        </a:defRPr>
                      </a:pPr>
                      <a:r>
                        <a:t>2025-08</a:t>
                      </a:r>
                    </a:p>
                  </a:txBody>
                  <a:tcPr>
                    <a:solidFill>
                      <a:srgbClr val="FFFFFF"/>
                    </a:solidFill>
                  </a:tcPr>
                </a:tc>
                <a:tc>
                  <a:txBody>
                    <a:bodyPr/>
                    <a:lstStyle/>
                    <a:p>
                      <a:pPr>
                        <a:defRPr sz="1000">
                          <a:solidFill>
                            <a:srgbClr val="1A1A2E"/>
                          </a:solidFill>
                          <a:latin typeface="Meiryo"/>
                        </a:defRPr>
                      </a:pPr>
                      <a:r>
                        <a:t>AIコーディングエージェントにプロジェクト固有のガイダンスを提供するMarkdownベース規約。Copilot・Cursor・Gemini CLI等が対応。</a:t>
                      </a:r>
                    </a:p>
                  </a:txBody>
                  <a:tcPr>
                    <a:solidFill>
                      <a:srgbClr val="FFFFFF"/>
                    </a:solidFill>
                  </a:tcPr>
                </a:tc>
              </a:tr>
              <a:tr h="594360">
                <a:tc>
                  <a:txBody>
                    <a:bodyPr/>
                    <a:lstStyle/>
                    <a:p>
                      <a:pPr>
                        <a:defRPr sz="1000" b="1">
                          <a:solidFill>
                            <a:srgbClr val="005BAB"/>
                          </a:solidFill>
                          <a:latin typeface="Meiryo"/>
                        </a:defRPr>
                      </a:pPr>
                      <a:r>
                        <a:t>A2A</a:t>
                      </a:r>
                    </a:p>
                  </a:txBody>
                  <a:tcPr>
                    <a:solidFill>
                      <a:srgbClr val="E8F1F8"/>
                    </a:solidFill>
                  </a:tcPr>
                </a:tc>
                <a:tc>
                  <a:txBody>
                    <a:bodyPr/>
                    <a:lstStyle/>
                    <a:p>
                      <a:pPr>
                        <a:defRPr sz="1000">
                          <a:solidFill>
                            <a:srgbClr val="1A1A2E"/>
                          </a:solidFill>
                          <a:latin typeface="Meiryo"/>
                        </a:defRPr>
                      </a:pPr>
                      <a:r>
                        <a:t>Google Cloud</a:t>
                      </a:r>
                    </a:p>
                  </a:txBody>
                  <a:tcPr>
                    <a:solidFill>
                      <a:srgbClr val="E8F1F8"/>
                    </a:solidFill>
                  </a:tcPr>
                </a:tc>
                <a:tc>
                  <a:txBody>
                    <a:bodyPr/>
                    <a:lstStyle/>
                    <a:p>
                      <a:pPr algn="ctr">
                        <a:defRPr sz="1000" b="1">
                          <a:solidFill>
                            <a:srgbClr val="5BA4D9"/>
                          </a:solidFill>
                          <a:latin typeface="Meiryo"/>
                        </a:defRPr>
                      </a:pPr>
                      <a:r>
                        <a:t>Agent-Agent</a:t>
                      </a:r>
                    </a:p>
                  </a:txBody>
                  <a:tcPr>
                    <a:solidFill>
                      <a:srgbClr val="E8F1F8"/>
                    </a:solidFill>
                  </a:tcPr>
                </a:tc>
                <a:tc>
                  <a:txBody>
                    <a:bodyPr/>
                    <a:lstStyle/>
                    <a:p>
                      <a:pPr algn="ctr">
                        <a:defRPr sz="1000">
                          <a:solidFill>
                            <a:srgbClr val="6C757D"/>
                          </a:solidFill>
                          <a:latin typeface="Meiryo"/>
                        </a:defRPr>
                      </a:pPr>
                      <a:r>
                        <a:t>2025-04</a:t>
                      </a:r>
                    </a:p>
                  </a:txBody>
                  <a:tcPr>
                    <a:solidFill>
                      <a:srgbClr val="E8F1F8"/>
                    </a:solidFill>
                  </a:tcPr>
                </a:tc>
                <a:tc>
                  <a:txBody>
                    <a:bodyPr/>
                    <a:lstStyle/>
                    <a:p>
                      <a:pPr>
                        <a:defRPr sz="1000">
                          <a:solidFill>
                            <a:srgbClr val="1A1A2E"/>
                          </a:solidFill>
                          <a:latin typeface="Meiryo"/>
                        </a:defRPr>
                      </a:pPr>
                      <a:r>
                        <a:t>異なるプラットフォーム・ベンダー間でAIエージェント同士が通信・協働するオープンプロトコル。MCPの補完的位置づけ。</a:t>
                      </a:r>
                    </a:p>
                  </a:txBody>
                  <a:tcPr>
                    <a:solidFill>
                      <a:srgbClr val="E8F1F8"/>
                    </a:solidFill>
                  </a:tcPr>
                </a:tc>
              </a:tr>
              <a:tr h="594360">
                <a:tc>
                  <a:txBody>
                    <a:bodyPr/>
                    <a:lstStyle/>
                    <a:p>
                      <a:pPr>
                        <a:defRPr sz="1000" b="1">
                          <a:solidFill>
                            <a:srgbClr val="005BAB"/>
                          </a:solidFill>
                          <a:latin typeface="Meiryo"/>
                        </a:defRPr>
                      </a:pPr>
                      <a:r>
                        <a:t>MCP</a:t>
                      </a:r>
                    </a:p>
                  </a:txBody>
                  <a:tcPr>
                    <a:solidFill>
                      <a:srgbClr val="FFFFFF"/>
                    </a:solidFill>
                  </a:tcPr>
                </a:tc>
                <a:tc>
                  <a:txBody>
                    <a:bodyPr/>
                    <a:lstStyle/>
                    <a:p>
                      <a:pPr>
                        <a:defRPr sz="1000">
                          <a:solidFill>
                            <a:srgbClr val="1A1A2E"/>
                          </a:solidFill>
                          <a:latin typeface="Meiryo"/>
                        </a:defRPr>
                      </a:pPr>
                      <a:r>
                        <a:t>Anthropic</a:t>
                      </a:r>
                    </a:p>
                  </a:txBody>
                  <a:tcPr>
                    <a:solidFill>
                      <a:srgbClr val="FFFFFF"/>
                    </a:solidFill>
                  </a:tcPr>
                </a:tc>
                <a:tc>
                  <a:txBody>
                    <a:bodyPr/>
                    <a:lstStyle/>
                    <a:p>
                      <a:pPr algn="ctr">
                        <a:defRPr sz="1000" b="1">
                          <a:solidFill>
                            <a:srgbClr val="5BA4D9"/>
                          </a:solidFill>
                          <a:latin typeface="Meiryo"/>
                        </a:defRPr>
                      </a:pPr>
                      <a:r>
                        <a:t>Agent-Tool</a:t>
                      </a:r>
                    </a:p>
                  </a:txBody>
                  <a:tcPr>
                    <a:solidFill>
                      <a:srgbClr val="FFFFFF"/>
                    </a:solidFill>
                  </a:tcPr>
                </a:tc>
                <a:tc>
                  <a:txBody>
                    <a:bodyPr/>
                    <a:lstStyle/>
                    <a:p>
                      <a:pPr algn="ctr">
                        <a:defRPr sz="1000">
                          <a:solidFill>
                            <a:srgbClr val="6C757D"/>
                          </a:solidFill>
                          <a:latin typeface="Meiryo"/>
                        </a:defRPr>
                      </a:pPr>
                      <a:r>
                        <a:t>2024-11</a:t>
                      </a:r>
                    </a:p>
                  </a:txBody>
                  <a:tcPr>
                    <a:solidFill>
                      <a:srgbClr val="FFFFFF"/>
                    </a:solidFill>
                  </a:tcPr>
                </a:tc>
                <a:tc>
                  <a:txBody>
                    <a:bodyPr/>
                    <a:lstStyle/>
                    <a:p>
                      <a:pPr>
                        <a:defRPr sz="1000">
                          <a:solidFill>
                            <a:srgbClr val="1A1A2E"/>
                          </a:solidFill>
                          <a:latin typeface="Meiryo"/>
                        </a:defRPr>
                      </a:pPr>
                      <a:r>
                        <a:t>AIモデルを外部データソース・ツールに接続するオープン標準。10,000以上のMCPサーバーが公開済み。OpenAI・Google・Microsoft等が採用。</a:t>
                      </a:r>
                    </a:p>
                  </a:txBody>
                  <a:tcPr>
                    <a:solidFill>
                      <a:srgbClr val="FFFFFF"/>
                    </a:solidFill>
                  </a:tcPr>
                </a:tc>
              </a:tr>
            </a:tbl>
          </a:graphicData>
        </a:graphic>
      </p:graphicFrame>
      <p:sp>
        <p:nvSpPr>
          <p:cNvPr id="7" name="TextBox 6"/>
          <p:cNvSpPr txBox="1"/>
          <p:nvPr/>
        </p:nvSpPr>
        <p:spPr>
          <a:xfrm>
            <a:off x="548640" y="5897880"/>
            <a:ext cx="11094415" cy="274320"/>
          </a:xfrm>
          <a:prstGeom prst="rect">
            <a:avLst/>
          </a:prstGeom>
          <a:noFill/>
        </p:spPr>
        <p:txBody>
          <a:bodyPr wrap="square">
            <a:spAutoFit/>
          </a:bodyPr>
          <a:lstStyle/>
          <a:p>
            <a:pPr algn="l">
              <a:defRPr sz="900" b="0">
                <a:solidFill>
                  <a:srgbClr val="6C757D"/>
                </a:solidFill>
                <a:latin typeface="Meiryo"/>
              </a:defRPr>
            </a:pPr>
            <a:r>
              <a:t>※ キャッチアップ時に自動更新  |  各公式サイトで最新情報をご確認ください</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Data Dashboard</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2026-02-14  |  Page 7</a:t>
            </a:r>
          </a:p>
        </p:txBody>
      </p:sp>
      <p:sp>
        <p:nvSpPr>
          <p:cNvPr id="6" name="Rectangle 5"/>
          <p:cNvSpPr/>
          <p:nvPr/>
        </p:nvSpPr>
        <p:spPr>
          <a:xfrm>
            <a:off x="594360" y="1005840"/>
            <a:ext cx="5394960" cy="2560320"/>
          </a:xfrm>
          <a:prstGeom prst="rect">
            <a:avLst/>
          </a:prstGeom>
          <a:solidFill>
            <a:srgbClr val="FFFFFF"/>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ompany_importance.png"/>
          <p:cNvPicPr>
            <a:picLocks noChangeAspect="1"/>
          </p:cNvPicPr>
          <p:nvPr/>
        </p:nvPicPr>
        <p:blipFill>
          <a:blip r:embed="rId2"/>
          <a:stretch>
            <a:fillRect/>
          </a:stretch>
        </p:blipFill>
        <p:spPr>
          <a:xfrm>
            <a:off x="640080" y="1051560"/>
            <a:ext cx="5303520" cy="2468880"/>
          </a:xfrm>
          <a:prstGeom prst="rect">
            <a:avLst/>
          </a:prstGeom>
        </p:spPr>
      </p:pic>
      <p:sp>
        <p:nvSpPr>
          <p:cNvPr id="8" name="Rectangle 7"/>
          <p:cNvSpPr/>
          <p:nvPr/>
        </p:nvSpPr>
        <p:spPr>
          <a:xfrm>
            <a:off x="6355080" y="1005840"/>
            <a:ext cx="5394960" cy="2560320"/>
          </a:xfrm>
          <a:prstGeom prst="rect">
            <a:avLst/>
          </a:prstGeom>
          <a:solidFill>
            <a:srgbClr val="FFFFFF"/>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heatmap.png"/>
          <p:cNvPicPr>
            <a:picLocks noChangeAspect="1"/>
          </p:cNvPicPr>
          <p:nvPr/>
        </p:nvPicPr>
        <p:blipFill>
          <a:blip r:embed="rId3"/>
          <a:stretch>
            <a:fillRect/>
          </a:stretch>
        </p:blipFill>
        <p:spPr>
          <a:xfrm>
            <a:off x="6400800" y="1051560"/>
            <a:ext cx="5303520" cy="2468880"/>
          </a:xfrm>
          <a:prstGeom prst="rect">
            <a:avLst/>
          </a:prstGeom>
        </p:spPr>
      </p:pic>
      <p:sp>
        <p:nvSpPr>
          <p:cNvPr id="10" name="Rectangle 9"/>
          <p:cNvSpPr/>
          <p:nvPr/>
        </p:nvSpPr>
        <p:spPr>
          <a:xfrm>
            <a:off x="594360" y="3657600"/>
            <a:ext cx="5394960" cy="2560320"/>
          </a:xfrm>
          <a:prstGeom prst="rect">
            <a:avLst/>
          </a:prstGeom>
          <a:solidFill>
            <a:srgbClr val="FFFFFF"/>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portance_donut.png"/>
          <p:cNvPicPr>
            <a:picLocks noChangeAspect="1"/>
          </p:cNvPicPr>
          <p:nvPr/>
        </p:nvPicPr>
        <p:blipFill>
          <a:blip r:embed="rId4"/>
          <a:stretch>
            <a:fillRect/>
          </a:stretch>
        </p:blipFill>
        <p:spPr>
          <a:xfrm>
            <a:off x="640080" y="3703320"/>
            <a:ext cx="5303520" cy="2468880"/>
          </a:xfrm>
          <a:prstGeom prst="rect">
            <a:avLst/>
          </a:prstGeom>
        </p:spPr>
      </p:pic>
      <p:sp>
        <p:nvSpPr>
          <p:cNvPr id="12" name="Rectangle 11"/>
          <p:cNvSpPr/>
          <p:nvPr/>
        </p:nvSpPr>
        <p:spPr>
          <a:xfrm>
            <a:off x="6355080" y="3657600"/>
            <a:ext cx="5394960" cy="2560320"/>
          </a:xfrm>
          <a:prstGeom prst="rect">
            <a:avLst/>
          </a:prstGeom>
          <a:solidFill>
            <a:srgbClr val="FFFFFF"/>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news_landscape.png"/>
          <p:cNvPicPr>
            <a:picLocks noChangeAspect="1"/>
          </p:cNvPicPr>
          <p:nvPr/>
        </p:nvPicPr>
        <p:blipFill>
          <a:blip r:embed="rId5"/>
          <a:stretch>
            <a:fillRect/>
          </a:stretch>
        </p:blipFill>
        <p:spPr>
          <a:xfrm>
            <a:off x="6400800" y="3703320"/>
            <a:ext cx="5303520" cy="246888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Sources (引用元一覧)</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2026-02-14  |  Page 8</a:t>
            </a:r>
          </a:p>
        </p:txBody>
      </p:sp>
      <p:sp>
        <p:nvSpPr>
          <p:cNvPr id="6" name="TextBox 5"/>
          <p:cNvSpPr txBox="1"/>
          <p:nvPr/>
        </p:nvSpPr>
        <p:spPr>
          <a:xfrm>
            <a:off x="548640" y="960120"/>
            <a:ext cx="11094415" cy="914400"/>
          </a:xfrm>
          <a:prstGeom prst="rect">
            <a:avLst/>
          </a:prstGeom>
          <a:noFill/>
        </p:spPr>
        <p:txBody>
          <a:bodyPr wrap="square">
            <a:spAutoFit/>
          </a:bodyPr>
          <a:lstStyle/>
          <a:p>
            <a:pPr algn="l">
              <a:defRPr sz="1400" b="0">
                <a:solidFill>
                  <a:srgbClr val="6C757D"/>
                </a:solidFill>
                <a:latin typeface="Meiryo"/>
              </a:defRPr>
            </a:pPr>
            <a:r>
              <a:t>ソース情報なし</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